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2" r:id="rId1"/>
    <p:sldMasterId id="2147483674" r:id="rId2"/>
  </p:sldMasterIdLst>
  <p:notesMasterIdLst>
    <p:notesMasterId r:id="rId93"/>
  </p:notesMasterIdLst>
  <p:sldIdLst>
    <p:sldId id="435" r:id="rId3"/>
    <p:sldId id="403" r:id="rId4"/>
    <p:sldId id="514" r:id="rId5"/>
    <p:sldId id="404" r:id="rId6"/>
    <p:sldId id="436" r:id="rId7"/>
    <p:sldId id="512" r:id="rId8"/>
    <p:sldId id="410" r:id="rId9"/>
    <p:sldId id="413" r:id="rId10"/>
    <p:sldId id="513" r:id="rId11"/>
    <p:sldId id="415" r:id="rId12"/>
    <p:sldId id="417" r:id="rId13"/>
    <p:sldId id="534" r:id="rId14"/>
    <p:sldId id="535" r:id="rId15"/>
    <p:sldId id="455" r:id="rId16"/>
    <p:sldId id="456" r:id="rId17"/>
    <p:sldId id="457" r:id="rId18"/>
    <p:sldId id="458" r:id="rId19"/>
    <p:sldId id="459" r:id="rId20"/>
    <p:sldId id="420" r:id="rId21"/>
    <p:sldId id="421" r:id="rId22"/>
    <p:sldId id="442" r:id="rId23"/>
    <p:sldId id="426" r:id="rId24"/>
    <p:sldId id="536" r:id="rId25"/>
    <p:sldId id="428" r:id="rId26"/>
    <p:sldId id="547" r:id="rId27"/>
    <p:sldId id="543" r:id="rId28"/>
    <p:sldId id="537" r:id="rId29"/>
    <p:sldId id="443" r:id="rId30"/>
    <p:sldId id="444" r:id="rId31"/>
    <p:sldId id="445" r:id="rId32"/>
    <p:sldId id="538" r:id="rId33"/>
    <p:sldId id="447" r:id="rId34"/>
    <p:sldId id="539" r:id="rId35"/>
    <p:sldId id="449" r:id="rId36"/>
    <p:sldId id="540" r:id="rId37"/>
    <p:sldId id="541" r:id="rId38"/>
    <p:sldId id="542" r:id="rId39"/>
    <p:sldId id="515" r:id="rId40"/>
    <p:sldId id="544" r:id="rId41"/>
    <p:sldId id="438" r:id="rId42"/>
    <p:sldId id="545" r:id="rId43"/>
    <p:sldId id="441" r:id="rId44"/>
    <p:sldId id="548" r:id="rId45"/>
    <p:sldId id="549" r:id="rId46"/>
    <p:sldId id="550" r:id="rId47"/>
    <p:sldId id="551" r:id="rId48"/>
    <p:sldId id="552" r:id="rId49"/>
    <p:sldId id="546" r:id="rId50"/>
    <p:sldId id="517" r:id="rId51"/>
    <p:sldId id="446" r:id="rId52"/>
    <p:sldId id="476" r:id="rId53"/>
    <p:sldId id="563" r:id="rId54"/>
    <p:sldId id="566" r:id="rId55"/>
    <p:sldId id="567" r:id="rId56"/>
    <p:sldId id="575" r:id="rId57"/>
    <p:sldId id="578" r:id="rId58"/>
    <p:sldId id="448" r:id="rId59"/>
    <p:sldId id="485" r:id="rId60"/>
    <p:sldId id="553" r:id="rId61"/>
    <p:sldId id="554" r:id="rId62"/>
    <p:sldId id="555" r:id="rId63"/>
    <p:sldId id="576" r:id="rId64"/>
    <p:sldId id="577" r:id="rId65"/>
    <p:sldId id="529" r:id="rId66"/>
    <p:sldId id="520" r:id="rId67"/>
    <p:sldId id="453" r:id="rId68"/>
    <p:sldId id="556" r:id="rId69"/>
    <p:sldId id="439" r:id="rId70"/>
    <p:sldId id="558" r:id="rId71"/>
    <p:sldId id="557" r:id="rId72"/>
    <p:sldId id="560" r:id="rId73"/>
    <p:sldId id="568" r:id="rId74"/>
    <p:sldId id="571" r:id="rId75"/>
    <p:sldId id="570" r:id="rId76"/>
    <p:sldId id="569" r:id="rId77"/>
    <p:sldId id="522" r:id="rId78"/>
    <p:sldId id="523" r:id="rId79"/>
    <p:sldId id="524" r:id="rId80"/>
    <p:sldId id="561" r:id="rId81"/>
    <p:sldId id="562" r:id="rId82"/>
    <p:sldId id="573" r:id="rId83"/>
    <p:sldId id="572" r:id="rId84"/>
    <p:sldId id="574" r:id="rId85"/>
    <p:sldId id="531" r:id="rId86"/>
    <p:sldId id="532" r:id="rId87"/>
    <p:sldId id="533" r:id="rId88"/>
    <p:sldId id="525" r:id="rId89"/>
    <p:sldId id="527" r:id="rId90"/>
    <p:sldId id="528" r:id="rId91"/>
    <p:sldId id="454" r:id="rId92"/>
  </p:sldIdLst>
  <p:sldSz cx="16256000" cy="9144000"/>
  <p:notesSz cx="9144000" cy="6858000"/>
  <p:defaultTextStyle>
    <a:defPPr>
      <a:defRPr lang="en-US"/>
    </a:defPPr>
    <a:lvl1pPr marL="0" algn="l" defTabSz="1044976" rtl="0" eaLnBrk="1" latinLnBrk="0" hangingPunct="1">
      <a:defRPr sz="2100" kern="1200">
        <a:solidFill>
          <a:schemeClr val="tx1"/>
        </a:solidFill>
        <a:latin typeface="+mn-lt"/>
        <a:ea typeface="+mn-ea"/>
        <a:cs typeface="+mn-cs"/>
      </a:defRPr>
    </a:lvl1pPr>
    <a:lvl2pPr marL="522488" algn="l" defTabSz="1044976" rtl="0" eaLnBrk="1" latinLnBrk="0" hangingPunct="1">
      <a:defRPr sz="2100" kern="1200">
        <a:solidFill>
          <a:schemeClr val="tx1"/>
        </a:solidFill>
        <a:latin typeface="+mn-lt"/>
        <a:ea typeface="+mn-ea"/>
        <a:cs typeface="+mn-cs"/>
      </a:defRPr>
    </a:lvl2pPr>
    <a:lvl3pPr marL="1044976" algn="l" defTabSz="1044976" rtl="0" eaLnBrk="1" latinLnBrk="0" hangingPunct="1">
      <a:defRPr sz="2100" kern="1200">
        <a:solidFill>
          <a:schemeClr val="tx1"/>
        </a:solidFill>
        <a:latin typeface="+mn-lt"/>
        <a:ea typeface="+mn-ea"/>
        <a:cs typeface="+mn-cs"/>
      </a:defRPr>
    </a:lvl3pPr>
    <a:lvl4pPr marL="1567464" algn="l" defTabSz="1044976" rtl="0" eaLnBrk="1" latinLnBrk="0" hangingPunct="1">
      <a:defRPr sz="2100" kern="1200">
        <a:solidFill>
          <a:schemeClr val="tx1"/>
        </a:solidFill>
        <a:latin typeface="+mn-lt"/>
        <a:ea typeface="+mn-ea"/>
        <a:cs typeface="+mn-cs"/>
      </a:defRPr>
    </a:lvl4pPr>
    <a:lvl5pPr marL="2089953" algn="l" defTabSz="1044976" rtl="0" eaLnBrk="1" latinLnBrk="0" hangingPunct="1">
      <a:defRPr sz="2100" kern="1200">
        <a:solidFill>
          <a:schemeClr val="tx1"/>
        </a:solidFill>
        <a:latin typeface="+mn-lt"/>
        <a:ea typeface="+mn-ea"/>
        <a:cs typeface="+mn-cs"/>
      </a:defRPr>
    </a:lvl5pPr>
    <a:lvl6pPr marL="2612441" algn="l" defTabSz="1044976" rtl="0" eaLnBrk="1" latinLnBrk="0" hangingPunct="1">
      <a:defRPr sz="2100" kern="1200">
        <a:solidFill>
          <a:schemeClr val="tx1"/>
        </a:solidFill>
        <a:latin typeface="+mn-lt"/>
        <a:ea typeface="+mn-ea"/>
        <a:cs typeface="+mn-cs"/>
      </a:defRPr>
    </a:lvl6pPr>
    <a:lvl7pPr marL="3134929" algn="l" defTabSz="1044976" rtl="0" eaLnBrk="1" latinLnBrk="0" hangingPunct="1">
      <a:defRPr sz="2100" kern="1200">
        <a:solidFill>
          <a:schemeClr val="tx1"/>
        </a:solidFill>
        <a:latin typeface="+mn-lt"/>
        <a:ea typeface="+mn-ea"/>
        <a:cs typeface="+mn-cs"/>
      </a:defRPr>
    </a:lvl7pPr>
    <a:lvl8pPr marL="3657417" algn="l" defTabSz="1044976" rtl="0" eaLnBrk="1" latinLnBrk="0" hangingPunct="1">
      <a:defRPr sz="2100" kern="1200">
        <a:solidFill>
          <a:schemeClr val="tx1"/>
        </a:solidFill>
        <a:latin typeface="+mn-lt"/>
        <a:ea typeface="+mn-ea"/>
        <a:cs typeface="+mn-cs"/>
      </a:defRPr>
    </a:lvl8pPr>
    <a:lvl9pPr marL="4179905" algn="l" defTabSz="1044976"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WIVAA Scope" id="{EED29D93-A3B0-49D6-A621-B8452B9F3AFE}">
          <p14:sldIdLst>
            <p14:sldId id="435"/>
            <p14:sldId id="403"/>
            <p14:sldId id="514"/>
            <p14:sldId id="404"/>
            <p14:sldId id="436"/>
            <p14:sldId id="512"/>
            <p14:sldId id="410"/>
            <p14:sldId id="413"/>
            <p14:sldId id="513"/>
            <p14:sldId id="415"/>
            <p14:sldId id="417"/>
            <p14:sldId id="534"/>
            <p14:sldId id="535"/>
            <p14:sldId id="455"/>
            <p14:sldId id="456"/>
            <p14:sldId id="457"/>
            <p14:sldId id="458"/>
            <p14:sldId id="459"/>
            <p14:sldId id="420"/>
            <p14:sldId id="421"/>
            <p14:sldId id="442"/>
            <p14:sldId id="426"/>
            <p14:sldId id="536"/>
            <p14:sldId id="428"/>
            <p14:sldId id="547"/>
            <p14:sldId id="543"/>
            <p14:sldId id="537"/>
            <p14:sldId id="443"/>
            <p14:sldId id="444"/>
            <p14:sldId id="445"/>
            <p14:sldId id="538"/>
            <p14:sldId id="447"/>
            <p14:sldId id="539"/>
            <p14:sldId id="449"/>
            <p14:sldId id="540"/>
            <p14:sldId id="541"/>
            <p14:sldId id="542"/>
            <p14:sldId id="515"/>
            <p14:sldId id="544"/>
            <p14:sldId id="438"/>
            <p14:sldId id="545"/>
            <p14:sldId id="441"/>
            <p14:sldId id="548"/>
            <p14:sldId id="549"/>
            <p14:sldId id="550"/>
            <p14:sldId id="551"/>
            <p14:sldId id="552"/>
            <p14:sldId id="546"/>
            <p14:sldId id="517"/>
            <p14:sldId id="446"/>
            <p14:sldId id="476"/>
            <p14:sldId id="563"/>
            <p14:sldId id="566"/>
            <p14:sldId id="567"/>
            <p14:sldId id="575"/>
            <p14:sldId id="578"/>
            <p14:sldId id="448"/>
            <p14:sldId id="485"/>
            <p14:sldId id="553"/>
            <p14:sldId id="554"/>
            <p14:sldId id="555"/>
            <p14:sldId id="576"/>
            <p14:sldId id="577"/>
            <p14:sldId id="529"/>
            <p14:sldId id="520"/>
            <p14:sldId id="453"/>
            <p14:sldId id="556"/>
            <p14:sldId id="439"/>
            <p14:sldId id="558"/>
            <p14:sldId id="557"/>
            <p14:sldId id="560"/>
            <p14:sldId id="568"/>
            <p14:sldId id="571"/>
            <p14:sldId id="570"/>
            <p14:sldId id="569"/>
            <p14:sldId id="522"/>
            <p14:sldId id="523"/>
            <p14:sldId id="524"/>
            <p14:sldId id="561"/>
            <p14:sldId id="562"/>
            <p14:sldId id="573"/>
            <p14:sldId id="572"/>
            <p14:sldId id="574"/>
            <p14:sldId id="531"/>
            <p14:sldId id="532"/>
            <p14:sldId id="533"/>
            <p14:sldId id="525"/>
            <p14:sldId id="527"/>
            <p14:sldId id="528"/>
            <p14:sldId id="454"/>
          </p14:sldIdLst>
        </p14:section>
      </p14:sectionLst>
    </p:ext>
    <p:ext uri="{EFAFB233-063F-42B5-8137-9DF3F51BA10A}">
      <p15:sldGuideLst xmlns:p15="http://schemas.microsoft.com/office/powerpoint/2012/main">
        <p15:guide id="1" orient="horz" pos="2880" userDrawn="1">
          <p15:clr>
            <a:srgbClr val="A4A3A4"/>
          </p15:clr>
        </p15:guide>
        <p15:guide id="2" pos="51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0" autoAdjust="0"/>
    <p:restoredTop sz="94444" autoAdjust="0"/>
  </p:normalViewPr>
  <p:slideViewPr>
    <p:cSldViewPr>
      <p:cViewPr varScale="1">
        <p:scale>
          <a:sx n="52" d="100"/>
          <a:sy n="52" d="100"/>
        </p:scale>
        <p:origin x="572" y="48"/>
      </p:cViewPr>
      <p:guideLst>
        <p:guide orient="horz" pos="2880"/>
        <p:guide pos="5168"/>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375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99D239E4-CCC7-4672-8707-FBC4A6D7AD82}" type="datetimeFigureOut">
              <a:rPr lang="en-US" smtClean="0"/>
              <a:pPr/>
              <a:t>5/21/2026</a:t>
            </a:fld>
            <a:endParaRPr lang="en-US" dirty="0"/>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83FE2DC6-21AB-4064-A58C-B8733D3B6ABD}" type="slidenum">
              <a:rPr lang="en-US" smtClean="0"/>
              <a:pPr/>
              <a:t>‹#›</a:t>
            </a:fld>
            <a:endParaRPr lang="en-US" dirty="0"/>
          </a:p>
        </p:txBody>
      </p:sp>
    </p:spTree>
    <p:extLst>
      <p:ext uri="{BB962C8B-B14F-4D97-AF65-F5344CB8AC3E}">
        <p14:creationId xmlns:p14="http://schemas.microsoft.com/office/powerpoint/2010/main" val="2067309741"/>
      </p:ext>
    </p:extLst>
  </p:cSld>
  <p:clrMap bg1="lt1" tx1="dk1" bg2="lt2" tx2="dk2" accent1="accent1" accent2="accent2" accent3="accent3" accent4="accent4" accent5="accent5" accent6="accent6" hlink="hlink" folHlink="folHlink"/>
  <p:notesStyle>
    <a:lvl1pPr marL="0" algn="l" defTabSz="1044976" rtl="0" eaLnBrk="1" latinLnBrk="0" hangingPunct="1">
      <a:defRPr sz="1400" kern="1200">
        <a:solidFill>
          <a:schemeClr val="tx1"/>
        </a:solidFill>
        <a:latin typeface="+mn-lt"/>
        <a:ea typeface="+mn-ea"/>
        <a:cs typeface="+mn-cs"/>
      </a:defRPr>
    </a:lvl1pPr>
    <a:lvl2pPr marL="522488" algn="l" defTabSz="1044976" rtl="0" eaLnBrk="1" latinLnBrk="0" hangingPunct="1">
      <a:defRPr sz="1400" kern="1200">
        <a:solidFill>
          <a:schemeClr val="tx1"/>
        </a:solidFill>
        <a:latin typeface="+mn-lt"/>
        <a:ea typeface="+mn-ea"/>
        <a:cs typeface="+mn-cs"/>
      </a:defRPr>
    </a:lvl2pPr>
    <a:lvl3pPr marL="1044976" algn="l" defTabSz="1044976" rtl="0" eaLnBrk="1" latinLnBrk="0" hangingPunct="1">
      <a:defRPr sz="1400" kern="1200">
        <a:solidFill>
          <a:schemeClr val="tx1"/>
        </a:solidFill>
        <a:latin typeface="+mn-lt"/>
        <a:ea typeface="+mn-ea"/>
        <a:cs typeface="+mn-cs"/>
      </a:defRPr>
    </a:lvl3pPr>
    <a:lvl4pPr marL="1567464" algn="l" defTabSz="1044976" rtl="0" eaLnBrk="1" latinLnBrk="0" hangingPunct="1">
      <a:defRPr sz="1400" kern="1200">
        <a:solidFill>
          <a:schemeClr val="tx1"/>
        </a:solidFill>
        <a:latin typeface="+mn-lt"/>
        <a:ea typeface="+mn-ea"/>
        <a:cs typeface="+mn-cs"/>
      </a:defRPr>
    </a:lvl4pPr>
    <a:lvl5pPr marL="2089953" algn="l" defTabSz="1044976" rtl="0" eaLnBrk="1" latinLnBrk="0" hangingPunct="1">
      <a:defRPr sz="1400" kern="1200">
        <a:solidFill>
          <a:schemeClr val="tx1"/>
        </a:solidFill>
        <a:latin typeface="+mn-lt"/>
        <a:ea typeface="+mn-ea"/>
        <a:cs typeface="+mn-cs"/>
      </a:defRPr>
    </a:lvl5pPr>
    <a:lvl6pPr marL="2612441" algn="l" defTabSz="1044976" rtl="0" eaLnBrk="1" latinLnBrk="0" hangingPunct="1">
      <a:defRPr sz="1400" kern="1200">
        <a:solidFill>
          <a:schemeClr val="tx1"/>
        </a:solidFill>
        <a:latin typeface="+mn-lt"/>
        <a:ea typeface="+mn-ea"/>
        <a:cs typeface="+mn-cs"/>
      </a:defRPr>
    </a:lvl6pPr>
    <a:lvl7pPr marL="3134929" algn="l" defTabSz="1044976" rtl="0" eaLnBrk="1" latinLnBrk="0" hangingPunct="1">
      <a:defRPr sz="1400" kern="1200">
        <a:solidFill>
          <a:schemeClr val="tx1"/>
        </a:solidFill>
        <a:latin typeface="+mn-lt"/>
        <a:ea typeface="+mn-ea"/>
        <a:cs typeface="+mn-cs"/>
      </a:defRPr>
    </a:lvl7pPr>
    <a:lvl8pPr marL="3657417" algn="l" defTabSz="1044976" rtl="0" eaLnBrk="1" latinLnBrk="0" hangingPunct="1">
      <a:defRPr sz="1400" kern="1200">
        <a:solidFill>
          <a:schemeClr val="tx1"/>
        </a:solidFill>
        <a:latin typeface="+mn-lt"/>
        <a:ea typeface="+mn-ea"/>
        <a:cs typeface="+mn-cs"/>
      </a:defRPr>
    </a:lvl8pPr>
    <a:lvl9pPr marL="4179905" algn="l" defTabSz="10449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dirty="0"/>
              <a:t>CIIT - Software Engineering-CSC291-Spring-2015</a:t>
            </a:r>
          </a:p>
        </p:txBody>
      </p:sp>
      <p:sp>
        <p:nvSpPr>
          <p:cNvPr id="5" name="Slide Number Placeholder 4"/>
          <p:cNvSpPr>
            <a:spLocks noGrp="1"/>
          </p:cNvSpPr>
          <p:nvPr>
            <p:ph type="sldNum" sz="quarter" idx="11"/>
          </p:nvPr>
        </p:nvSpPr>
        <p:spPr/>
        <p:txBody>
          <a:bodyPr/>
          <a:lstStyle/>
          <a:p>
            <a:fld id="{CFE964C9-6C37-4060-8613-7D2859285AE0}" type="slidenum">
              <a:rPr lang="en-US" smtClean="0"/>
              <a:t>1</a:t>
            </a:fld>
            <a:endParaRPr lang="en-US" dirty="0"/>
          </a:p>
        </p:txBody>
      </p:sp>
    </p:spTree>
    <p:extLst>
      <p:ext uri="{BB962C8B-B14F-4D97-AF65-F5344CB8AC3E}">
        <p14:creationId xmlns:p14="http://schemas.microsoft.com/office/powerpoint/2010/main" val="13560472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25311" y="228599"/>
            <a:ext cx="13554955" cy="1445817"/>
          </a:xfrm>
          <a:prstGeom prst="rect">
            <a:avLst/>
          </a:prstGeom>
        </p:spPr>
        <p:txBody>
          <a:bodyPr lIns="104498" tIns="52249" rIns="104498" bIns="52249"/>
          <a:lstStyle/>
          <a:p>
            <a:r>
              <a:rPr lang="en-US" dirty="0"/>
              <a:t>Click to edit Master title style</a:t>
            </a:r>
          </a:p>
        </p:txBody>
      </p:sp>
      <p:sp>
        <p:nvSpPr>
          <p:cNvPr id="3" name="Subtitle 2"/>
          <p:cNvSpPr>
            <a:spLocks noGrp="1"/>
          </p:cNvSpPr>
          <p:nvPr>
            <p:ph type="subTitle" idx="1"/>
          </p:nvPr>
        </p:nvSpPr>
        <p:spPr>
          <a:xfrm>
            <a:off x="2125310" y="2091566"/>
            <a:ext cx="13554956" cy="6186767"/>
          </a:xfrm>
          <a:prstGeom prst="rect">
            <a:avLst/>
          </a:prstGeom>
        </p:spPr>
        <p:txBody>
          <a:bodyPr lIns="104498" tIns="52249" rIns="104498" bIns="52249"/>
          <a:lstStyle>
            <a:lvl1pPr marL="0" indent="0" algn="ctr">
              <a:buNone/>
              <a:defRPr>
                <a:solidFill>
                  <a:schemeClr val="tx1">
                    <a:tint val="75000"/>
                  </a:schemeClr>
                </a:solidFill>
              </a:defRPr>
            </a:lvl1pPr>
            <a:lvl2pPr marL="522488" indent="0" algn="ctr">
              <a:buNone/>
              <a:defRPr>
                <a:solidFill>
                  <a:schemeClr val="tx1">
                    <a:tint val="75000"/>
                  </a:schemeClr>
                </a:solidFill>
              </a:defRPr>
            </a:lvl2pPr>
            <a:lvl3pPr marL="1044976" indent="0" algn="ctr">
              <a:buNone/>
              <a:defRPr>
                <a:solidFill>
                  <a:schemeClr val="tx1">
                    <a:tint val="75000"/>
                  </a:schemeClr>
                </a:solidFill>
              </a:defRPr>
            </a:lvl3pPr>
            <a:lvl4pPr marL="1567464" indent="0" algn="ctr">
              <a:buNone/>
              <a:defRPr>
                <a:solidFill>
                  <a:schemeClr val="tx1">
                    <a:tint val="75000"/>
                  </a:schemeClr>
                </a:solidFill>
              </a:defRPr>
            </a:lvl4pPr>
            <a:lvl5pPr marL="2089953" indent="0" algn="ctr">
              <a:buNone/>
              <a:defRPr>
                <a:solidFill>
                  <a:schemeClr val="tx1">
                    <a:tint val="75000"/>
                  </a:schemeClr>
                </a:solidFill>
              </a:defRPr>
            </a:lvl5pPr>
            <a:lvl6pPr marL="2612441" indent="0" algn="ctr">
              <a:buNone/>
              <a:defRPr>
                <a:solidFill>
                  <a:schemeClr val="tx1">
                    <a:tint val="75000"/>
                  </a:schemeClr>
                </a:solidFill>
              </a:defRPr>
            </a:lvl6pPr>
            <a:lvl7pPr marL="3134929" indent="0" algn="ctr">
              <a:buNone/>
              <a:defRPr>
                <a:solidFill>
                  <a:schemeClr val="tx1">
                    <a:tint val="75000"/>
                  </a:schemeClr>
                </a:solidFill>
              </a:defRPr>
            </a:lvl7pPr>
            <a:lvl8pPr marL="3657417" indent="0" algn="ctr">
              <a:buNone/>
              <a:defRPr>
                <a:solidFill>
                  <a:schemeClr val="tx1">
                    <a:tint val="75000"/>
                  </a:schemeClr>
                </a:solidFill>
              </a:defRPr>
            </a:lvl8pPr>
            <a:lvl9pPr marL="4179905" indent="0" algn="ctr">
              <a:buNone/>
              <a:defRPr>
                <a:solidFill>
                  <a:schemeClr val="tx1">
                    <a:tint val="75000"/>
                  </a:schemeClr>
                </a:solidFill>
              </a:defRPr>
            </a:lvl9pPr>
          </a:lstStyle>
          <a:p>
            <a:r>
              <a:rPr lang="en-US" dirty="0"/>
              <a:t>Click to edit Master subtitle style</a:t>
            </a:r>
          </a:p>
        </p:txBody>
      </p:sp>
      <p:sp>
        <p:nvSpPr>
          <p:cNvPr id="6" name="Slide Number Placeholder 5"/>
          <p:cNvSpPr>
            <a:spLocks noGrp="1"/>
          </p:cNvSpPr>
          <p:nvPr>
            <p:ph type="sldNum" sz="quarter" idx="12"/>
          </p:nvPr>
        </p:nvSpPr>
        <p:spPr>
          <a:xfrm>
            <a:off x="14054666" y="8537506"/>
            <a:ext cx="1625600" cy="508001"/>
          </a:xfrm>
        </p:spPr>
        <p:txBody>
          <a:bodyPr/>
          <a:lstStyle>
            <a:lvl1pPr algn="ctr">
              <a:defRPr>
                <a:solidFill>
                  <a:schemeClr val="bg1"/>
                </a:solidFill>
              </a:defRPr>
            </a:lvl1pPr>
          </a:lstStyle>
          <a:p>
            <a:fld id="{A8EF9831-35B4-4843-9AA9-F06FC1EDDB89}" type="slidenum">
              <a:rPr lang="en-US" smtClean="0">
                <a:solidFill>
                  <a:prstClr val="white"/>
                </a:solidFill>
              </a:rPr>
              <a:pPr/>
              <a:t>‹#›</a:t>
            </a:fld>
            <a:endParaRPr lang="en-US" dirty="0">
              <a:solidFill>
                <a:prstClr val="white"/>
              </a:solidFill>
            </a:endParaRPr>
          </a:p>
        </p:txBody>
      </p:sp>
      <p:cxnSp>
        <p:nvCxnSpPr>
          <p:cNvPr id="8" name="Straight Connector 7">
            <a:extLst>
              <a:ext uri="{FF2B5EF4-FFF2-40B4-BE49-F238E27FC236}">
                <a16:creationId xmlns:a16="http://schemas.microsoft.com/office/drawing/2014/main" id="{D18DCC76-4A5C-410D-8F99-390492C49697}"/>
              </a:ext>
            </a:extLst>
          </p:cNvPr>
          <p:cNvCxnSpPr>
            <a:cxnSpLocks/>
          </p:cNvCxnSpPr>
          <p:nvPr userDrawn="1"/>
        </p:nvCxnSpPr>
        <p:spPr>
          <a:xfrm>
            <a:off x="0" y="0"/>
            <a:ext cx="16256000" cy="0"/>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F0077554-CDA4-4A01-9DD7-9247631E43B2}"/>
              </a:ext>
            </a:extLst>
          </p:cNvPr>
          <p:cNvCxnSpPr>
            <a:cxnSpLocks/>
          </p:cNvCxnSpPr>
          <p:nvPr userDrawn="1"/>
        </p:nvCxnSpPr>
        <p:spPr>
          <a:xfrm>
            <a:off x="0" y="9147110"/>
            <a:ext cx="16256000" cy="0"/>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D711B159-BDB6-4F6D-A471-970E8DC9BED1}"/>
              </a:ext>
            </a:extLst>
          </p:cNvPr>
          <p:cNvCxnSpPr>
            <a:cxnSpLocks/>
          </p:cNvCxnSpPr>
          <p:nvPr userDrawn="1"/>
        </p:nvCxnSpPr>
        <p:spPr>
          <a:xfrm>
            <a:off x="16256000" y="0"/>
            <a:ext cx="0" cy="9144000"/>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3BBD1287-1E5F-46A1-8AA2-4E0261ABF3DF}"/>
              </a:ext>
            </a:extLst>
          </p:cNvPr>
          <p:cNvCxnSpPr>
            <a:cxnSpLocks/>
          </p:cNvCxnSpPr>
          <p:nvPr userDrawn="1"/>
        </p:nvCxnSpPr>
        <p:spPr>
          <a:xfrm>
            <a:off x="0" y="0"/>
            <a:ext cx="0" cy="9144000"/>
          </a:xfrm>
          <a:prstGeom prst="line">
            <a:avLst/>
          </a:prstGeom>
        </p:spPr>
        <p:style>
          <a:lnRef idx="3">
            <a:schemeClr val="dk1"/>
          </a:lnRef>
          <a:fillRef idx="0">
            <a:schemeClr val="dk1"/>
          </a:fillRef>
          <a:effectRef idx="2">
            <a:schemeClr val="dk1"/>
          </a:effectRef>
          <a:fontRef idx="minor">
            <a:schemeClr val="tx1"/>
          </a:fontRef>
        </p:style>
      </p:cxnSp>
      <p:cxnSp>
        <p:nvCxnSpPr>
          <p:cNvPr id="21" name="Straight Connector 20">
            <a:extLst>
              <a:ext uri="{FF2B5EF4-FFF2-40B4-BE49-F238E27FC236}">
                <a16:creationId xmlns:a16="http://schemas.microsoft.com/office/drawing/2014/main" id="{15951F13-7ECD-4677-9D28-DC34C02C05B7}"/>
              </a:ext>
            </a:extLst>
          </p:cNvPr>
          <p:cNvCxnSpPr>
            <a:cxnSpLocks/>
          </p:cNvCxnSpPr>
          <p:nvPr userDrawn="1"/>
        </p:nvCxnSpPr>
        <p:spPr>
          <a:xfrm>
            <a:off x="1688365" y="0"/>
            <a:ext cx="0" cy="1838325"/>
          </a:xfrm>
          <a:prstGeom prst="line">
            <a:avLst/>
          </a:prstGeom>
        </p:spPr>
        <p:style>
          <a:lnRef idx="3">
            <a:schemeClr val="dk1"/>
          </a:lnRef>
          <a:fillRef idx="0">
            <a:schemeClr val="dk1"/>
          </a:fillRef>
          <a:effectRef idx="2">
            <a:schemeClr val="dk1"/>
          </a:effectRef>
          <a:fontRef idx="minor">
            <a:schemeClr val="tx1"/>
          </a:fontRef>
        </p:style>
      </p:cxnSp>
      <p:cxnSp>
        <p:nvCxnSpPr>
          <p:cNvPr id="22" name="Straight Connector 21">
            <a:extLst>
              <a:ext uri="{FF2B5EF4-FFF2-40B4-BE49-F238E27FC236}">
                <a16:creationId xmlns:a16="http://schemas.microsoft.com/office/drawing/2014/main" id="{96B2984D-8156-4C81-94CC-D90016959117}"/>
              </a:ext>
            </a:extLst>
          </p:cNvPr>
          <p:cNvCxnSpPr>
            <a:cxnSpLocks/>
          </p:cNvCxnSpPr>
          <p:nvPr userDrawn="1"/>
        </p:nvCxnSpPr>
        <p:spPr>
          <a:xfrm>
            <a:off x="0" y="1838325"/>
            <a:ext cx="1688365" cy="0"/>
          </a:xfrm>
          <a:prstGeom prst="line">
            <a:avLst/>
          </a:prstGeom>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0968ECA8-4DE4-466C-8C74-711E0A968805}"/>
              </a:ext>
            </a:extLst>
          </p:cNvPr>
          <p:cNvCxnSpPr>
            <a:cxnSpLocks/>
          </p:cNvCxnSpPr>
          <p:nvPr userDrawn="1"/>
        </p:nvCxnSpPr>
        <p:spPr>
          <a:xfrm flipV="1">
            <a:off x="1688365" y="1804207"/>
            <a:ext cx="14567634" cy="28186"/>
          </a:xfrm>
          <a:prstGeom prst="line">
            <a:avLst/>
          </a:prstGeom>
        </p:spPr>
        <p:style>
          <a:lnRef idx="3">
            <a:schemeClr val="dk1"/>
          </a:lnRef>
          <a:fillRef idx="0">
            <a:schemeClr val="dk1"/>
          </a:fillRef>
          <a:effectRef idx="2">
            <a:schemeClr val="dk1"/>
          </a:effectRef>
          <a:fontRef idx="minor">
            <a:schemeClr val="tx1"/>
          </a:fontRef>
        </p:style>
      </p:cxnSp>
      <p:pic>
        <p:nvPicPr>
          <p:cNvPr id="13" name="Picture 12">
            <a:extLst>
              <a:ext uri="{FF2B5EF4-FFF2-40B4-BE49-F238E27FC236}">
                <a16:creationId xmlns:a16="http://schemas.microsoft.com/office/drawing/2014/main" id="{DCDFB185-AF27-4E9C-8FA6-6947FB5A95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028" y="213788"/>
            <a:ext cx="1409504" cy="1409504"/>
          </a:xfrm>
          <a:prstGeom prst="rect">
            <a:avLst/>
          </a:prstGeom>
        </p:spPr>
      </p:pic>
    </p:spTree>
    <p:extLst>
      <p:ext uri="{BB962C8B-B14F-4D97-AF65-F5344CB8AC3E}">
        <p14:creationId xmlns:p14="http://schemas.microsoft.com/office/powerpoint/2010/main" val="1810352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25311" y="228599"/>
            <a:ext cx="13554955" cy="1445817"/>
          </a:xfrm>
          <a:prstGeom prst="rect">
            <a:avLst/>
          </a:prstGeom>
        </p:spPr>
        <p:txBody>
          <a:bodyPr lIns="104498" tIns="52249" rIns="104498" bIns="52249"/>
          <a:lstStyle/>
          <a:p>
            <a:r>
              <a:rPr lang="en-US" dirty="0"/>
              <a:t>Click to edit Master title style</a:t>
            </a:r>
          </a:p>
        </p:txBody>
      </p:sp>
      <p:sp>
        <p:nvSpPr>
          <p:cNvPr id="3" name="Subtitle 2"/>
          <p:cNvSpPr>
            <a:spLocks noGrp="1"/>
          </p:cNvSpPr>
          <p:nvPr>
            <p:ph type="subTitle" idx="1"/>
          </p:nvPr>
        </p:nvSpPr>
        <p:spPr>
          <a:xfrm>
            <a:off x="2125310" y="2091566"/>
            <a:ext cx="13554956" cy="6186767"/>
          </a:xfrm>
          <a:prstGeom prst="rect">
            <a:avLst/>
          </a:prstGeom>
        </p:spPr>
        <p:txBody>
          <a:bodyPr lIns="104498" tIns="52249" rIns="104498" bIns="52249"/>
          <a:lstStyle>
            <a:lvl1pPr marL="0" indent="0" algn="ctr">
              <a:buNone/>
              <a:defRPr>
                <a:solidFill>
                  <a:schemeClr val="tx1">
                    <a:tint val="75000"/>
                  </a:schemeClr>
                </a:solidFill>
              </a:defRPr>
            </a:lvl1pPr>
            <a:lvl2pPr marL="522488" indent="0" algn="ctr">
              <a:buNone/>
              <a:defRPr>
                <a:solidFill>
                  <a:schemeClr val="tx1">
                    <a:tint val="75000"/>
                  </a:schemeClr>
                </a:solidFill>
              </a:defRPr>
            </a:lvl2pPr>
            <a:lvl3pPr marL="1044976" indent="0" algn="ctr">
              <a:buNone/>
              <a:defRPr>
                <a:solidFill>
                  <a:schemeClr val="tx1">
                    <a:tint val="75000"/>
                  </a:schemeClr>
                </a:solidFill>
              </a:defRPr>
            </a:lvl3pPr>
            <a:lvl4pPr marL="1567464" indent="0" algn="ctr">
              <a:buNone/>
              <a:defRPr>
                <a:solidFill>
                  <a:schemeClr val="tx1">
                    <a:tint val="75000"/>
                  </a:schemeClr>
                </a:solidFill>
              </a:defRPr>
            </a:lvl4pPr>
            <a:lvl5pPr marL="2089953" indent="0" algn="ctr">
              <a:buNone/>
              <a:defRPr>
                <a:solidFill>
                  <a:schemeClr val="tx1">
                    <a:tint val="75000"/>
                  </a:schemeClr>
                </a:solidFill>
              </a:defRPr>
            </a:lvl5pPr>
            <a:lvl6pPr marL="2612441" indent="0" algn="ctr">
              <a:buNone/>
              <a:defRPr>
                <a:solidFill>
                  <a:schemeClr val="tx1">
                    <a:tint val="75000"/>
                  </a:schemeClr>
                </a:solidFill>
              </a:defRPr>
            </a:lvl6pPr>
            <a:lvl7pPr marL="3134929" indent="0" algn="ctr">
              <a:buNone/>
              <a:defRPr>
                <a:solidFill>
                  <a:schemeClr val="tx1">
                    <a:tint val="75000"/>
                  </a:schemeClr>
                </a:solidFill>
              </a:defRPr>
            </a:lvl7pPr>
            <a:lvl8pPr marL="3657417" indent="0" algn="ctr">
              <a:buNone/>
              <a:defRPr>
                <a:solidFill>
                  <a:schemeClr val="tx1">
                    <a:tint val="75000"/>
                  </a:schemeClr>
                </a:solidFill>
              </a:defRPr>
            </a:lvl8pPr>
            <a:lvl9pPr marL="4179905" indent="0" algn="ctr">
              <a:buNone/>
              <a:defRPr>
                <a:solidFill>
                  <a:schemeClr val="tx1">
                    <a:tint val="75000"/>
                  </a:schemeClr>
                </a:solidFill>
              </a:defRPr>
            </a:lvl9pPr>
          </a:lstStyle>
          <a:p>
            <a:r>
              <a:rPr lang="en-US" dirty="0"/>
              <a:t>Click to edit Master subtitle style</a:t>
            </a:r>
          </a:p>
        </p:txBody>
      </p:sp>
      <p:sp>
        <p:nvSpPr>
          <p:cNvPr id="6" name="Slide Number Placeholder 5"/>
          <p:cNvSpPr>
            <a:spLocks noGrp="1"/>
          </p:cNvSpPr>
          <p:nvPr>
            <p:ph type="sldNum" sz="quarter" idx="12"/>
          </p:nvPr>
        </p:nvSpPr>
        <p:spPr>
          <a:xfrm>
            <a:off x="14054666" y="8537506"/>
            <a:ext cx="1625600" cy="508001"/>
          </a:xfrm>
        </p:spPr>
        <p:txBody>
          <a:bodyPr/>
          <a:lstStyle>
            <a:lvl1pPr algn="ctr">
              <a:defRPr>
                <a:solidFill>
                  <a:schemeClr val="tx1"/>
                </a:solidFill>
              </a:defRPr>
            </a:lvl1pPr>
          </a:lstStyle>
          <a:p>
            <a:fld id="{A8EF9831-35B4-4843-9AA9-F06FC1EDDB89}" type="slidenum">
              <a:rPr lang="en-US" smtClean="0"/>
              <a:pPr/>
              <a:t>‹#›</a:t>
            </a:fld>
            <a:endParaRPr lang="en-US" dirty="0"/>
          </a:p>
        </p:txBody>
      </p:sp>
      <p:pic>
        <p:nvPicPr>
          <p:cNvPr id="4" name="Picture 3">
            <a:extLst>
              <a:ext uri="{FF2B5EF4-FFF2-40B4-BE49-F238E27FC236}">
                <a16:creationId xmlns:a16="http://schemas.microsoft.com/office/drawing/2014/main" id="{985802B2-D205-4C59-A53A-94D44D9F6201}"/>
              </a:ext>
            </a:extLst>
          </p:cNvPr>
          <p:cNvPicPr>
            <a:picLocks noChangeAspect="1"/>
          </p:cNvPicPr>
          <p:nvPr userDrawn="1"/>
        </p:nvPicPr>
        <p:blipFill>
          <a:blip r:embed="rId2"/>
          <a:stretch>
            <a:fillRect/>
          </a:stretch>
        </p:blipFill>
        <p:spPr>
          <a:xfrm>
            <a:off x="69115" y="114365"/>
            <a:ext cx="1619250" cy="1609725"/>
          </a:xfrm>
          <a:prstGeom prst="rect">
            <a:avLst/>
          </a:prstGeom>
        </p:spPr>
      </p:pic>
      <p:cxnSp>
        <p:nvCxnSpPr>
          <p:cNvPr id="8" name="Straight Connector 7">
            <a:extLst>
              <a:ext uri="{FF2B5EF4-FFF2-40B4-BE49-F238E27FC236}">
                <a16:creationId xmlns:a16="http://schemas.microsoft.com/office/drawing/2014/main" id="{D18DCC76-4A5C-410D-8F99-390492C49697}"/>
              </a:ext>
            </a:extLst>
          </p:cNvPr>
          <p:cNvCxnSpPr>
            <a:cxnSpLocks/>
          </p:cNvCxnSpPr>
          <p:nvPr userDrawn="1"/>
        </p:nvCxnSpPr>
        <p:spPr>
          <a:xfrm>
            <a:off x="0" y="0"/>
            <a:ext cx="16256000" cy="0"/>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F0077554-CDA4-4A01-9DD7-9247631E43B2}"/>
              </a:ext>
            </a:extLst>
          </p:cNvPr>
          <p:cNvCxnSpPr>
            <a:cxnSpLocks/>
          </p:cNvCxnSpPr>
          <p:nvPr userDrawn="1"/>
        </p:nvCxnSpPr>
        <p:spPr>
          <a:xfrm>
            <a:off x="0" y="9147110"/>
            <a:ext cx="16256000" cy="0"/>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D711B159-BDB6-4F6D-A471-970E8DC9BED1}"/>
              </a:ext>
            </a:extLst>
          </p:cNvPr>
          <p:cNvCxnSpPr>
            <a:cxnSpLocks/>
          </p:cNvCxnSpPr>
          <p:nvPr userDrawn="1"/>
        </p:nvCxnSpPr>
        <p:spPr>
          <a:xfrm>
            <a:off x="16256000" y="0"/>
            <a:ext cx="0" cy="9144000"/>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3BBD1287-1E5F-46A1-8AA2-4E0261ABF3DF}"/>
              </a:ext>
            </a:extLst>
          </p:cNvPr>
          <p:cNvCxnSpPr>
            <a:cxnSpLocks/>
          </p:cNvCxnSpPr>
          <p:nvPr userDrawn="1"/>
        </p:nvCxnSpPr>
        <p:spPr>
          <a:xfrm>
            <a:off x="0" y="0"/>
            <a:ext cx="0" cy="9144000"/>
          </a:xfrm>
          <a:prstGeom prst="line">
            <a:avLst/>
          </a:prstGeom>
        </p:spPr>
        <p:style>
          <a:lnRef idx="3">
            <a:schemeClr val="dk1"/>
          </a:lnRef>
          <a:fillRef idx="0">
            <a:schemeClr val="dk1"/>
          </a:fillRef>
          <a:effectRef idx="2">
            <a:schemeClr val="dk1"/>
          </a:effectRef>
          <a:fontRef idx="minor">
            <a:schemeClr val="tx1"/>
          </a:fontRef>
        </p:style>
      </p:cxnSp>
      <p:cxnSp>
        <p:nvCxnSpPr>
          <p:cNvPr id="21" name="Straight Connector 20">
            <a:extLst>
              <a:ext uri="{FF2B5EF4-FFF2-40B4-BE49-F238E27FC236}">
                <a16:creationId xmlns:a16="http://schemas.microsoft.com/office/drawing/2014/main" id="{15951F13-7ECD-4677-9D28-DC34C02C05B7}"/>
              </a:ext>
            </a:extLst>
          </p:cNvPr>
          <p:cNvCxnSpPr>
            <a:cxnSpLocks/>
          </p:cNvCxnSpPr>
          <p:nvPr userDrawn="1"/>
        </p:nvCxnSpPr>
        <p:spPr>
          <a:xfrm>
            <a:off x="1688365" y="0"/>
            <a:ext cx="0" cy="1838325"/>
          </a:xfrm>
          <a:prstGeom prst="line">
            <a:avLst/>
          </a:prstGeom>
        </p:spPr>
        <p:style>
          <a:lnRef idx="3">
            <a:schemeClr val="dk1"/>
          </a:lnRef>
          <a:fillRef idx="0">
            <a:schemeClr val="dk1"/>
          </a:fillRef>
          <a:effectRef idx="2">
            <a:schemeClr val="dk1"/>
          </a:effectRef>
          <a:fontRef idx="minor">
            <a:schemeClr val="tx1"/>
          </a:fontRef>
        </p:style>
      </p:cxnSp>
      <p:cxnSp>
        <p:nvCxnSpPr>
          <p:cNvPr id="22" name="Straight Connector 21">
            <a:extLst>
              <a:ext uri="{FF2B5EF4-FFF2-40B4-BE49-F238E27FC236}">
                <a16:creationId xmlns:a16="http://schemas.microsoft.com/office/drawing/2014/main" id="{96B2984D-8156-4C81-94CC-D90016959117}"/>
              </a:ext>
            </a:extLst>
          </p:cNvPr>
          <p:cNvCxnSpPr>
            <a:cxnSpLocks/>
          </p:cNvCxnSpPr>
          <p:nvPr userDrawn="1"/>
        </p:nvCxnSpPr>
        <p:spPr>
          <a:xfrm>
            <a:off x="0" y="1838325"/>
            <a:ext cx="1688365" cy="0"/>
          </a:xfrm>
          <a:prstGeom prst="line">
            <a:avLst/>
          </a:prstGeom>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0968ECA8-4DE4-466C-8C74-711E0A968805}"/>
              </a:ext>
            </a:extLst>
          </p:cNvPr>
          <p:cNvCxnSpPr>
            <a:cxnSpLocks/>
          </p:cNvCxnSpPr>
          <p:nvPr userDrawn="1"/>
        </p:nvCxnSpPr>
        <p:spPr>
          <a:xfrm flipV="1">
            <a:off x="1688365" y="1804207"/>
            <a:ext cx="14567634" cy="28186"/>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38713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366184"/>
            <a:ext cx="14630400" cy="1524000"/>
          </a:xfrm>
          <a:prstGeom prst="rect">
            <a:avLst/>
          </a:prstGeom>
        </p:spPr>
        <p:txBody>
          <a:bodyPr lIns="104498" tIns="52249" rIns="104498" bIns="52249"/>
          <a:lstStyle/>
          <a:p>
            <a:r>
              <a:rPr lang="en-US"/>
              <a:t>Click to edit Master title style</a:t>
            </a:r>
          </a:p>
        </p:txBody>
      </p:sp>
      <p:sp>
        <p:nvSpPr>
          <p:cNvPr id="3" name="Content Placeholder 2"/>
          <p:cNvSpPr>
            <a:spLocks noGrp="1"/>
          </p:cNvSpPr>
          <p:nvPr>
            <p:ph idx="1"/>
          </p:nvPr>
        </p:nvSpPr>
        <p:spPr>
          <a:xfrm>
            <a:off x="812800" y="2133602"/>
            <a:ext cx="14630400" cy="6034618"/>
          </a:xfrm>
          <a:prstGeom prst="rect">
            <a:avLst/>
          </a:prstGeom>
        </p:spPr>
        <p:txBody>
          <a:bodyPr lIns="104498" tIns="52249" rIns="104498" bIns="52249"/>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6908800" y="8534402"/>
            <a:ext cx="677333" cy="486834"/>
          </a:xfrm>
        </p:spPr>
        <p:txBody>
          <a:bodyPr/>
          <a:lstStyle>
            <a:lvl1pPr>
              <a:defRPr>
                <a:solidFill>
                  <a:schemeClr val="tx1"/>
                </a:solidFill>
              </a:defRPr>
            </a:lvl1pPr>
          </a:lstStyle>
          <a:p>
            <a:fld id="{A8EF9831-35B4-4843-9AA9-F06FC1EDDB89}" type="slidenum">
              <a:rPr lang="en-US" smtClean="0"/>
              <a:pPr/>
              <a:t>‹#›</a:t>
            </a:fld>
            <a:endParaRPr lang="en-US" dirty="0"/>
          </a:p>
        </p:txBody>
      </p:sp>
    </p:spTree>
    <p:extLst>
      <p:ext uri="{BB962C8B-B14F-4D97-AF65-F5344CB8AC3E}">
        <p14:creationId xmlns:p14="http://schemas.microsoft.com/office/powerpoint/2010/main" val="164386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84113" y="5875868"/>
            <a:ext cx="13817600" cy="1816100"/>
          </a:xfrm>
          <a:prstGeom prst="rect">
            <a:avLst/>
          </a:prstGeom>
        </p:spPr>
        <p:txBody>
          <a:bodyPr lIns="104498" tIns="52249" rIns="104498" bIns="52249"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1284113" y="3875623"/>
            <a:ext cx="13817600" cy="2000249"/>
          </a:xfrm>
          <a:prstGeom prst="rect">
            <a:avLst/>
          </a:prstGeom>
        </p:spPr>
        <p:txBody>
          <a:bodyPr lIns="104498" tIns="52249" rIns="104498" bIns="52249" anchor="b"/>
          <a:lstStyle>
            <a:lvl1pPr marL="0" indent="0">
              <a:buNone/>
              <a:defRPr sz="2300">
                <a:solidFill>
                  <a:schemeClr val="tx1">
                    <a:tint val="75000"/>
                  </a:schemeClr>
                </a:solidFill>
              </a:defRPr>
            </a:lvl1pPr>
            <a:lvl2pPr marL="522488" indent="0">
              <a:buNone/>
              <a:defRPr sz="2100">
                <a:solidFill>
                  <a:schemeClr val="tx1">
                    <a:tint val="75000"/>
                  </a:schemeClr>
                </a:solidFill>
              </a:defRPr>
            </a:lvl2pPr>
            <a:lvl3pPr marL="1044976" indent="0">
              <a:buNone/>
              <a:defRPr sz="1800">
                <a:solidFill>
                  <a:schemeClr val="tx1">
                    <a:tint val="75000"/>
                  </a:schemeClr>
                </a:solidFill>
              </a:defRPr>
            </a:lvl3pPr>
            <a:lvl4pPr marL="1567464" indent="0">
              <a:buNone/>
              <a:defRPr sz="1600">
                <a:solidFill>
                  <a:schemeClr val="tx1">
                    <a:tint val="75000"/>
                  </a:schemeClr>
                </a:solidFill>
              </a:defRPr>
            </a:lvl4pPr>
            <a:lvl5pPr marL="2089953" indent="0">
              <a:buNone/>
              <a:defRPr sz="1600">
                <a:solidFill>
                  <a:schemeClr val="tx1">
                    <a:tint val="75000"/>
                  </a:schemeClr>
                </a:solidFill>
              </a:defRPr>
            </a:lvl5pPr>
            <a:lvl6pPr marL="2612441" indent="0">
              <a:buNone/>
              <a:defRPr sz="1600">
                <a:solidFill>
                  <a:schemeClr val="tx1">
                    <a:tint val="75000"/>
                  </a:schemeClr>
                </a:solidFill>
              </a:defRPr>
            </a:lvl6pPr>
            <a:lvl7pPr marL="3134929" indent="0">
              <a:buNone/>
              <a:defRPr sz="1600">
                <a:solidFill>
                  <a:schemeClr val="tx1">
                    <a:tint val="75000"/>
                  </a:schemeClr>
                </a:solidFill>
              </a:defRPr>
            </a:lvl7pPr>
            <a:lvl8pPr marL="3657417" indent="0">
              <a:buNone/>
              <a:defRPr sz="1600">
                <a:solidFill>
                  <a:schemeClr val="tx1">
                    <a:tint val="75000"/>
                  </a:schemeClr>
                </a:solidFill>
              </a:defRPr>
            </a:lvl8pPr>
            <a:lvl9pPr marL="4179905"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110972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366184"/>
            <a:ext cx="14630400" cy="1524000"/>
          </a:xfrm>
          <a:prstGeom prst="rect">
            <a:avLst/>
          </a:prstGeom>
        </p:spPr>
        <p:txBody>
          <a:bodyPr lIns="104498" tIns="52249" rIns="104498" bIns="52249"/>
          <a:lstStyle/>
          <a:p>
            <a:r>
              <a:rPr lang="en-US"/>
              <a:t>Click to edit Master title style</a:t>
            </a:r>
          </a:p>
        </p:txBody>
      </p:sp>
      <p:sp>
        <p:nvSpPr>
          <p:cNvPr id="3" name="Content Placeholder 2"/>
          <p:cNvSpPr>
            <a:spLocks noGrp="1"/>
          </p:cNvSpPr>
          <p:nvPr>
            <p:ph sz="half" idx="1"/>
          </p:nvPr>
        </p:nvSpPr>
        <p:spPr>
          <a:xfrm>
            <a:off x="812800" y="2133602"/>
            <a:ext cx="7179733" cy="6034618"/>
          </a:xfrm>
          <a:prstGeom prst="rect">
            <a:avLst/>
          </a:prstGeom>
        </p:spPr>
        <p:txBody>
          <a:bodyPr lIns="104498" tIns="52249" rIns="104498" bIns="52249"/>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63467" y="2133602"/>
            <a:ext cx="7179733" cy="6034618"/>
          </a:xfrm>
          <a:prstGeom prst="rect">
            <a:avLst/>
          </a:prstGeom>
        </p:spPr>
        <p:txBody>
          <a:bodyPr lIns="104498" tIns="52249" rIns="104498" bIns="52249"/>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942874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366184"/>
            <a:ext cx="14630400" cy="1524000"/>
          </a:xfrm>
          <a:prstGeom prst="rect">
            <a:avLst/>
          </a:prstGeom>
        </p:spPr>
        <p:txBody>
          <a:bodyPr lIns="104498" tIns="52249" rIns="104498" bIns="52249"/>
          <a:lstStyle>
            <a:lvl1pPr>
              <a:defRPr/>
            </a:lvl1pPr>
          </a:lstStyle>
          <a:p>
            <a:r>
              <a:rPr lang="en-US"/>
              <a:t>Click to edit Master title style</a:t>
            </a:r>
          </a:p>
        </p:txBody>
      </p:sp>
      <p:sp>
        <p:nvSpPr>
          <p:cNvPr id="3" name="Text Placeholder 2"/>
          <p:cNvSpPr>
            <a:spLocks noGrp="1"/>
          </p:cNvSpPr>
          <p:nvPr>
            <p:ph type="body" idx="1"/>
          </p:nvPr>
        </p:nvSpPr>
        <p:spPr>
          <a:xfrm>
            <a:off x="812802" y="2046818"/>
            <a:ext cx="7182557" cy="853016"/>
          </a:xfrm>
          <a:prstGeom prst="rect">
            <a:avLst/>
          </a:prstGeom>
        </p:spPr>
        <p:txBody>
          <a:bodyPr lIns="104498" tIns="52249" rIns="104498" bIns="52249" anchor="b"/>
          <a:lstStyle>
            <a:lvl1pPr marL="0" indent="0">
              <a:buNone/>
              <a:defRPr sz="2700" b="1"/>
            </a:lvl1pPr>
            <a:lvl2pPr marL="522488" indent="0">
              <a:buNone/>
              <a:defRPr sz="2300" b="1"/>
            </a:lvl2pPr>
            <a:lvl3pPr marL="1044976" indent="0">
              <a:buNone/>
              <a:defRPr sz="2100" b="1"/>
            </a:lvl3pPr>
            <a:lvl4pPr marL="1567464" indent="0">
              <a:buNone/>
              <a:defRPr sz="1800" b="1"/>
            </a:lvl4pPr>
            <a:lvl5pPr marL="2089953" indent="0">
              <a:buNone/>
              <a:defRPr sz="1800" b="1"/>
            </a:lvl5pPr>
            <a:lvl6pPr marL="2612441" indent="0">
              <a:buNone/>
              <a:defRPr sz="1800" b="1"/>
            </a:lvl6pPr>
            <a:lvl7pPr marL="3134929" indent="0">
              <a:buNone/>
              <a:defRPr sz="1800" b="1"/>
            </a:lvl7pPr>
            <a:lvl8pPr marL="3657417" indent="0">
              <a:buNone/>
              <a:defRPr sz="1800" b="1"/>
            </a:lvl8pPr>
            <a:lvl9pPr marL="4179905" indent="0">
              <a:buNone/>
              <a:defRPr sz="1800" b="1"/>
            </a:lvl9pPr>
          </a:lstStyle>
          <a:p>
            <a:pPr lvl="0"/>
            <a:r>
              <a:rPr lang="en-US"/>
              <a:t>Click to edit Master text styles</a:t>
            </a:r>
          </a:p>
        </p:txBody>
      </p:sp>
      <p:sp>
        <p:nvSpPr>
          <p:cNvPr id="4" name="Content Placeholder 3"/>
          <p:cNvSpPr>
            <a:spLocks noGrp="1"/>
          </p:cNvSpPr>
          <p:nvPr>
            <p:ph sz="half" idx="2"/>
          </p:nvPr>
        </p:nvSpPr>
        <p:spPr>
          <a:xfrm>
            <a:off x="812802" y="2899834"/>
            <a:ext cx="7182557" cy="5268384"/>
          </a:xfrm>
          <a:prstGeom prst="rect">
            <a:avLst/>
          </a:prstGeom>
        </p:spPr>
        <p:txBody>
          <a:bodyPr lIns="104498" tIns="52249" rIns="104498" bIns="52249"/>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8257825" y="2046818"/>
            <a:ext cx="7185378" cy="853016"/>
          </a:xfrm>
          <a:prstGeom prst="rect">
            <a:avLst/>
          </a:prstGeom>
        </p:spPr>
        <p:txBody>
          <a:bodyPr lIns="104498" tIns="52249" rIns="104498" bIns="52249" anchor="b"/>
          <a:lstStyle>
            <a:lvl1pPr marL="0" indent="0">
              <a:buNone/>
              <a:defRPr sz="2700" b="1"/>
            </a:lvl1pPr>
            <a:lvl2pPr marL="522488" indent="0">
              <a:buNone/>
              <a:defRPr sz="2300" b="1"/>
            </a:lvl2pPr>
            <a:lvl3pPr marL="1044976" indent="0">
              <a:buNone/>
              <a:defRPr sz="2100" b="1"/>
            </a:lvl3pPr>
            <a:lvl4pPr marL="1567464" indent="0">
              <a:buNone/>
              <a:defRPr sz="1800" b="1"/>
            </a:lvl4pPr>
            <a:lvl5pPr marL="2089953" indent="0">
              <a:buNone/>
              <a:defRPr sz="1800" b="1"/>
            </a:lvl5pPr>
            <a:lvl6pPr marL="2612441" indent="0">
              <a:buNone/>
              <a:defRPr sz="1800" b="1"/>
            </a:lvl6pPr>
            <a:lvl7pPr marL="3134929" indent="0">
              <a:buNone/>
              <a:defRPr sz="1800" b="1"/>
            </a:lvl7pPr>
            <a:lvl8pPr marL="3657417" indent="0">
              <a:buNone/>
              <a:defRPr sz="1800" b="1"/>
            </a:lvl8pPr>
            <a:lvl9pPr marL="4179905" indent="0">
              <a:buNone/>
              <a:defRPr sz="1800" b="1"/>
            </a:lvl9pPr>
          </a:lstStyle>
          <a:p>
            <a:pPr lvl="0"/>
            <a:r>
              <a:rPr lang="en-US"/>
              <a:t>Click to edit Master text styles</a:t>
            </a:r>
          </a:p>
        </p:txBody>
      </p:sp>
      <p:sp>
        <p:nvSpPr>
          <p:cNvPr id="6" name="Content Placeholder 5"/>
          <p:cNvSpPr>
            <a:spLocks noGrp="1"/>
          </p:cNvSpPr>
          <p:nvPr>
            <p:ph sz="quarter" idx="4"/>
          </p:nvPr>
        </p:nvSpPr>
        <p:spPr>
          <a:xfrm>
            <a:off x="8257825" y="2899834"/>
            <a:ext cx="7185378" cy="5268384"/>
          </a:xfrm>
          <a:prstGeom prst="rect">
            <a:avLst/>
          </a:prstGeom>
        </p:spPr>
        <p:txBody>
          <a:bodyPr lIns="104498" tIns="52249" rIns="104498" bIns="52249"/>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996702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366184"/>
            <a:ext cx="14630400" cy="1524000"/>
          </a:xfrm>
          <a:prstGeom prst="rect">
            <a:avLst/>
          </a:prstGeom>
        </p:spPr>
        <p:txBody>
          <a:bodyPr lIns="104498" tIns="52249" rIns="104498" bIns="52249"/>
          <a:lstStyle/>
          <a:p>
            <a:r>
              <a:rPr lang="en-US"/>
              <a:t>Click to edit Master title style</a:t>
            </a:r>
          </a:p>
        </p:txBody>
      </p:sp>
      <p:sp>
        <p:nvSpPr>
          <p:cNvPr id="3" name="Date Placeholder 2"/>
          <p:cNvSpPr>
            <a:spLocks noGrp="1"/>
          </p:cNvSpPr>
          <p:nvPr>
            <p:ph type="dt" sz="half" idx="10"/>
          </p:nvPr>
        </p:nvSpPr>
        <p:spPr/>
        <p:txBody>
          <a:bodyPr/>
          <a:lstStyle/>
          <a:p>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39535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029306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3" y="364066"/>
            <a:ext cx="5348113" cy="1549400"/>
          </a:xfrm>
          <a:prstGeom prst="rect">
            <a:avLst/>
          </a:prstGeom>
        </p:spPr>
        <p:txBody>
          <a:bodyPr lIns="104498" tIns="52249" rIns="104498" bIns="52249" anchor="b"/>
          <a:lstStyle>
            <a:lvl1pPr algn="l">
              <a:defRPr sz="2300" b="1"/>
            </a:lvl1pPr>
          </a:lstStyle>
          <a:p>
            <a:r>
              <a:rPr lang="en-US"/>
              <a:t>Click to edit Master title style</a:t>
            </a:r>
          </a:p>
        </p:txBody>
      </p:sp>
      <p:sp>
        <p:nvSpPr>
          <p:cNvPr id="3" name="Content Placeholder 2"/>
          <p:cNvSpPr>
            <a:spLocks noGrp="1"/>
          </p:cNvSpPr>
          <p:nvPr>
            <p:ph idx="1"/>
          </p:nvPr>
        </p:nvSpPr>
        <p:spPr>
          <a:xfrm>
            <a:off x="6355649" y="364072"/>
            <a:ext cx="9087557" cy="7804151"/>
          </a:xfrm>
          <a:prstGeom prst="rect">
            <a:avLst/>
          </a:prstGeom>
        </p:spPr>
        <p:txBody>
          <a:bodyPr lIns="104498" tIns="52249" rIns="104498" bIns="52249"/>
          <a:lstStyle>
            <a:lvl1pPr>
              <a:defRPr sz="37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12803" y="1913472"/>
            <a:ext cx="5348113" cy="6254751"/>
          </a:xfrm>
          <a:prstGeom prst="rect">
            <a:avLst/>
          </a:prstGeom>
        </p:spPr>
        <p:txBody>
          <a:bodyPr lIns="104498" tIns="52249" rIns="104498" bIns="52249"/>
          <a:lstStyle>
            <a:lvl1pPr marL="0" indent="0">
              <a:buNone/>
              <a:defRPr sz="1600"/>
            </a:lvl1pPr>
            <a:lvl2pPr marL="522488" indent="0">
              <a:buNone/>
              <a:defRPr sz="1400"/>
            </a:lvl2pPr>
            <a:lvl3pPr marL="1044976" indent="0">
              <a:buNone/>
              <a:defRPr sz="1100"/>
            </a:lvl3pPr>
            <a:lvl4pPr marL="1567464" indent="0">
              <a:buNone/>
              <a:defRPr sz="1000"/>
            </a:lvl4pPr>
            <a:lvl5pPr marL="2089953" indent="0">
              <a:buNone/>
              <a:defRPr sz="1000"/>
            </a:lvl5pPr>
            <a:lvl6pPr marL="2612441" indent="0">
              <a:buNone/>
              <a:defRPr sz="1000"/>
            </a:lvl6pPr>
            <a:lvl7pPr marL="3134929" indent="0">
              <a:buNone/>
              <a:defRPr sz="1000"/>
            </a:lvl7pPr>
            <a:lvl8pPr marL="3657417" indent="0">
              <a:buNone/>
              <a:defRPr sz="1000"/>
            </a:lvl8pPr>
            <a:lvl9pPr marL="417990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017816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86291" y="6400804"/>
            <a:ext cx="9753600" cy="755651"/>
          </a:xfrm>
          <a:prstGeom prst="rect">
            <a:avLst/>
          </a:prstGeom>
        </p:spPr>
        <p:txBody>
          <a:bodyPr lIns="104498" tIns="52249" rIns="104498" bIns="52249" anchor="b"/>
          <a:lstStyle>
            <a:lvl1pPr algn="l">
              <a:defRPr sz="2300" b="1"/>
            </a:lvl1pPr>
          </a:lstStyle>
          <a:p>
            <a:r>
              <a:rPr lang="en-US"/>
              <a:t>Click to edit Master title style</a:t>
            </a:r>
          </a:p>
        </p:txBody>
      </p:sp>
      <p:sp>
        <p:nvSpPr>
          <p:cNvPr id="3" name="Picture Placeholder 2"/>
          <p:cNvSpPr>
            <a:spLocks noGrp="1"/>
          </p:cNvSpPr>
          <p:nvPr>
            <p:ph type="pic" idx="1"/>
          </p:nvPr>
        </p:nvSpPr>
        <p:spPr>
          <a:xfrm>
            <a:off x="3186291" y="817034"/>
            <a:ext cx="9753600" cy="5486400"/>
          </a:xfrm>
          <a:prstGeom prst="rect">
            <a:avLst/>
          </a:prstGeom>
        </p:spPr>
        <p:txBody>
          <a:bodyPr lIns="104498" tIns="52249" rIns="104498" bIns="52249"/>
          <a:lstStyle>
            <a:lvl1pPr marL="0" indent="0">
              <a:buNone/>
              <a:defRPr sz="3700"/>
            </a:lvl1pPr>
            <a:lvl2pPr marL="522488" indent="0">
              <a:buNone/>
              <a:defRPr sz="3200"/>
            </a:lvl2pPr>
            <a:lvl3pPr marL="1044976" indent="0">
              <a:buNone/>
              <a:defRPr sz="2700"/>
            </a:lvl3pPr>
            <a:lvl4pPr marL="1567464" indent="0">
              <a:buNone/>
              <a:defRPr sz="2300"/>
            </a:lvl4pPr>
            <a:lvl5pPr marL="2089953" indent="0">
              <a:buNone/>
              <a:defRPr sz="2300"/>
            </a:lvl5pPr>
            <a:lvl6pPr marL="2612441" indent="0">
              <a:buNone/>
              <a:defRPr sz="2300"/>
            </a:lvl6pPr>
            <a:lvl7pPr marL="3134929" indent="0">
              <a:buNone/>
              <a:defRPr sz="2300"/>
            </a:lvl7pPr>
            <a:lvl8pPr marL="3657417" indent="0">
              <a:buNone/>
              <a:defRPr sz="2300"/>
            </a:lvl8pPr>
            <a:lvl9pPr marL="4179905" indent="0">
              <a:buNone/>
              <a:defRPr sz="2300"/>
            </a:lvl9pPr>
          </a:lstStyle>
          <a:p>
            <a:endParaRPr lang="en-US" dirty="0"/>
          </a:p>
        </p:txBody>
      </p:sp>
      <p:sp>
        <p:nvSpPr>
          <p:cNvPr id="4" name="Text Placeholder 3"/>
          <p:cNvSpPr>
            <a:spLocks noGrp="1"/>
          </p:cNvSpPr>
          <p:nvPr>
            <p:ph type="body" sz="half" idx="2"/>
          </p:nvPr>
        </p:nvSpPr>
        <p:spPr>
          <a:xfrm>
            <a:off x="3186291" y="7156455"/>
            <a:ext cx="9753600" cy="1073149"/>
          </a:xfrm>
          <a:prstGeom prst="rect">
            <a:avLst/>
          </a:prstGeom>
        </p:spPr>
        <p:txBody>
          <a:bodyPr lIns="104498" tIns="52249" rIns="104498" bIns="52249"/>
          <a:lstStyle>
            <a:lvl1pPr marL="0" indent="0">
              <a:buNone/>
              <a:defRPr sz="1600"/>
            </a:lvl1pPr>
            <a:lvl2pPr marL="522488" indent="0">
              <a:buNone/>
              <a:defRPr sz="1400"/>
            </a:lvl2pPr>
            <a:lvl3pPr marL="1044976" indent="0">
              <a:buNone/>
              <a:defRPr sz="1100"/>
            </a:lvl3pPr>
            <a:lvl4pPr marL="1567464" indent="0">
              <a:buNone/>
              <a:defRPr sz="1000"/>
            </a:lvl4pPr>
            <a:lvl5pPr marL="2089953" indent="0">
              <a:buNone/>
              <a:defRPr sz="1000"/>
            </a:lvl5pPr>
            <a:lvl6pPr marL="2612441" indent="0">
              <a:buNone/>
              <a:defRPr sz="1000"/>
            </a:lvl6pPr>
            <a:lvl7pPr marL="3134929" indent="0">
              <a:buNone/>
              <a:defRPr sz="1000"/>
            </a:lvl7pPr>
            <a:lvl8pPr marL="3657417" indent="0">
              <a:buNone/>
              <a:defRPr sz="1000"/>
            </a:lvl8pPr>
            <a:lvl9pPr marL="417990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215168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800" y="366184"/>
            <a:ext cx="14630400" cy="1524000"/>
          </a:xfrm>
          <a:prstGeom prst="rect">
            <a:avLst/>
          </a:prstGeom>
        </p:spPr>
        <p:txBody>
          <a:bodyPr lIns="104498" tIns="52249" rIns="104498" bIns="52249"/>
          <a:lstStyle/>
          <a:p>
            <a:r>
              <a:rPr lang="en-US"/>
              <a:t>Click to edit Master title style</a:t>
            </a:r>
          </a:p>
        </p:txBody>
      </p:sp>
      <p:sp>
        <p:nvSpPr>
          <p:cNvPr id="3" name="Vertical Text Placeholder 2"/>
          <p:cNvSpPr>
            <a:spLocks noGrp="1"/>
          </p:cNvSpPr>
          <p:nvPr>
            <p:ph type="body" orient="vert" idx="1"/>
          </p:nvPr>
        </p:nvSpPr>
        <p:spPr>
          <a:xfrm>
            <a:off x="812800" y="2133602"/>
            <a:ext cx="14630400" cy="6034618"/>
          </a:xfrm>
          <a:prstGeom prst="rect">
            <a:avLst/>
          </a:prstGeom>
        </p:spPr>
        <p:txBody>
          <a:bodyPr vert="eaVert" lIns="104498" tIns="52249" rIns="104498" bIns="52249"/>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97704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366187"/>
            <a:ext cx="3657600" cy="7802034"/>
          </a:xfrm>
          <a:prstGeom prst="rect">
            <a:avLst/>
          </a:prstGeom>
        </p:spPr>
        <p:txBody>
          <a:bodyPr vert="eaVert" lIns="104498" tIns="52249" rIns="104498" bIns="52249"/>
          <a:lstStyle/>
          <a:p>
            <a:r>
              <a:rPr lang="en-US"/>
              <a:t>Click to edit Master title style</a:t>
            </a:r>
          </a:p>
        </p:txBody>
      </p:sp>
      <p:sp>
        <p:nvSpPr>
          <p:cNvPr id="3" name="Vertical Text Placeholder 2"/>
          <p:cNvSpPr>
            <a:spLocks noGrp="1"/>
          </p:cNvSpPr>
          <p:nvPr>
            <p:ph type="body" orient="vert" idx="1"/>
          </p:nvPr>
        </p:nvSpPr>
        <p:spPr>
          <a:xfrm>
            <a:off x="812800" y="366187"/>
            <a:ext cx="10701867" cy="7802034"/>
          </a:xfrm>
          <a:prstGeom prst="rect">
            <a:avLst/>
          </a:prstGeom>
        </p:spPr>
        <p:txBody>
          <a:bodyPr vert="eaVert" lIns="104498" tIns="52249" rIns="104498" bIns="52249"/>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9404558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3.jp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12800" y="8475136"/>
            <a:ext cx="3793067" cy="486834"/>
          </a:xfrm>
          <a:prstGeom prst="rect">
            <a:avLst/>
          </a:prstGeom>
        </p:spPr>
        <p:txBody>
          <a:bodyPr vert="horz" lIns="104498" tIns="52249" rIns="104498" bIns="52249" rtlCol="0" anchor="ctr"/>
          <a:lstStyle>
            <a:lvl1pPr algn="l">
              <a:defRPr sz="14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5554134" y="8475136"/>
            <a:ext cx="5147733" cy="486834"/>
          </a:xfrm>
          <a:prstGeom prst="rect">
            <a:avLst/>
          </a:prstGeom>
        </p:spPr>
        <p:txBody>
          <a:bodyPr vert="horz" lIns="104498" tIns="52249" rIns="104498" bIns="52249" rtlCol="0" anchor="ctr"/>
          <a:lstStyle>
            <a:lvl1pPr algn="ctr">
              <a:defRPr sz="14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11650133" y="8475136"/>
            <a:ext cx="3793067" cy="486834"/>
          </a:xfrm>
          <a:prstGeom prst="rect">
            <a:avLst/>
          </a:prstGeom>
        </p:spPr>
        <p:txBody>
          <a:bodyPr vert="horz" lIns="104498" tIns="52249" rIns="104498" bIns="52249" rtlCol="0" anchor="ctr"/>
          <a:lstStyle>
            <a:lvl1pPr algn="r">
              <a:defRPr sz="1400">
                <a:solidFill>
                  <a:schemeClr val="tx1">
                    <a:tint val="75000"/>
                  </a:schemeClr>
                </a:solidFill>
              </a:defRPr>
            </a:lvl1p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pic>
        <p:nvPicPr>
          <p:cNvPr id="2051" name="Picture 3" descr="C:\Users\SAJID\Desktop\two.jpg"/>
          <p:cNvPicPr>
            <a:picLocks noChangeAspect="1" noChangeArrowheads="1"/>
          </p:cNvPicPr>
          <p:nvPr userDrawn="1"/>
        </p:nvPicPr>
        <p:blipFill>
          <a:blip r:embed="rId3" cstate="print"/>
          <a:srcRect/>
          <a:stretch>
            <a:fillRect/>
          </a:stretch>
        </p:blipFill>
        <p:spPr bwMode="auto">
          <a:xfrm>
            <a:off x="-2881" y="0"/>
            <a:ext cx="16258943" cy="9144000"/>
          </a:xfrm>
          <a:prstGeom prst="rect">
            <a:avLst/>
          </a:prstGeom>
          <a:noFill/>
        </p:spPr>
      </p:pic>
    </p:spTree>
    <p:extLst>
      <p:ext uri="{BB962C8B-B14F-4D97-AF65-F5344CB8AC3E}">
        <p14:creationId xmlns:p14="http://schemas.microsoft.com/office/powerpoint/2010/main" val="1545880949"/>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ctr" defTabSz="1044976" rtl="0" eaLnBrk="1" latinLnBrk="0" hangingPunct="1">
        <a:spcBef>
          <a:spcPct val="0"/>
        </a:spcBef>
        <a:buNone/>
        <a:defRPr sz="5000" kern="1200">
          <a:solidFill>
            <a:schemeClr val="tx1"/>
          </a:solidFill>
          <a:latin typeface="+mj-lt"/>
          <a:ea typeface="+mj-ea"/>
          <a:cs typeface="+mj-cs"/>
        </a:defRPr>
      </a:lvl1pPr>
    </p:titleStyle>
    <p:bodyStyle>
      <a:lvl1pPr marL="391866" indent="-391866" algn="l" defTabSz="1044976" rtl="0" eaLnBrk="1" latinLnBrk="0" hangingPunct="1">
        <a:spcBef>
          <a:spcPct val="20000"/>
        </a:spcBef>
        <a:buFont typeface="Arial" pitchFamily="34" charset="0"/>
        <a:buChar char="•"/>
        <a:defRPr sz="3700" kern="1200">
          <a:solidFill>
            <a:schemeClr val="tx1"/>
          </a:solidFill>
          <a:latin typeface="+mn-lt"/>
          <a:ea typeface="+mn-ea"/>
          <a:cs typeface="+mn-cs"/>
        </a:defRPr>
      </a:lvl1pPr>
      <a:lvl2pPr marL="849043" indent="-326555" algn="l" defTabSz="1044976"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6220" indent="-261244" algn="l" defTabSz="1044976"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870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51197"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73685"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96173"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8661"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4114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en-US"/>
      </a:defPPr>
      <a:lvl1pPr marL="0" algn="l" defTabSz="1044976" rtl="0" eaLnBrk="1" latinLnBrk="0" hangingPunct="1">
        <a:defRPr sz="2100" kern="1200">
          <a:solidFill>
            <a:schemeClr val="tx1"/>
          </a:solidFill>
          <a:latin typeface="+mn-lt"/>
          <a:ea typeface="+mn-ea"/>
          <a:cs typeface="+mn-cs"/>
        </a:defRPr>
      </a:lvl1pPr>
      <a:lvl2pPr marL="522488" algn="l" defTabSz="1044976" rtl="0" eaLnBrk="1" latinLnBrk="0" hangingPunct="1">
        <a:defRPr sz="2100" kern="1200">
          <a:solidFill>
            <a:schemeClr val="tx1"/>
          </a:solidFill>
          <a:latin typeface="+mn-lt"/>
          <a:ea typeface="+mn-ea"/>
          <a:cs typeface="+mn-cs"/>
        </a:defRPr>
      </a:lvl2pPr>
      <a:lvl3pPr marL="1044976" algn="l" defTabSz="1044976" rtl="0" eaLnBrk="1" latinLnBrk="0" hangingPunct="1">
        <a:defRPr sz="2100" kern="1200">
          <a:solidFill>
            <a:schemeClr val="tx1"/>
          </a:solidFill>
          <a:latin typeface="+mn-lt"/>
          <a:ea typeface="+mn-ea"/>
          <a:cs typeface="+mn-cs"/>
        </a:defRPr>
      </a:lvl3pPr>
      <a:lvl4pPr marL="1567464" algn="l" defTabSz="1044976" rtl="0" eaLnBrk="1" latinLnBrk="0" hangingPunct="1">
        <a:defRPr sz="2100" kern="1200">
          <a:solidFill>
            <a:schemeClr val="tx1"/>
          </a:solidFill>
          <a:latin typeface="+mn-lt"/>
          <a:ea typeface="+mn-ea"/>
          <a:cs typeface="+mn-cs"/>
        </a:defRPr>
      </a:lvl4pPr>
      <a:lvl5pPr marL="2089953" algn="l" defTabSz="1044976" rtl="0" eaLnBrk="1" latinLnBrk="0" hangingPunct="1">
        <a:defRPr sz="2100" kern="1200">
          <a:solidFill>
            <a:schemeClr val="tx1"/>
          </a:solidFill>
          <a:latin typeface="+mn-lt"/>
          <a:ea typeface="+mn-ea"/>
          <a:cs typeface="+mn-cs"/>
        </a:defRPr>
      </a:lvl5pPr>
      <a:lvl6pPr marL="2612441" algn="l" defTabSz="1044976" rtl="0" eaLnBrk="1" latinLnBrk="0" hangingPunct="1">
        <a:defRPr sz="2100" kern="1200">
          <a:solidFill>
            <a:schemeClr val="tx1"/>
          </a:solidFill>
          <a:latin typeface="+mn-lt"/>
          <a:ea typeface="+mn-ea"/>
          <a:cs typeface="+mn-cs"/>
        </a:defRPr>
      </a:lvl6pPr>
      <a:lvl7pPr marL="3134929" algn="l" defTabSz="1044976" rtl="0" eaLnBrk="1" latinLnBrk="0" hangingPunct="1">
        <a:defRPr sz="2100" kern="1200">
          <a:solidFill>
            <a:schemeClr val="tx1"/>
          </a:solidFill>
          <a:latin typeface="+mn-lt"/>
          <a:ea typeface="+mn-ea"/>
          <a:cs typeface="+mn-cs"/>
        </a:defRPr>
      </a:lvl7pPr>
      <a:lvl8pPr marL="3657417" algn="l" defTabSz="1044976" rtl="0" eaLnBrk="1" latinLnBrk="0" hangingPunct="1">
        <a:defRPr sz="2100" kern="1200">
          <a:solidFill>
            <a:schemeClr val="tx1"/>
          </a:solidFill>
          <a:latin typeface="+mn-lt"/>
          <a:ea typeface="+mn-ea"/>
          <a:cs typeface="+mn-cs"/>
        </a:defRPr>
      </a:lvl8pPr>
      <a:lvl9pPr marL="4179905" algn="l" defTabSz="1044976"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12800" y="8475136"/>
            <a:ext cx="3793067" cy="486834"/>
          </a:xfrm>
          <a:prstGeom prst="rect">
            <a:avLst/>
          </a:prstGeom>
        </p:spPr>
        <p:txBody>
          <a:bodyPr vert="horz" lIns="104498" tIns="52249" rIns="104498" bIns="52249" rtlCol="0" anchor="ctr"/>
          <a:lstStyle>
            <a:lvl1pPr algn="l">
              <a:defRPr sz="14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5554134" y="8475136"/>
            <a:ext cx="5147733" cy="486834"/>
          </a:xfrm>
          <a:prstGeom prst="rect">
            <a:avLst/>
          </a:prstGeom>
        </p:spPr>
        <p:txBody>
          <a:bodyPr vert="horz" lIns="104498" tIns="52249" rIns="104498" bIns="52249" rtlCol="0" anchor="ctr"/>
          <a:lstStyle>
            <a:lvl1pPr algn="ctr">
              <a:defRPr sz="14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11650133" y="8475136"/>
            <a:ext cx="3793067" cy="486834"/>
          </a:xfrm>
          <a:prstGeom prst="rect">
            <a:avLst/>
          </a:prstGeom>
        </p:spPr>
        <p:txBody>
          <a:bodyPr vert="horz" lIns="104498" tIns="52249" rIns="104498" bIns="52249" rtlCol="0" anchor="ctr"/>
          <a:lstStyle>
            <a:lvl1pPr algn="r">
              <a:defRPr sz="1400">
                <a:solidFill>
                  <a:schemeClr val="tx1">
                    <a:tint val="75000"/>
                  </a:schemeClr>
                </a:solidFill>
              </a:defRPr>
            </a:lvl1p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pic>
        <p:nvPicPr>
          <p:cNvPr id="2051" name="Picture 3" descr="C:\Users\SAJID\Desktop\two.jpg"/>
          <p:cNvPicPr>
            <a:picLocks noChangeAspect="1" noChangeArrowheads="1"/>
          </p:cNvPicPr>
          <p:nvPr userDrawn="1"/>
        </p:nvPicPr>
        <p:blipFill>
          <a:blip r:embed="rId14" cstate="print"/>
          <a:srcRect/>
          <a:stretch>
            <a:fillRect/>
          </a:stretch>
        </p:blipFill>
        <p:spPr bwMode="auto">
          <a:xfrm>
            <a:off x="-2881" y="0"/>
            <a:ext cx="16258943" cy="9144000"/>
          </a:xfrm>
          <a:prstGeom prst="rect">
            <a:avLst/>
          </a:prstGeom>
          <a:noFill/>
        </p:spPr>
      </p:pic>
    </p:spTree>
    <p:extLst>
      <p:ext uri="{BB962C8B-B14F-4D97-AF65-F5344CB8AC3E}">
        <p14:creationId xmlns:p14="http://schemas.microsoft.com/office/powerpoint/2010/main" val="414876288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ftr="0" dt="0"/>
  <p:txStyles>
    <p:titleStyle>
      <a:lvl1pPr algn="ctr" defTabSz="1044976" rtl="0" eaLnBrk="1" latinLnBrk="0" hangingPunct="1">
        <a:spcBef>
          <a:spcPct val="0"/>
        </a:spcBef>
        <a:buNone/>
        <a:defRPr sz="5000" kern="1200">
          <a:solidFill>
            <a:schemeClr val="tx1"/>
          </a:solidFill>
          <a:latin typeface="+mj-lt"/>
          <a:ea typeface="+mj-ea"/>
          <a:cs typeface="+mj-cs"/>
        </a:defRPr>
      </a:lvl1pPr>
    </p:titleStyle>
    <p:bodyStyle>
      <a:lvl1pPr marL="391866" indent="-391866" algn="l" defTabSz="1044976" rtl="0" eaLnBrk="1" latinLnBrk="0" hangingPunct="1">
        <a:spcBef>
          <a:spcPct val="20000"/>
        </a:spcBef>
        <a:buFont typeface="Arial" pitchFamily="34" charset="0"/>
        <a:buChar char="•"/>
        <a:defRPr sz="3700" kern="1200">
          <a:solidFill>
            <a:schemeClr val="tx1"/>
          </a:solidFill>
          <a:latin typeface="+mn-lt"/>
          <a:ea typeface="+mn-ea"/>
          <a:cs typeface="+mn-cs"/>
        </a:defRPr>
      </a:lvl1pPr>
      <a:lvl2pPr marL="849043" indent="-326555" algn="l" defTabSz="1044976"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6220" indent="-261244" algn="l" defTabSz="1044976"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870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51197"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73685"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96173"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8661"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4114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en-US"/>
      </a:defPPr>
      <a:lvl1pPr marL="0" algn="l" defTabSz="1044976" rtl="0" eaLnBrk="1" latinLnBrk="0" hangingPunct="1">
        <a:defRPr sz="2100" kern="1200">
          <a:solidFill>
            <a:schemeClr val="tx1"/>
          </a:solidFill>
          <a:latin typeface="+mn-lt"/>
          <a:ea typeface="+mn-ea"/>
          <a:cs typeface="+mn-cs"/>
        </a:defRPr>
      </a:lvl1pPr>
      <a:lvl2pPr marL="522488" algn="l" defTabSz="1044976" rtl="0" eaLnBrk="1" latinLnBrk="0" hangingPunct="1">
        <a:defRPr sz="2100" kern="1200">
          <a:solidFill>
            <a:schemeClr val="tx1"/>
          </a:solidFill>
          <a:latin typeface="+mn-lt"/>
          <a:ea typeface="+mn-ea"/>
          <a:cs typeface="+mn-cs"/>
        </a:defRPr>
      </a:lvl2pPr>
      <a:lvl3pPr marL="1044976" algn="l" defTabSz="1044976" rtl="0" eaLnBrk="1" latinLnBrk="0" hangingPunct="1">
        <a:defRPr sz="2100" kern="1200">
          <a:solidFill>
            <a:schemeClr val="tx1"/>
          </a:solidFill>
          <a:latin typeface="+mn-lt"/>
          <a:ea typeface="+mn-ea"/>
          <a:cs typeface="+mn-cs"/>
        </a:defRPr>
      </a:lvl3pPr>
      <a:lvl4pPr marL="1567464" algn="l" defTabSz="1044976" rtl="0" eaLnBrk="1" latinLnBrk="0" hangingPunct="1">
        <a:defRPr sz="2100" kern="1200">
          <a:solidFill>
            <a:schemeClr val="tx1"/>
          </a:solidFill>
          <a:latin typeface="+mn-lt"/>
          <a:ea typeface="+mn-ea"/>
          <a:cs typeface="+mn-cs"/>
        </a:defRPr>
      </a:lvl4pPr>
      <a:lvl5pPr marL="2089953" algn="l" defTabSz="1044976" rtl="0" eaLnBrk="1" latinLnBrk="0" hangingPunct="1">
        <a:defRPr sz="2100" kern="1200">
          <a:solidFill>
            <a:schemeClr val="tx1"/>
          </a:solidFill>
          <a:latin typeface="+mn-lt"/>
          <a:ea typeface="+mn-ea"/>
          <a:cs typeface="+mn-cs"/>
        </a:defRPr>
      </a:lvl5pPr>
      <a:lvl6pPr marL="2612441" algn="l" defTabSz="1044976" rtl="0" eaLnBrk="1" latinLnBrk="0" hangingPunct="1">
        <a:defRPr sz="2100" kern="1200">
          <a:solidFill>
            <a:schemeClr val="tx1"/>
          </a:solidFill>
          <a:latin typeface="+mn-lt"/>
          <a:ea typeface="+mn-ea"/>
          <a:cs typeface="+mn-cs"/>
        </a:defRPr>
      </a:lvl6pPr>
      <a:lvl7pPr marL="3134929" algn="l" defTabSz="1044976" rtl="0" eaLnBrk="1" latinLnBrk="0" hangingPunct="1">
        <a:defRPr sz="2100" kern="1200">
          <a:solidFill>
            <a:schemeClr val="tx1"/>
          </a:solidFill>
          <a:latin typeface="+mn-lt"/>
          <a:ea typeface="+mn-ea"/>
          <a:cs typeface="+mn-cs"/>
        </a:defRPr>
      </a:lvl7pPr>
      <a:lvl8pPr marL="3657417" algn="l" defTabSz="1044976" rtl="0" eaLnBrk="1" latinLnBrk="0" hangingPunct="1">
        <a:defRPr sz="2100" kern="1200">
          <a:solidFill>
            <a:schemeClr val="tx1"/>
          </a:solidFill>
          <a:latin typeface="+mn-lt"/>
          <a:ea typeface="+mn-ea"/>
          <a:cs typeface="+mn-cs"/>
        </a:defRPr>
      </a:lvl8pPr>
      <a:lvl9pPr marL="4179905" algn="l" defTabSz="10449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hyperlink" Target="https://www.mongodb.com/docs" TargetMode="External"/><Relationship Id="rId2" Type="http://schemas.openxmlformats.org/officeDocument/2006/relationships/hyperlink" Target="https://openai.com/research" TargetMode="Externa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Image result for bismillah arabic images"/>
          <p:cNvSpPr>
            <a:spLocks noChangeAspect="1" noChangeArrowheads="1"/>
          </p:cNvSpPr>
          <p:nvPr/>
        </p:nvSpPr>
        <p:spPr bwMode="auto">
          <a:xfrm>
            <a:off x="1356406" y="-192614"/>
            <a:ext cx="467342"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52400" tIns="76200" rIns="152400" bIns="76200" numCol="1" anchor="t" anchorCtr="0" compatLnSpc="1">
            <a:prstTxWarp prst="textNoShape">
              <a:avLst/>
            </a:prstTxWarp>
          </a:bodyPr>
          <a:lstStyle/>
          <a:p>
            <a:endParaRPr lang="en-US" sz="35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0200" y="2286000"/>
            <a:ext cx="10515203" cy="6248400"/>
          </a:xfrm>
          <a:prstGeom prst="rect">
            <a:avLst/>
          </a:prstGeom>
        </p:spPr>
      </p:pic>
      <p:sp>
        <p:nvSpPr>
          <p:cNvPr id="6" name="Title 1">
            <a:extLst>
              <a:ext uri="{FF2B5EF4-FFF2-40B4-BE49-F238E27FC236}">
                <a16:creationId xmlns:a16="http://schemas.microsoft.com/office/drawing/2014/main" id="{1FD4AFF9-25A2-4447-8E8E-C39D94D4DB7B}"/>
              </a:ext>
            </a:extLst>
          </p:cNvPr>
          <p:cNvSpPr>
            <a:spLocks noGrp="1"/>
          </p:cNvSpPr>
          <p:nvPr>
            <p:ph type="ctrTitle"/>
          </p:nvPr>
        </p:nvSpPr>
        <p:spPr>
          <a:xfrm>
            <a:off x="2687320" y="304800"/>
            <a:ext cx="10881360" cy="1143000"/>
          </a:xfrm>
        </p:spPr>
        <p:txBody>
          <a:bodyPr/>
          <a:lstStyle/>
          <a:p>
            <a:r>
              <a:rPr lang="en-US" sz="4000" b="1" u="sng" dirty="0">
                <a:latin typeface="Times New Roman" panose="02020603050405020304" pitchFamily="18" charset="0"/>
                <a:cs typeface="Times New Roman" panose="02020603050405020304" pitchFamily="18" charset="0"/>
              </a:rPr>
              <a:t>Department Of Computer Science </a:t>
            </a:r>
            <a:r>
              <a:rPr lang="en-US" sz="7500" b="1" dirty="0"/>
              <a:t/>
            </a:r>
            <a:br>
              <a:rPr lang="en-US" sz="7500" b="1" dirty="0"/>
            </a:br>
            <a:endParaRPr lang="en-US" sz="3200" b="1" dirty="0"/>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028" y="213788"/>
            <a:ext cx="1409504" cy="1409504"/>
          </a:xfrm>
          <a:prstGeom prst="rect">
            <a:avLst/>
          </a:prstGeom>
        </p:spPr>
      </p:pic>
    </p:spTree>
    <p:extLst>
      <p:ext uri="{BB962C8B-B14F-4D97-AF65-F5344CB8AC3E}">
        <p14:creationId xmlns:p14="http://schemas.microsoft.com/office/powerpoint/2010/main" val="3787493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5800" y="98493"/>
            <a:ext cx="13289280" cy="1143000"/>
          </a:xfrm>
        </p:spPr>
        <p:txBody>
          <a:bodyPr/>
          <a:lstStyle/>
          <a:p>
            <a:r>
              <a:rPr lang="en-US" sz="2800" b="1" u="sng" dirty="0">
                <a:latin typeface="Times New Roman" panose="02020603050405020304" pitchFamily="18" charset="0"/>
                <a:ea typeface="Tahoma" panose="020B0604030504040204" pitchFamily="34" charset="0"/>
                <a:cs typeface="Times New Roman" panose="02020603050405020304" pitchFamily="18" charset="0"/>
              </a:rPr>
              <a:t>Final Report </a:t>
            </a:r>
            <a:br>
              <a:rPr lang="en-US" sz="2800" b="1" u="sng" dirty="0">
                <a:latin typeface="Times New Roman" panose="02020603050405020304" pitchFamily="18" charset="0"/>
                <a:ea typeface="Tahoma" panose="020B0604030504040204" pitchFamily="34" charset="0"/>
                <a:cs typeface="Times New Roman" panose="02020603050405020304" pitchFamily="18" charset="0"/>
              </a:rPr>
            </a:br>
            <a:r>
              <a:rPr lang="en-US" sz="2800" b="1" u="sng" dirty="0" err="1" smtClean="0">
                <a:latin typeface="Times New Roman" panose="02020603050405020304" pitchFamily="18" charset="0"/>
                <a:ea typeface="Tahoma" panose="020B0604030504040204" pitchFamily="34" charset="0"/>
                <a:cs typeface="Times New Roman" panose="02020603050405020304" pitchFamily="18" charset="0"/>
              </a:rPr>
              <a:t>Podcraft</a:t>
            </a:r>
            <a:r>
              <a:rPr lang="en-US" sz="2800" b="1" u="sng" dirty="0" smtClean="0">
                <a:latin typeface="Times New Roman" panose="02020603050405020304" pitchFamily="18" charset="0"/>
                <a:ea typeface="Tahoma" panose="020B0604030504040204" pitchFamily="34" charset="0"/>
                <a:cs typeface="Times New Roman" panose="02020603050405020304" pitchFamily="18" charset="0"/>
              </a:rPr>
              <a:t> </a:t>
            </a:r>
            <a:r>
              <a:rPr lang="en-US" sz="2800" b="1" u="sng">
                <a:latin typeface="Times New Roman" panose="02020603050405020304" pitchFamily="18" charset="0"/>
                <a:cs typeface="Times New Roman" panose="02020603050405020304" pitchFamily="18" charset="0"/>
              </a:rPr>
              <a:t>Agentic </a:t>
            </a:r>
            <a:r>
              <a:rPr lang="en-US" sz="2800" b="1" u="sng" smtClean="0">
                <a:latin typeface="Times New Roman" panose="02020603050405020304" pitchFamily="18" charset="0"/>
                <a:cs typeface="Times New Roman" panose="02020603050405020304" pitchFamily="18" charset="0"/>
              </a:rPr>
              <a:t>- AI </a:t>
            </a:r>
            <a:r>
              <a:rPr lang="en-US" sz="2800" b="1" u="sng" dirty="0">
                <a:latin typeface="Times New Roman" panose="02020603050405020304" pitchFamily="18" charset="0"/>
                <a:cs typeface="Times New Roman" panose="02020603050405020304" pitchFamily="18" charset="0"/>
              </a:rPr>
              <a:t>Podcast Episode Planning System</a:t>
            </a:r>
            <a:br>
              <a:rPr lang="en-US" sz="2800" b="1" u="sng" dirty="0">
                <a:latin typeface="Times New Roman" panose="02020603050405020304" pitchFamily="18" charset="0"/>
                <a:cs typeface="Times New Roman" panose="02020603050405020304" pitchFamily="18" charset="0"/>
              </a:rPr>
            </a:br>
            <a:r>
              <a:rPr lang="en-US" sz="2800" b="1" u="sng" dirty="0">
                <a:latin typeface="Times New Roman" panose="02020603050405020304" pitchFamily="18" charset="0"/>
                <a:ea typeface="Tahoma" panose="020B0604030504040204" pitchFamily="34" charset="0"/>
                <a:cs typeface="Times New Roman" panose="02020603050405020304" pitchFamily="18" charset="0"/>
              </a:rPr>
              <a:t/>
            </a:r>
            <a:br>
              <a:rPr lang="en-US" sz="2800" b="1" u="sng" dirty="0">
                <a:latin typeface="Times New Roman" panose="02020603050405020304" pitchFamily="18" charset="0"/>
                <a:ea typeface="Tahoma" panose="020B0604030504040204" pitchFamily="34" charset="0"/>
                <a:cs typeface="Times New Roman" panose="02020603050405020304" pitchFamily="18" charset="0"/>
              </a:rPr>
            </a:br>
            <a:r>
              <a:rPr lang="en-US" sz="2800" b="1" u="sng" dirty="0">
                <a:latin typeface="Times New Roman" panose="02020603050405020304" pitchFamily="18" charset="0"/>
                <a:ea typeface="Tahoma" panose="020B0604030504040204" pitchFamily="34" charset="0"/>
                <a:cs typeface="Times New Roman" panose="02020603050405020304" pitchFamily="18" charset="0"/>
              </a:rPr>
              <a:t/>
            </a:r>
            <a:br>
              <a:rPr lang="en-US" sz="2800" b="1" u="sng" dirty="0">
                <a:latin typeface="Times New Roman" panose="02020603050405020304" pitchFamily="18" charset="0"/>
                <a:ea typeface="Tahoma" panose="020B0604030504040204" pitchFamily="34" charset="0"/>
                <a:cs typeface="Times New Roman" panose="02020603050405020304" pitchFamily="18" charset="0"/>
              </a:rPr>
            </a:br>
            <a:endParaRPr lang="en-US" sz="2800" b="1" u="sng"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p:cNvSpPr txBox="1">
            <a:spLocks/>
          </p:cNvSpPr>
          <p:nvPr/>
        </p:nvSpPr>
        <p:spPr>
          <a:xfrm>
            <a:off x="584200" y="2567766"/>
            <a:ext cx="8199957" cy="4823634"/>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l">
              <a:buFont typeface="Arial" panose="020B0604020202020204" pitchFamily="34" charset="0"/>
              <a:buChar char="•"/>
            </a:pPr>
            <a:r>
              <a:rPr lang="en-US" sz="3000" b="1" dirty="0">
                <a:solidFill>
                  <a:prstClr val="black"/>
                </a:solidFill>
                <a:latin typeface="Times New Roman" panose="02020603050405020304" pitchFamily="18" charset="0"/>
                <a:cs typeface="Times New Roman" panose="02020603050405020304" pitchFamily="18" charset="0"/>
              </a:rPr>
              <a:t>Muhammad Awais Ashraf	</a:t>
            </a:r>
          </a:p>
          <a:p>
            <a:pPr marL="457200" indent="-457200" algn="l">
              <a:buFont typeface="Arial" panose="020B0604020202020204" pitchFamily="34" charset="0"/>
              <a:buChar char="•"/>
            </a:pPr>
            <a:r>
              <a:rPr lang="en-US" sz="3000" dirty="0">
                <a:solidFill>
                  <a:prstClr val="black"/>
                </a:solidFill>
                <a:latin typeface="Times New Roman" panose="02020603050405020304" pitchFamily="18" charset="0"/>
                <a:cs typeface="Times New Roman" panose="02020603050405020304" pitchFamily="18" charset="0"/>
              </a:rPr>
              <a:t>FA23-BDS-053	</a:t>
            </a:r>
          </a:p>
          <a:p>
            <a:pPr marL="285750" indent="-285750" algn="l">
              <a:buFont typeface="Arial" panose="020B0604020202020204" pitchFamily="34" charset="0"/>
              <a:buChar char="•"/>
            </a:pPr>
            <a:endParaRPr lang="en-US" sz="1200" dirty="0">
              <a:solidFill>
                <a:prstClr val="black"/>
              </a:solidFill>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US" sz="3000" b="1" dirty="0">
                <a:solidFill>
                  <a:prstClr val="black"/>
                </a:solidFill>
                <a:latin typeface="Times New Roman" panose="02020603050405020304" pitchFamily="18" charset="0"/>
                <a:cs typeface="Times New Roman" panose="02020603050405020304" pitchFamily="18" charset="0"/>
              </a:rPr>
              <a:t>Asna Hammad</a:t>
            </a:r>
          </a:p>
          <a:p>
            <a:pPr marL="457200" indent="-457200" algn="l">
              <a:buFont typeface="Arial" panose="020B0604020202020204" pitchFamily="34" charset="0"/>
              <a:buChar char="•"/>
            </a:pPr>
            <a:r>
              <a:rPr lang="en-US" sz="3000" dirty="0">
                <a:solidFill>
                  <a:prstClr val="black"/>
                </a:solidFill>
                <a:latin typeface="Times New Roman" panose="02020603050405020304" pitchFamily="18" charset="0"/>
                <a:cs typeface="Times New Roman" panose="02020603050405020304" pitchFamily="18" charset="0"/>
              </a:rPr>
              <a:t>FA23-BDS-051</a:t>
            </a:r>
          </a:p>
          <a:p>
            <a:pPr marL="457200" indent="-457200" algn="l">
              <a:buFont typeface="Arial" panose="020B0604020202020204" pitchFamily="34" charset="0"/>
              <a:buChar char="•"/>
            </a:pPr>
            <a:endParaRPr lang="en-US" sz="1200" b="1" dirty="0">
              <a:solidFill>
                <a:prstClr val="black"/>
              </a:solidFill>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endParaRPr lang="en-US" dirty="0">
              <a:solidFill>
                <a:prstClr val="black"/>
              </a:solidFill>
              <a:latin typeface="Times New Roman" panose="02020603050405020304" pitchFamily="18" charset="0"/>
              <a:cs typeface="Times New Roman" panose="02020603050405020304" pitchFamily="18" charset="0"/>
            </a:endParaRPr>
          </a:p>
          <a:p>
            <a:pPr algn="l"/>
            <a:endParaRPr lang="en-US" dirty="0">
              <a:solidFill>
                <a:prstClr val="black"/>
              </a:solidFill>
              <a:latin typeface="Calibri"/>
            </a:endParaRPr>
          </a:p>
        </p:txBody>
      </p:sp>
      <p:sp>
        <p:nvSpPr>
          <p:cNvPr id="4" name="Rectangle 3"/>
          <p:cNvSpPr/>
          <p:nvPr/>
        </p:nvSpPr>
        <p:spPr>
          <a:xfrm>
            <a:off x="9347200" y="2567766"/>
            <a:ext cx="6080760" cy="5183832"/>
          </a:xfrm>
          <a:prstGeom prst="rect">
            <a:avLst/>
          </a:prstGeom>
        </p:spPr>
        <p:txBody>
          <a:bodyPr wrap="square" lIns="104498" tIns="52249" rIns="104498" bIns="52249">
            <a:spAutoFit/>
          </a:bodyPr>
          <a:lstStyle/>
          <a:p>
            <a:r>
              <a:rPr lang="en-US" sz="3000" b="1" dirty="0">
                <a:solidFill>
                  <a:prstClr val="black"/>
                </a:solidFill>
                <a:latin typeface="Times New Roman" panose="02020603050405020304" pitchFamily="18" charset="0"/>
                <a:cs typeface="Times New Roman" panose="02020603050405020304" pitchFamily="18" charset="0"/>
              </a:rPr>
              <a:t>Supervisor: </a:t>
            </a:r>
          </a:p>
          <a:p>
            <a:r>
              <a:rPr lang="en-US" sz="3000" dirty="0">
                <a:solidFill>
                  <a:prstClr val="black"/>
                </a:solidFill>
                <a:latin typeface="Times New Roman" panose="02020603050405020304" pitchFamily="18" charset="0"/>
                <a:cs typeface="Times New Roman" panose="02020603050405020304" pitchFamily="18" charset="0"/>
              </a:rPr>
              <a:t>Dr. </a:t>
            </a:r>
            <a:r>
              <a:rPr lang="en-US" sz="3000" dirty="0" err="1">
                <a:solidFill>
                  <a:prstClr val="black"/>
                </a:solidFill>
                <a:latin typeface="Times New Roman" panose="02020603050405020304" pitchFamily="18" charset="0"/>
                <a:cs typeface="Times New Roman" panose="02020603050405020304" pitchFamily="18" charset="0"/>
              </a:rPr>
              <a:t>Tehseen</a:t>
            </a:r>
            <a:r>
              <a:rPr lang="en-US" sz="3000" dirty="0">
                <a:solidFill>
                  <a:prstClr val="black"/>
                </a:solidFill>
                <a:latin typeface="Times New Roman" panose="02020603050405020304" pitchFamily="18" charset="0"/>
                <a:cs typeface="Times New Roman" panose="02020603050405020304" pitchFamily="18" charset="0"/>
              </a:rPr>
              <a:t> Riaz Abbasi</a:t>
            </a:r>
          </a:p>
          <a:p>
            <a:endParaRPr lang="en-US" sz="3000" b="1" dirty="0">
              <a:solidFill>
                <a:prstClr val="black"/>
              </a:solidFill>
              <a:latin typeface="Times New Roman" panose="02020603050405020304" pitchFamily="18" charset="0"/>
              <a:cs typeface="Times New Roman" panose="02020603050405020304" pitchFamily="18" charset="0"/>
            </a:endParaRPr>
          </a:p>
          <a:p>
            <a:endParaRPr lang="en-GB" sz="3000" dirty="0">
              <a:solidFill>
                <a:prstClr val="black"/>
              </a:solidFill>
              <a:latin typeface="Times New Roman" panose="02020603050405020304" pitchFamily="18" charset="0"/>
              <a:cs typeface="Times New Roman" panose="02020603050405020304" pitchFamily="18" charset="0"/>
            </a:endParaRPr>
          </a:p>
          <a:p>
            <a:endParaRPr lang="en-GB" sz="3000" dirty="0">
              <a:solidFill>
                <a:prstClr val="black"/>
              </a:solidFill>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Department Of Computer Science</a:t>
            </a:r>
          </a:p>
          <a:p>
            <a:endParaRPr lang="en-US" sz="3000" dirty="0">
              <a:latin typeface="Times New Roman" panose="02020603050405020304" pitchFamily="18" charset="0"/>
              <a:cs typeface="Times New Roman" panose="02020603050405020304" pitchFamily="18" charset="0"/>
            </a:endParaRPr>
          </a:p>
          <a:p>
            <a:endParaRPr lang="en-US" sz="3000" dirty="0">
              <a:latin typeface="Times New Roman" panose="02020603050405020304" pitchFamily="18" charset="0"/>
              <a:cs typeface="Times New Roman" panose="02020603050405020304" pitchFamily="18" charset="0"/>
            </a:endParaRPr>
          </a:p>
          <a:p>
            <a:endParaRPr lang="en-US" sz="3000" dirty="0">
              <a:latin typeface="Times New Roman" panose="02020603050405020304" pitchFamily="18" charset="0"/>
              <a:cs typeface="Times New Roman" panose="02020603050405020304" pitchFamily="18" charset="0"/>
            </a:endParaRPr>
          </a:p>
          <a:p>
            <a:r>
              <a:rPr lang="en-US" sz="3000" b="1" dirty="0">
                <a:solidFill>
                  <a:prstClr val="black"/>
                </a:solidFill>
                <a:latin typeface="Times New Roman" panose="02020603050405020304" pitchFamily="18" charset="0"/>
                <a:cs typeface="Times New Roman" panose="02020603050405020304" pitchFamily="18" charset="0"/>
              </a:rPr>
              <a:t>Submission Date</a:t>
            </a:r>
            <a:r>
              <a:rPr lang="en-US" sz="3000" dirty="0">
                <a:solidFill>
                  <a:prstClr val="black"/>
                </a:solidFill>
                <a:latin typeface="Times New Roman" panose="02020603050405020304" pitchFamily="18" charset="0"/>
                <a:cs typeface="Times New Roman" panose="02020603050405020304" pitchFamily="18" charset="0"/>
              </a:rPr>
              <a:t>: 21-May-2026</a:t>
            </a:r>
          </a:p>
          <a:p>
            <a:r>
              <a:rPr lang="en-US" sz="3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572622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574800" y="3581400"/>
            <a:ext cx="14219757" cy="2712327"/>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buFont typeface="Arial" panose="020B0604020202020204" pitchFamily="34" charset="0"/>
              <a:buChar char="•"/>
            </a:pPr>
            <a:r>
              <a:rPr lang="en-US" sz="6000" b="1" dirty="0">
                <a:solidFill>
                  <a:schemeClr val="tx1">
                    <a:lumMod val="95000"/>
                    <a:lumOff val="5000"/>
                  </a:schemeClr>
                </a:solidFill>
                <a:latin typeface="Times New Roman" panose="02020603050405020304" pitchFamily="18" charset="0"/>
                <a:cs typeface="Times New Roman" panose="02020603050405020304" pitchFamily="18" charset="0"/>
              </a:rPr>
              <a:t>Scope</a:t>
            </a:r>
            <a:endParaRPr lang="en-US"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6000" dirty="0">
              <a:solidFill>
                <a:srgbClr val="FF0000"/>
              </a:solidFill>
              <a:latin typeface="Times New Roman" panose="02020603050405020304" pitchFamily="18" charset="0"/>
              <a:cs typeface="Times New Roman" panose="02020603050405020304" pitchFamily="18" charset="0"/>
            </a:endParaRPr>
          </a:p>
          <a:p>
            <a:endParaRPr lang="en-US" sz="6000" dirty="0">
              <a:solidFill>
                <a:srgbClr val="FF0000"/>
              </a:solidFill>
              <a:latin typeface="Calibri"/>
            </a:endParaRPr>
          </a:p>
        </p:txBody>
      </p:sp>
    </p:spTree>
    <p:extLst>
      <p:ext uri="{BB962C8B-B14F-4D97-AF65-F5344CB8AC3E}">
        <p14:creationId xmlns:p14="http://schemas.microsoft.com/office/powerpoint/2010/main" val="1194876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0881360" cy="1143000"/>
          </a:xfrm>
        </p:spPr>
        <p:txBody>
          <a:bodyPr/>
          <a:lstStyle/>
          <a:p>
            <a:r>
              <a:rPr lang="en-US" sz="4500" b="1" u="sng" dirty="0">
                <a:latin typeface="Times New Roman" panose="02020603050405020304" pitchFamily="18" charset="0"/>
                <a:cs typeface="Times New Roman" panose="02020603050405020304" pitchFamily="18" charset="0"/>
              </a:rPr>
              <a:t>Project Category</a:t>
            </a:r>
            <a:br>
              <a:rPr lang="en-US" sz="4500" b="1" u="sng" dirty="0">
                <a:latin typeface="Times New Roman" panose="02020603050405020304" pitchFamily="18" charset="0"/>
                <a:cs typeface="Times New Roman" panose="02020603050405020304" pitchFamily="18" charset="0"/>
              </a:rPr>
            </a:br>
            <a:r>
              <a:rPr lang="en-US" sz="7500" b="1" dirty="0"/>
              <a:t/>
            </a:r>
            <a:br>
              <a:rPr lang="en-US" sz="7500" b="1" dirty="0"/>
            </a:br>
            <a:endParaRPr lang="en-US" sz="3200" b="1" dirty="0"/>
          </a:p>
        </p:txBody>
      </p:sp>
      <p:sp>
        <p:nvSpPr>
          <p:cNvPr id="3" name="Content Placeholder 2"/>
          <p:cNvSpPr txBox="1">
            <a:spLocks/>
          </p:cNvSpPr>
          <p:nvPr/>
        </p:nvSpPr>
        <p:spPr>
          <a:xfrm>
            <a:off x="1574800" y="2129081"/>
            <a:ext cx="14325600" cy="67101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522488" indent="-388238" algn="l"/>
            <a:r>
              <a:rPr lang="en-US" sz="3000" b="1" dirty="0" smtClean="0">
                <a:solidFill>
                  <a:schemeClr val="tx1">
                    <a:lumMod val="95000"/>
                    <a:lumOff val="5000"/>
                  </a:schemeClr>
                </a:solidFill>
                <a:latin typeface="Times New Roman" panose="02020603050405020304" pitchFamily="18" charset="0"/>
                <a:cs typeface="Times New Roman" panose="02020603050405020304" pitchFamily="18" charset="0"/>
              </a:rPr>
              <a:t>A- </a:t>
            </a:r>
            <a:r>
              <a:rPr lang="en-US" sz="3000" dirty="0">
                <a:solidFill>
                  <a:schemeClr val="tx1">
                    <a:lumMod val="95000"/>
                    <a:lumOff val="5000"/>
                  </a:schemeClr>
                </a:solidFill>
                <a:latin typeface="Times New Roman" panose="02020603050405020304" pitchFamily="18" charset="0"/>
                <a:cs typeface="Times New Roman" panose="02020603050405020304" pitchFamily="18" charset="0"/>
              </a:rPr>
              <a:t>Desktop Application/Information System  </a:t>
            </a:r>
          </a:p>
          <a:p>
            <a:pPr marL="522488" indent="-388238" algn="l"/>
            <a:r>
              <a:rPr lang="en-US" sz="3000" b="1" dirty="0">
                <a:solidFill>
                  <a:schemeClr val="tx1">
                    <a:lumMod val="95000"/>
                    <a:lumOff val="5000"/>
                  </a:schemeClr>
                </a:solidFill>
                <a:latin typeface="Times New Roman" panose="02020603050405020304" pitchFamily="18" charset="0"/>
                <a:cs typeface="Times New Roman" panose="02020603050405020304" pitchFamily="18" charset="0"/>
              </a:rPr>
              <a:t>B-</a:t>
            </a:r>
            <a:r>
              <a:rPr lang="en-US" sz="3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3000" b="1" u="sng" dirty="0">
                <a:solidFill>
                  <a:schemeClr val="tx1">
                    <a:lumMod val="95000"/>
                    <a:lumOff val="5000"/>
                  </a:schemeClr>
                </a:solidFill>
                <a:latin typeface="Times New Roman" panose="02020603050405020304" pitchFamily="18" charset="0"/>
                <a:cs typeface="Times New Roman" panose="02020603050405020304" pitchFamily="18" charset="0"/>
              </a:rPr>
              <a:t>Web Application/Web Application based Information System</a:t>
            </a:r>
            <a:r>
              <a:rPr lang="en-US" sz="3000"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522488" indent="-388238" algn="l"/>
            <a:r>
              <a:rPr lang="en-US" sz="3000" b="1" dirty="0">
                <a:solidFill>
                  <a:schemeClr val="tx1">
                    <a:lumMod val="95000"/>
                    <a:lumOff val="5000"/>
                  </a:schemeClr>
                </a:solidFill>
                <a:latin typeface="Times New Roman" panose="02020603050405020304" pitchFamily="18" charset="0"/>
                <a:cs typeface="Times New Roman" panose="02020603050405020304" pitchFamily="18" charset="0"/>
              </a:rPr>
              <a:t>C- </a:t>
            </a:r>
            <a:r>
              <a:rPr lang="en-US" sz="3000" dirty="0">
                <a:solidFill>
                  <a:schemeClr val="tx1">
                    <a:lumMod val="95000"/>
                    <a:lumOff val="5000"/>
                  </a:schemeClr>
                </a:solidFill>
                <a:latin typeface="Times New Roman" panose="02020603050405020304" pitchFamily="18" charset="0"/>
                <a:cs typeface="Times New Roman" panose="02020603050405020304" pitchFamily="18" charset="0"/>
              </a:rPr>
              <a:t>Problem Solving and Artificial Intelligence </a:t>
            </a:r>
          </a:p>
          <a:p>
            <a:pPr marL="522488" indent="-388238" algn="l"/>
            <a:r>
              <a:rPr lang="en-US" sz="3000" b="1" dirty="0">
                <a:solidFill>
                  <a:schemeClr val="tx1">
                    <a:lumMod val="95000"/>
                    <a:lumOff val="5000"/>
                  </a:schemeClr>
                </a:solidFill>
                <a:latin typeface="Times New Roman" panose="02020603050405020304" pitchFamily="18" charset="0"/>
                <a:cs typeface="Times New Roman" panose="02020603050405020304" pitchFamily="18" charset="0"/>
              </a:rPr>
              <a:t>D- </a:t>
            </a:r>
            <a:r>
              <a:rPr lang="en-US" sz="3000" dirty="0">
                <a:solidFill>
                  <a:schemeClr val="tx1">
                    <a:lumMod val="95000"/>
                    <a:lumOff val="5000"/>
                  </a:schemeClr>
                </a:solidFill>
                <a:latin typeface="Times New Roman" panose="02020603050405020304" pitchFamily="18" charset="0"/>
                <a:cs typeface="Times New Roman" panose="02020603050405020304" pitchFamily="18" charset="0"/>
              </a:rPr>
              <a:t>Simulation and Modeling  </a:t>
            </a:r>
            <a:r>
              <a:rPr lang="en-US" sz="3000" b="1"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522488" indent="-388238" algn="l"/>
            <a:r>
              <a:rPr lang="en-US" sz="3000" b="1" dirty="0">
                <a:solidFill>
                  <a:schemeClr val="tx1">
                    <a:lumMod val="95000"/>
                    <a:lumOff val="5000"/>
                  </a:schemeClr>
                </a:solidFill>
                <a:latin typeface="Times New Roman" panose="02020603050405020304" pitchFamily="18" charset="0"/>
                <a:cs typeface="Times New Roman" panose="02020603050405020304" pitchFamily="18" charset="0"/>
              </a:rPr>
              <a:t>E-</a:t>
            </a:r>
            <a:r>
              <a:rPr lang="en-US" sz="3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3000" b="1" u="sng" dirty="0">
                <a:solidFill>
                  <a:schemeClr val="tx1">
                    <a:lumMod val="95000"/>
                    <a:lumOff val="5000"/>
                  </a:schemeClr>
                </a:solidFill>
                <a:latin typeface="Times New Roman" panose="02020603050405020304" pitchFamily="18" charset="0"/>
                <a:cs typeface="Times New Roman" panose="02020603050405020304" pitchFamily="18" charset="0"/>
              </a:rPr>
              <a:t>Smartphone Application   </a:t>
            </a:r>
          </a:p>
          <a:p>
            <a:pPr marL="522488" indent="-388238" algn="l"/>
            <a:r>
              <a:rPr lang="en-US" sz="3000" b="1" dirty="0">
                <a:solidFill>
                  <a:schemeClr val="tx1">
                    <a:lumMod val="95000"/>
                    <a:lumOff val="5000"/>
                  </a:schemeClr>
                </a:solidFill>
                <a:latin typeface="Times New Roman" panose="02020603050405020304" pitchFamily="18" charset="0"/>
                <a:cs typeface="Times New Roman" panose="02020603050405020304" pitchFamily="18" charset="0"/>
              </a:rPr>
              <a:t>F- </a:t>
            </a:r>
            <a:r>
              <a:rPr lang="en-US" sz="3000" dirty="0">
                <a:solidFill>
                  <a:schemeClr val="tx1">
                    <a:lumMod val="95000"/>
                    <a:lumOff val="5000"/>
                  </a:schemeClr>
                </a:solidFill>
                <a:latin typeface="Times New Roman" panose="02020603050405020304" pitchFamily="18" charset="0"/>
                <a:cs typeface="Times New Roman" panose="02020603050405020304" pitchFamily="18" charset="0"/>
              </a:rPr>
              <a:t>Smartphone Game    </a:t>
            </a:r>
          </a:p>
          <a:p>
            <a:pPr marL="522488" indent="-388238" algn="l"/>
            <a:r>
              <a:rPr lang="en-US" sz="3000" b="1" dirty="0">
                <a:solidFill>
                  <a:schemeClr val="tx1">
                    <a:lumMod val="95000"/>
                    <a:lumOff val="5000"/>
                  </a:schemeClr>
                </a:solidFill>
                <a:latin typeface="Times New Roman" panose="02020603050405020304" pitchFamily="18" charset="0"/>
                <a:cs typeface="Times New Roman" panose="02020603050405020304" pitchFamily="18" charset="0"/>
              </a:rPr>
              <a:t>G-</a:t>
            </a:r>
            <a:r>
              <a:rPr lang="en-US" sz="3000" dirty="0">
                <a:solidFill>
                  <a:schemeClr val="tx1">
                    <a:lumMod val="95000"/>
                    <a:lumOff val="5000"/>
                  </a:schemeClr>
                </a:solidFill>
                <a:latin typeface="Times New Roman" panose="02020603050405020304" pitchFamily="18" charset="0"/>
                <a:cs typeface="Times New Roman" panose="02020603050405020304" pitchFamily="18" charset="0"/>
              </a:rPr>
              <a:t> Networks   </a:t>
            </a:r>
          </a:p>
          <a:p>
            <a:pPr marL="522488" indent="-388238" algn="l"/>
            <a:r>
              <a:rPr lang="en-US" sz="3000" b="1" dirty="0">
                <a:solidFill>
                  <a:schemeClr val="tx1">
                    <a:lumMod val="95000"/>
                    <a:lumOff val="5000"/>
                  </a:schemeClr>
                </a:solidFill>
                <a:latin typeface="Times New Roman" panose="02020603050405020304" pitchFamily="18" charset="0"/>
                <a:cs typeface="Times New Roman" panose="02020603050405020304" pitchFamily="18" charset="0"/>
              </a:rPr>
              <a:t>H- </a:t>
            </a:r>
            <a:r>
              <a:rPr lang="en-US" sz="3000" dirty="0">
                <a:solidFill>
                  <a:schemeClr val="tx1">
                    <a:lumMod val="95000"/>
                    <a:lumOff val="5000"/>
                  </a:schemeClr>
                </a:solidFill>
                <a:latin typeface="Times New Roman" panose="02020603050405020304" pitchFamily="18" charset="0"/>
                <a:cs typeface="Times New Roman" panose="02020603050405020304" pitchFamily="18" charset="0"/>
              </a:rPr>
              <a:t>Image Processing</a:t>
            </a:r>
            <a:r>
              <a:rPr lang="en-US" sz="3000" b="1"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522488" indent="-388238" algn="l"/>
            <a:r>
              <a:rPr lang="en-US" b="1" dirty="0">
                <a:solidFill>
                  <a:schemeClr val="tx1">
                    <a:lumMod val="95000"/>
                    <a:lumOff val="5000"/>
                  </a:schemeClr>
                </a:solidFill>
                <a:latin typeface="Times New Roman" panose="02020603050405020304" pitchFamily="18" charset="0"/>
                <a:cs typeface="Times New Roman" panose="02020603050405020304" pitchFamily="18" charset="0"/>
              </a:rPr>
              <a:t>I- </a:t>
            </a:r>
            <a:r>
              <a:rPr lang="en-US" sz="3000" dirty="0">
                <a:solidFill>
                  <a:schemeClr val="tx1">
                    <a:lumMod val="95000"/>
                    <a:lumOff val="5000"/>
                  </a:schemeClr>
                </a:solidFill>
                <a:latin typeface="Times New Roman" panose="02020603050405020304" pitchFamily="18" charset="0"/>
                <a:cs typeface="Times New Roman" panose="02020603050405020304" pitchFamily="18" charset="0"/>
              </a:rPr>
              <a:t>Other (specify category) ______________________</a:t>
            </a:r>
          </a:p>
          <a:p>
            <a:pPr marL="457200" indent="-457200" algn="l">
              <a:buFont typeface="Arial" panose="020B0604020202020204" pitchFamily="34" charset="0"/>
              <a:buChar char="•"/>
            </a:pP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algn="l"/>
            <a:endParaRPr lang="en-US" dirty="0">
              <a:solidFill>
                <a:prstClr val="black"/>
              </a:solidFill>
              <a:latin typeface="Calibri"/>
            </a:endParaRPr>
          </a:p>
        </p:txBody>
      </p:sp>
    </p:spTree>
    <p:extLst>
      <p:ext uri="{BB962C8B-B14F-4D97-AF65-F5344CB8AC3E}">
        <p14:creationId xmlns:p14="http://schemas.microsoft.com/office/powerpoint/2010/main" val="2341704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0881360" cy="1143000"/>
          </a:xfrm>
        </p:spPr>
        <p:txBody>
          <a:bodyPr/>
          <a:lstStyle/>
          <a:p>
            <a:r>
              <a:rPr lang="en-US" sz="4500" b="1" u="sng" dirty="0">
                <a:latin typeface="Times New Roman" panose="02020603050405020304" pitchFamily="18" charset="0"/>
                <a:cs typeface="Times New Roman" panose="02020603050405020304" pitchFamily="18" charset="0"/>
              </a:rPr>
              <a:t>Abstract</a:t>
            </a:r>
            <a:r>
              <a:rPr lang="en-US" sz="3400" b="1" u="sng" dirty="0">
                <a:latin typeface="Times New Roman" panose="02020603050405020304" pitchFamily="18" charset="0"/>
                <a:cs typeface="Times New Roman" panose="02020603050405020304" pitchFamily="18" charset="0"/>
              </a:rPr>
              <a:t/>
            </a:r>
            <a:br>
              <a:rPr lang="en-US" sz="3400" b="1" u="sng" dirty="0">
                <a:latin typeface="Times New Roman" panose="02020603050405020304" pitchFamily="18" charset="0"/>
                <a:cs typeface="Times New Roman" panose="02020603050405020304" pitchFamily="18" charset="0"/>
              </a:rPr>
            </a:br>
            <a:r>
              <a:rPr lang="en-US" sz="7500" b="1" u="sng" dirty="0"/>
              <a:t/>
            </a:r>
            <a:br>
              <a:rPr lang="en-US" sz="7500" b="1" u="sng" dirty="0"/>
            </a:br>
            <a:endParaRPr lang="en-US" sz="3200" b="1" u="sng" dirty="0"/>
          </a:p>
        </p:txBody>
      </p:sp>
      <p:sp>
        <p:nvSpPr>
          <p:cNvPr id="3" name="Content Placeholder 2"/>
          <p:cNvSpPr txBox="1">
            <a:spLocks/>
          </p:cNvSpPr>
          <p:nvPr/>
        </p:nvSpPr>
        <p:spPr>
          <a:xfrm>
            <a:off x="1041400" y="2743200"/>
            <a:ext cx="14325600" cy="67101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endParaRPr lang="en-US" dirty="0">
              <a:solidFill>
                <a:prstClr val="black"/>
              </a:solidFill>
              <a:latin typeface="Calibri"/>
            </a:endParaRP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5</a:t>
            </a:fld>
            <a:endParaRPr lang="en-US" dirty="0">
              <a:solidFill>
                <a:prstClr val="white"/>
              </a:solidFill>
              <a:latin typeface="Calibri"/>
            </a:endParaRPr>
          </a:p>
        </p:txBody>
      </p:sp>
      <p:sp>
        <p:nvSpPr>
          <p:cNvPr id="6" name="TextBox 5">
            <a:extLst>
              <a:ext uri="{FF2B5EF4-FFF2-40B4-BE49-F238E27FC236}">
                <a16:creationId xmlns:a16="http://schemas.microsoft.com/office/drawing/2014/main" id="{1A5C9067-28DC-8B75-F9B3-D4F7C510384D}"/>
              </a:ext>
            </a:extLst>
          </p:cNvPr>
          <p:cNvSpPr txBox="1"/>
          <p:nvPr/>
        </p:nvSpPr>
        <p:spPr>
          <a:xfrm>
            <a:off x="1291968" y="3352800"/>
            <a:ext cx="14097000" cy="3108543"/>
          </a:xfrm>
          <a:prstGeom prst="rect">
            <a:avLst/>
          </a:prstGeom>
          <a:noFill/>
        </p:spPr>
        <p:txBody>
          <a:bodyPr wrap="square">
            <a:spAutoFit/>
          </a:bodyPr>
          <a:lstStyle/>
          <a:p>
            <a:pPr algn="just"/>
            <a:r>
              <a:rPr lang="en-US" sz="2800" dirty="0" err="1">
                <a:latin typeface="Times New Roman" panose="02020603050405020304" pitchFamily="18" charset="0"/>
                <a:cs typeface="Times New Roman" panose="02020603050405020304" pitchFamily="18" charset="0"/>
              </a:rPr>
              <a:t>PodCraft</a:t>
            </a:r>
            <a:r>
              <a:rPr lang="en-US" sz="2800" dirty="0">
                <a:latin typeface="Times New Roman" panose="02020603050405020304" pitchFamily="18" charset="0"/>
                <a:cs typeface="Times New Roman" panose="02020603050405020304" pitchFamily="18" charset="0"/>
              </a:rPr>
              <a:t> is a smart platform that automates podcast episode planning using intelligent autonomous </a:t>
            </a:r>
            <a:r>
              <a:rPr lang="en-US" sz="2800" dirty="0" err="1">
                <a:latin typeface="Times New Roman" panose="02020603050405020304" pitchFamily="18" charset="0"/>
                <a:cs typeface="Times New Roman" panose="02020603050405020304" pitchFamily="18" charset="0"/>
              </a:rPr>
              <a:t>agents.It</a:t>
            </a:r>
            <a:r>
              <a:rPr lang="en-US" sz="2800" dirty="0">
                <a:latin typeface="Times New Roman" panose="02020603050405020304" pitchFamily="18" charset="0"/>
                <a:cs typeface="Times New Roman" panose="02020603050405020304" pitchFamily="18" charset="0"/>
              </a:rPr>
              <a:t> reduces the need for manual research and unstructured planning that often slows down </a:t>
            </a:r>
            <a:r>
              <a:rPr lang="en-US" sz="2800" dirty="0" err="1">
                <a:latin typeface="Times New Roman" panose="02020603050405020304" pitchFamily="18" charset="0"/>
                <a:cs typeface="Times New Roman" panose="02020603050405020304" pitchFamily="18" charset="0"/>
              </a:rPr>
              <a:t>podcasters.Many</a:t>
            </a:r>
            <a:r>
              <a:rPr lang="en-US" sz="2800" dirty="0">
                <a:latin typeface="Times New Roman" panose="02020603050405020304" pitchFamily="18" charset="0"/>
                <a:cs typeface="Times New Roman" panose="02020603050405020304" pitchFamily="18" charset="0"/>
              </a:rPr>
              <a:t> creators struggle with organizing episode flow, questions, and introductions, leading to inconsistent content </a:t>
            </a:r>
            <a:r>
              <a:rPr lang="en-US" sz="2800" dirty="0" err="1">
                <a:latin typeface="Times New Roman" panose="02020603050405020304" pitchFamily="18" charset="0"/>
                <a:cs typeface="Times New Roman" panose="02020603050405020304" pitchFamily="18" charset="0"/>
              </a:rPr>
              <a:t>quality.PodCraft</a:t>
            </a:r>
            <a:r>
              <a:rPr lang="en-US" sz="2800" dirty="0">
                <a:latin typeface="Times New Roman" panose="02020603050405020304" pitchFamily="18" charset="0"/>
                <a:cs typeface="Times New Roman" panose="02020603050405020304" pitchFamily="18" charset="0"/>
              </a:rPr>
              <a:t> generates structured outlines, engaging hooks, and research-based questions </a:t>
            </a:r>
            <a:r>
              <a:rPr lang="en-US" sz="2800" dirty="0" err="1">
                <a:latin typeface="Times New Roman" panose="02020603050405020304" pitchFamily="18" charset="0"/>
                <a:cs typeface="Times New Roman" panose="02020603050405020304" pitchFamily="18" charset="0"/>
              </a:rPr>
              <a:t>automatically.It</a:t>
            </a:r>
            <a:r>
              <a:rPr lang="en-US" sz="2800" dirty="0">
                <a:latin typeface="Times New Roman" panose="02020603050405020304" pitchFamily="18" charset="0"/>
                <a:cs typeface="Times New Roman" panose="02020603050405020304" pitchFamily="18" charset="0"/>
              </a:rPr>
              <a:t> also improves workflow efficiency with organized, timestamped segments and guided episode </a:t>
            </a:r>
            <a:r>
              <a:rPr lang="en-US" sz="2800" dirty="0" err="1">
                <a:latin typeface="Times New Roman" panose="02020603050405020304" pitchFamily="18" charset="0"/>
                <a:cs typeface="Times New Roman" panose="02020603050405020304" pitchFamily="18" charset="0"/>
              </a:rPr>
              <a:t>structure.Overall</a:t>
            </a:r>
            <a:r>
              <a:rPr lang="en-US" sz="2800" dirty="0">
                <a:latin typeface="Times New Roman" panose="02020603050405020304" pitchFamily="18" charset="0"/>
                <a:cs typeface="Times New Roman" panose="02020603050405020304" pitchFamily="18" charset="0"/>
              </a:rPr>
              <a:t>, it helps podcasters focus more on creativity and delivery while improving production quality.</a:t>
            </a:r>
          </a:p>
        </p:txBody>
      </p:sp>
    </p:spTree>
    <p:extLst>
      <p:ext uri="{BB962C8B-B14F-4D97-AF65-F5344CB8AC3E}">
        <p14:creationId xmlns:p14="http://schemas.microsoft.com/office/powerpoint/2010/main" val="1057082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0881360" cy="1143000"/>
          </a:xfrm>
        </p:spPr>
        <p:txBody>
          <a:bodyPr/>
          <a:lstStyle/>
          <a:p>
            <a:r>
              <a:rPr lang="en-US" sz="4500" b="1" u="sng" dirty="0">
                <a:latin typeface="Times New Roman" panose="02020603050405020304" pitchFamily="18" charset="0"/>
                <a:cs typeface="Times New Roman" panose="02020603050405020304" pitchFamily="18" charset="0"/>
              </a:rPr>
              <a:t>Introduction</a:t>
            </a:r>
            <a:br>
              <a:rPr lang="en-US" sz="4500" b="1" u="sng" dirty="0">
                <a:latin typeface="Times New Roman" panose="02020603050405020304" pitchFamily="18" charset="0"/>
                <a:cs typeface="Times New Roman" panose="02020603050405020304" pitchFamily="18" charset="0"/>
              </a:rPr>
            </a:br>
            <a:r>
              <a:rPr lang="en-US" sz="7500" b="1" dirty="0"/>
              <a:t/>
            </a:r>
            <a:br>
              <a:rPr lang="en-US" sz="7500" b="1" dirty="0"/>
            </a:br>
            <a:endParaRPr lang="en-US" sz="3200" b="1" dirty="0"/>
          </a:p>
        </p:txBody>
      </p:sp>
      <p:sp>
        <p:nvSpPr>
          <p:cNvPr id="3" name="Content Placeholder 2"/>
          <p:cNvSpPr txBox="1">
            <a:spLocks/>
          </p:cNvSpPr>
          <p:nvPr/>
        </p:nvSpPr>
        <p:spPr>
          <a:xfrm>
            <a:off x="1574800" y="2129081"/>
            <a:ext cx="14325600" cy="67101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l" defTabSz="1044976"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ea typeface="Geist Bold" pitchFamily="34" charset="-122"/>
                <a:cs typeface="Times New Roman" panose="02020603050405020304" pitchFamily="18" charset="0"/>
              </a:rPr>
              <a:t>Purpose:</a:t>
            </a:r>
          </a:p>
          <a:p>
            <a:pPr marL="914400" marR="0" lvl="1" indent="-457200" algn="l" defTabSz="104497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Geist" pitchFamily="34" charset="-122"/>
                <a:cs typeface="Times New Roman" panose="02020603050405020304" pitchFamily="18" charset="0"/>
              </a:rPr>
              <a:t>To develop a smart platform that assists podcasters in preparing structured episodes with minimal manual effort.</a:t>
            </a:r>
          </a:p>
          <a:p>
            <a:pPr marL="0" marR="0" lvl="0" indent="0" algn="l" defTabSz="1044976"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ea typeface="Geist Bold" pitchFamily="34" charset="-122"/>
                <a:cs typeface="Times New Roman" panose="02020603050405020304" pitchFamily="18" charset="0"/>
              </a:rPr>
              <a:t>Key Goals:</a:t>
            </a:r>
            <a:endPar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914400" marR="0" lvl="1" indent="-457200" algn="l" defTabSz="1044976"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Geist" pitchFamily="34" charset="-122"/>
                <a:cs typeface="Times New Roman" panose="02020603050405020304" pitchFamily="18" charset="0"/>
              </a:rPr>
              <a:t>Modernize podcast planning by combining AI automation with creative assistance.</a:t>
            </a:r>
            <a:endPar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914400" marR="0" lvl="1" indent="-457200" algn="l" defTabSz="1044976"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Geist" pitchFamily="34" charset="-122"/>
                <a:cs typeface="Times New Roman" panose="02020603050405020304" pitchFamily="18" charset="0"/>
              </a:rPr>
              <a:t>Provide intelligent research, content planning, and episode structuring support.</a:t>
            </a:r>
            <a:endPar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1044976"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ea typeface="Geist Bold" pitchFamily="34" charset="-122"/>
                <a:cs typeface="Times New Roman" panose="02020603050405020304" pitchFamily="18" charset="0"/>
              </a:rPr>
              <a:t>Impact:</a:t>
            </a:r>
            <a:endPar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914400" marR="0" lvl="1" indent="-457200" algn="l" defTabSz="104497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Geist" pitchFamily="34" charset="-122"/>
                <a:cs typeface="Times New Roman" panose="02020603050405020304" pitchFamily="18" charset="0"/>
              </a:rPr>
              <a:t>Supports creators in educational, entertainment, and professional fields globally.</a:t>
            </a:r>
            <a:endPar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1044976"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mn-ea"/>
              <a:cs typeface="Times New Roman" panose="02020603050405020304" pitchFamily="18" charset="0"/>
            </a:endParaRPr>
          </a:p>
          <a:p>
            <a:pPr lvl="1" algn="just"/>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6</a:t>
            </a:fld>
            <a:endParaRPr lang="en-US" dirty="0">
              <a:solidFill>
                <a:prstClr val="white"/>
              </a:solidFill>
              <a:latin typeface="Calibri"/>
            </a:endParaRPr>
          </a:p>
        </p:txBody>
      </p:sp>
    </p:spTree>
    <p:extLst>
      <p:ext uri="{BB962C8B-B14F-4D97-AF65-F5344CB8AC3E}">
        <p14:creationId xmlns:p14="http://schemas.microsoft.com/office/powerpoint/2010/main" val="889841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0881360" cy="1143000"/>
          </a:xfrm>
        </p:spPr>
        <p:txBody>
          <a:bodyPr/>
          <a:lstStyle/>
          <a:p>
            <a:r>
              <a:rPr lang="en-US" sz="4500" b="1" u="sng" dirty="0">
                <a:latin typeface="Times New Roman" panose="02020603050405020304" pitchFamily="18" charset="0"/>
                <a:cs typeface="Times New Roman" panose="02020603050405020304" pitchFamily="18" charset="0"/>
              </a:rPr>
              <a:t>Problem Statement</a:t>
            </a: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736600" y="1981200"/>
            <a:ext cx="15087600" cy="67863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GB" sz="2800" b="1" dirty="0">
                <a:solidFill>
                  <a:schemeClr val="tx1"/>
                </a:solidFill>
                <a:latin typeface="Times New Roman" panose="02020603050405020304" pitchFamily="18" charset="0"/>
                <a:cs typeface="Times New Roman" panose="02020603050405020304" pitchFamily="18" charset="0"/>
              </a:rPr>
              <a:t>Problems Solved</a:t>
            </a:r>
            <a:endParaRPr lang="en-GB" sz="2800" dirty="0">
              <a:solidFill>
                <a:schemeClr val="tx1"/>
              </a:solidFill>
              <a:latin typeface="Times New Roman" panose="02020603050405020304" pitchFamily="18" charset="0"/>
              <a:cs typeface="Times New Roman" panose="02020603050405020304" pitchFamily="18" charset="0"/>
            </a:endParaRPr>
          </a:p>
          <a:p>
            <a:pPr algn="l"/>
            <a:r>
              <a:rPr lang="en-GB" sz="2800" dirty="0">
                <a:solidFill>
                  <a:schemeClr val="tx1"/>
                </a:solidFill>
                <a:latin typeface="Times New Roman" panose="02020603050405020304" pitchFamily="18" charset="0"/>
                <a:cs typeface="Times New Roman" panose="02020603050405020304" pitchFamily="18" charset="0"/>
              </a:rPr>
              <a:t>Disorganized research &amp; topic discovery</a:t>
            </a:r>
          </a:p>
          <a:p>
            <a:pPr algn="l"/>
            <a:r>
              <a:rPr lang="en-GB" sz="2800" dirty="0">
                <a:solidFill>
                  <a:schemeClr val="tx1"/>
                </a:solidFill>
                <a:latin typeface="Times New Roman" panose="02020603050405020304" pitchFamily="18" charset="0"/>
                <a:cs typeface="Times New Roman" panose="02020603050405020304" pitchFamily="18" charset="0"/>
              </a:rPr>
              <a:t>Weak guest analysis &amp; question generation</a:t>
            </a:r>
          </a:p>
          <a:p>
            <a:pPr algn="l"/>
            <a:r>
              <a:rPr lang="en-GB" sz="2800" dirty="0">
                <a:solidFill>
                  <a:schemeClr val="tx1"/>
                </a:solidFill>
                <a:latin typeface="Times New Roman" panose="02020603050405020304" pitchFamily="18" charset="0"/>
                <a:cs typeface="Times New Roman" panose="02020603050405020304" pitchFamily="18" charset="0"/>
              </a:rPr>
              <a:t>Poor episode structuring &amp; time management</a:t>
            </a:r>
          </a:p>
          <a:p>
            <a:pPr algn="l"/>
            <a:r>
              <a:rPr lang="en-GB" sz="2800" dirty="0">
                <a:solidFill>
                  <a:schemeClr val="tx1"/>
                </a:solidFill>
                <a:latin typeface="Times New Roman" panose="02020603050405020304" pitchFamily="18" charset="0"/>
                <a:cs typeface="Times New Roman" panose="02020603050405020304" pitchFamily="18" charset="0"/>
              </a:rPr>
              <a:t>No intelligent automation for creators</a:t>
            </a:r>
          </a:p>
          <a:p>
            <a:pPr algn="l"/>
            <a:r>
              <a:rPr lang="en-GB" sz="2800" b="1" dirty="0">
                <a:solidFill>
                  <a:schemeClr val="tx1"/>
                </a:solidFill>
                <a:latin typeface="Times New Roman" panose="02020603050405020304" pitchFamily="18" charset="0"/>
                <a:cs typeface="Times New Roman" panose="02020603050405020304" pitchFamily="18" charset="0"/>
              </a:rPr>
              <a:t>Why Develop This System</a:t>
            </a:r>
            <a:r>
              <a:rPr lang="en-GB" sz="2800" dirty="0">
                <a:solidFill>
                  <a:schemeClr val="tx1"/>
                </a:solidFill>
                <a:latin typeface="Times New Roman" panose="02020603050405020304" pitchFamily="18" charset="0"/>
                <a:cs typeface="Times New Roman" panose="02020603050405020304" pitchFamily="18" charset="0"/>
              </a:rPr>
              <a:t/>
            </a:r>
            <a:br>
              <a:rPr lang="en-GB" sz="2800" dirty="0">
                <a:solidFill>
                  <a:schemeClr val="tx1"/>
                </a:solidFill>
                <a:latin typeface="Times New Roman" panose="02020603050405020304" pitchFamily="18" charset="0"/>
                <a:cs typeface="Times New Roman" panose="02020603050405020304" pitchFamily="18" charset="0"/>
              </a:rPr>
            </a:br>
            <a:r>
              <a:rPr lang="en-GB" sz="2800" dirty="0">
                <a:solidFill>
                  <a:schemeClr val="tx1"/>
                </a:solidFill>
                <a:latin typeface="Times New Roman" panose="02020603050405020304" pitchFamily="18" charset="0"/>
                <a:cs typeface="Times New Roman" panose="02020603050405020304" pitchFamily="18" charset="0"/>
              </a:rPr>
              <a:t>Reduce manual prep time, improve episode quality &amp; consistency, help solo creators &amp; small teams work efficiently</a:t>
            </a:r>
          </a:p>
          <a:p>
            <a:pPr algn="l"/>
            <a:r>
              <a:rPr lang="en-GB" sz="2800" b="1" dirty="0">
                <a:solidFill>
                  <a:schemeClr val="tx1"/>
                </a:solidFill>
                <a:latin typeface="Times New Roman" panose="02020603050405020304" pitchFamily="18" charset="0"/>
                <a:cs typeface="Times New Roman" panose="02020603050405020304" pitchFamily="18" charset="0"/>
              </a:rPr>
              <a:t>Similar Systems?</a:t>
            </a:r>
            <a:r>
              <a:rPr lang="en-GB" sz="2800" dirty="0">
                <a:solidFill>
                  <a:schemeClr val="tx1"/>
                </a:solidFill>
                <a:latin typeface="Times New Roman" panose="02020603050405020304" pitchFamily="18" charset="0"/>
                <a:cs typeface="Times New Roman" panose="02020603050405020304" pitchFamily="18" charset="0"/>
              </a:rPr>
              <a:t/>
            </a:r>
            <a:br>
              <a:rPr lang="en-GB" sz="2800" dirty="0">
                <a:solidFill>
                  <a:schemeClr val="tx1"/>
                </a:solidFill>
                <a:latin typeface="Times New Roman" panose="02020603050405020304" pitchFamily="18" charset="0"/>
                <a:cs typeface="Times New Roman" panose="02020603050405020304" pitchFamily="18" charset="0"/>
              </a:rPr>
            </a:br>
            <a:r>
              <a:rPr lang="en-GB" sz="2800" dirty="0">
                <a:solidFill>
                  <a:schemeClr val="tx1"/>
                </a:solidFill>
                <a:latin typeface="Times New Roman" panose="02020603050405020304" pitchFamily="18" charset="0"/>
                <a:cs typeface="Times New Roman" panose="02020603050405020304" pitchFamily="18" charset="0"/>
              </a:rPr>
              <a:t>Yes, but only basic script/note tools exist. No integrated system automates research, trending topics, guest analysis &amp; structuring. Re-implementation helps me learn gap analysis, integration of multiple features, and real-world user-</a:t>
            </a:r>
            <a:r>
              <a:rPr lang="en-GB" sz="2800" dirty="0" err="1">
                <a:solidFill>
                  <a:schemeClr val="tx1"/>
                </a:solidFill>
                <a:latin typeface="Times New Roman" panose="02020603050405020304" pitchFamily="18" charset="0"/>
                <a:cs typeface="Times New Roman" panose="02020603050405020304" pitchFamily="18" charset="0"/>
              </a:rPr>
              <a:t>centered</a:t>
            </a:r>
            <a:r>
              <a:rPr lang="en-GB" sz="2800" dirty="0">
                <a:solidFill>
                  <a:schemeClr val="tx1"/>
                </a:solidFill>
                <a:latin typeface="Times New Roman" panose="02020603050405020304" pitchFamily="18" charset="0"/>
                <a:cs typeface="Times New Roman" panose="02020603050405020304" pitchFamily="18" charset="0"/>
              </a:rPr>
              <a:t> design.</a:t>
            </a:r>
          </a:p>
          <a:p>
            <a:pPr algn="l"/>
            <a:r>
              <a:rPr lang="en-GB" sz="2800" b="1" dirty="0">
                <a:solidFill>
                  <a:schemeClr val="tx1"/>
                </a:solidFill>
                <a:latin typeface="Times New Roman" panose="02020603050405020304" pitchFamily="18" charset="0"/>
                <a:cs typeface="Times New Roman" panose="02020603050405020304" pitchFamily="18" charset="0"/>
              </a:rPr>
              <a:t>Skills to Learn</a:t>
            </a:r>
            <a:r>
              <a:rPr lang="en-GB" sz="2800" dirty="0">
                <a:solidFill>
                  <a:schemeClr val="tx1"/>
                </a:solidFill>
                <a:latin typeface="Times New Roman" panose="02020603050405020304" pitchFamily="18" charset="0"/>
                <a:cs typeface="Times New Roman" panose="02020603050405020304" pitchFamily="18" charset="0"/>
              </a:rPr>
              <a:t/>
            </a:r>
            <a:br>
              <a:rPr lang="en-GB" sz="2800" dirty="0">
                <a:solidFill>
                  <a:schemeClr val="tx1"/>
                </a:solidFill>
                <a:latin typeface="Times New Roman" panose="02020603050405020304" pitchFamily="18" charset="0"/>
                <a:cs typeface="Times New Roman" panose="02020603050405020304" pitchFamily="18" charset="0"/>
              </a:rPr>
            </a:br>
            <a:r>
              <a:rPr lang="en-GB" sz="2800" dirty="0">
                <a:solidFill>
                  <a:schemeClr val="tx1"/>
                </a:solidFill>
                <a:latin typeface="Times New Roman" panose="02020603050405020304" pitchFamily="18" charset="0"/>
                <a:cs typeface="Times New Roman" panose="02020603050405020304" pitchFamily="18" charset="0"/>
              </a:rPr>
              <a:t>NLP, web scraping/APIs, recommendation algorithms, full-stack development, system design, project management</a:t>
            </a:r>
          </a:p>
          <a:p>
            <a:pPr algn="just"/>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7</a:t>
            </a:fld>
            <a:endParaRPr lang="en-US" dirty="0">
              <a:solidFill>
                <a:prstClr val="white"/>
              </a:solidFill>
              <a:latin typeface="Calibri"/>
            </a:endParaRPr>
          </a:p>
        </p:txBody>
      </p:sp>
    </p:spTree>
    <p:extLst>
      <p:ext uri="{BB962C8B-B14F-4D97-AF65-F5344CB8AC3E}">
        <p14:creationId xmlns:p14="http://schemas.microsoft.com/office/powerpoint/2010/main" val="2182731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0881360" cy="1143000"/>
          </a:xfrm>
        </p:spPr>
        <p:txBody>
          <a:bodyPr/>
          <a:lstStyle/>
          <a:p>
            <a:r>
              <a:rPr lang="en-US" sz="4500" b="1" u="sng" dirty="0">
                <a:latin typeface="Times New Roman" panose="02020603050405020304" pitchFamily="18" charset="0"/>
                <a:cs typeface="Times New Roman" panose="02020603050405020304" pitchFamily="18" charset="0"/>
              </a:rPr>
              <a:t>Problem Solution</a:t>
            </a: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1003300" y="2077268"/>
            <a:ext cx="14249400" cy="67101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3000" b="1" dirty="0" err="1">
                <a:solidFill>
                  <a:schemeClr val="tx1"/>
                </a:solidFill>
                <a:latin typeface="Times New Roman" panose="02020603050405020304" pitchFamily="18" charset="0"/>
                <a:cs typeface="Times New Roman" panose="02020603050405020304" pitchFamily="18" charset="0"/>
              </a:rPr>
              <a:t>PodCraft</a:t>
            </a:r>
            <a:r>
              <a:rPr lang="en-GB" sz="3000" dirty="0">
                <a:solidFill>
                  <a:schemeClr val="tx1"/>
                </a:solidFill>
                <a:latin typeface="Times New Roman" panose="02020603050405020304" pitchFamily="18" charset="0"/>
                <a:cs typeface="Times New Roman" panose="02020603050405020304" pitchFamily="18" charset="0"/>
              </a:rPr>
              <a:t> is an intelligent agent-based platform that automates podcast episode planning. Users input their podcast niche or guest details. Four agents work together: </a:t>
            </a:r>
            <a:r>
              <a:rPr lang="en-GB" sz="3000" b="1" dirty="0">
                <a:solidFill>
                  <a:schemeClr val="tx1"/>
                </a:solidFill>
                <a:latin typeface="Times New Roman" panose="02020603050405020304" pitchFamily="18" charset="0"/>
                <a:cs typeface="Times New Roman" panose="02020603050405020304" pitchFamily="18" charset="0"/>
              </a:rPr>
              <a:t>User Intent &amp; Guest </a:t>
            </a:r>
            <a:r>
              <a:rPr lang="en-GB" sz="3000" b="1" dirty="0" err="1">
                <a:solidFill>
                  <a:schemeClr val="tx1"/>
                </a:solidFill>
                <a:latin typeface="Times New Roman" panose="02020603050405020304" pitchFamily="18" charset="0"/>
                <a:cs typeface="Times New Roman" panose="02020603050405020304" pitchFamily="18" charset="0"/>
              </a:rPr>
              <a:t>Analyzer</a:t>
            </a:r>
            <a:r>
              <a:rPr lang="en-GB" sz="3000" dirty="0">
                <a:solidFill>
                  <a:schemeClr val="tx1"/>
                </a:solidFill>
                <a:latin typeface="Times New Roman" panose="02020603050405020304" pitchFamily="18" charset="0"/>
                <a:cs typeface="Times New Roman" panose="02020603050405020304" pitchFamily="18" charset="0"/>
              </a:rPr>
              <a:t> (interprets content direction), </a:t>
            </a:r>
            <a:r>
              <a:rPr lang="en-GB" sz="3000" b="1" dirty="0">
                <a:solidFill>
                  <a:schemeClr val="tx1"/>
                </a:solidFill>
                <a:latin typeface="Times New Roman" panose="02020603050405020304" pitchFamily="18" charset="0"/>
                <a:cs typeface="Times New Roman" panose="02020603050405020304" pitchFamily="18" charset="0"/>
              </a:rPr>
              <a:t>Topic Research Agent</a:t>
            </a:r>
            <a:r>
              <a:rPr lang="en-GB" sz="3000" dirty="0">
                <a:solidFill>
                  <a:schemeClr val="tx1"/>
                </a:solidFill>
                <a:latin typeface="Times New Roman" panose="02020603050405020304" pitchFamily="18" charset="0"/>
                <a:cs typeface="Times New Roman" panose="02020603050405020304" pitchFamily="18" charset="0"/>
              </a:rPr>
              <a:t> (gathers trends and background info), </a:t>
            </a:r>
            <a:r>
              <a:rPr lang="en-GB" sz="3000" b="1" dirty="0">
                <a:solidFill>
                  <a:schemeClr val="tx1"/>
                </a:solidFill>
                <a:latin typeface="Times New Roman" panose="02020603050405020304" pitchFamily="18" charset="0"/>
                <a:cs typeface="Times New Roman" panose="02020603050405020304" pitchFamily="18" charset="0"/>
              </a:rPr>
              <a:t>Question &amp; Timestamp Generator</a:t>
            </a:r>
            <a:r>
              <a:rPr lang="en-GB" sz="3000" dirty="0">
                <a:solidFill>
                  <a:schemeClr val="tx1"/>
                </a:solidFill>
                <a:latin typeface="Times New Roman" panose="02020603050405020304" pitchFamily="18" charset="0"/>
                <a:cs typeface="Times New Roman" panose="02020603050405020304" pitchFamily="18" charset="0"/>
              </a:rPr>
              <a:t> (creates structured questions with time allocation), and </a:t>
            </a:r>
            <a:r>
              <a:rPr lang="en-GB" sz="3000" b="1" dirty="0">
                <a:solidFill>
                  <a:schemeClr val="tx1"/>
                </a:solidFill>
                <a:latin typeface="Times New Roman" panose="02020603050405020304" pitchFamily="18" charset="0"/>
                <a:cs typeface="Times New Roman" panose="02020603050405020304" pitchFamily="18" charset="0"/>
              </a:rPr>
              <a:t>Hook &amp; Intro Suggestion Agent</a:t>
            </a:r>
            <a:r>
              <a:rPr lang="en-GB" sz="3000" dirty="0">
                <a:solidFill>
                  <a:schemeClr val="tx1"/>
                </a:solidFill>
                <a:latin typeface="Times New Roman" panose="02020603050405020304" pitchFamily="18" charset="0"/>
                <a:cs typeface="Times New Roman" panose="02020603050405020304" pitchFamily="18" charset="0"/>
              </a:rPr>
              <a:t> (produces engaging openings). An </a:t>
            </a:r>
            <a:r>
              <a:rPr lang="en-GB" sz="3000" b="1" dirty="0">
                <a:solidFill>
                  <a:schemeClr val="tx1"/>
                </a:solidFill>
                <a:latin typeface="Times New Roman" panose="02020603050405020304" pitchFamily="18" charset="0"/>
                <a:cs typeface="Times New Roman" panose="02020603050405020304" pitchFamily="18" charset="0"/>
              </a:rPr>
              <a:t>Episode Outline Planner</a:t>
            </a:r>
            <a:r>
              <a:rPr lang="en-GB" sz="3000" dirty="0">
                <a:solidFill>
                  <a:schemeClr val="tx1"/>
                </a:solidFill>
                <a:latin typeface="Times New Roman" panose="02020603050405020304" pitchFamily="18" charset="0"/>
                <a:cs typeface="Times New Roman" panose="02020603050405020304" pitchFamily="18" charset="0"/>
              </a:rPr>
              <a:t> organizes everything into a logical flow. The system reduces manual effort, ensures professional structure, and improves consistency. Available on web and mobile with a user-friendly interface, </a:t>
            </a:r>
            <a:r>
              <a:rPr lang="en-GB" sz="3000" dirty="0" err="1">
                <a:solidFill>
                  <a:schemeClr val="tx1"/>
                </a:solidFill>
                <a:latin typeface="Times New Roman" panose="02020603050405020304" pitchFamily="18" charset="0"/>
                <a:cs typeface="Times New Roman" panose="02020603050405020304" pitchFamily="18" charset="0"/>
              </a:rPr>
              <a:t>PodCraft</a:t>
            </a:r>
            <a:r>
              <a:rPr lang="en-GB" sz="3000" dirty="0">
                <a:solidFill>
                  <a:schemeClr val="tx1"/>
                </a:solidFill>
                <a:latin typeface="Times New Roman" panose="02020603050405020304" pitchFamily="18" charset="0"/>
                <a:cs typeface="Times New Roman" panose="02020603050405020304" pitchFamily="18" charset="0"/>
              </a:rPr>
              <a:t> helps creators focus on creativity while AI handles planning.</a:t>
            </a: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8</a:t>
            </a:fld>
            <a:endParaRPr lang="en-US" dirty="0">
              <a:solidFill>
                <a:prstClr val="white"/>
              </a:solidFill>
              <a:latin typeface="Calibri"/>
            </a:endParaRPr>
          </a:p>
        </p:txBody>
      </p:sp>
    </p:spTree>
    <p:extLst>
      <p:ext uri="{BB962C8B-B14F-4D97-AF65-F5344CB8AC3E}">
        <p14:creationId xmlns:p14="http://schemas.microsoft.com/office/powerpoint/2010/main" val="3606169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Advantages/Benefits of Proposed System</a:t>
            </a: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1574800" y="2129081"/>
            <a:ext cx="14325600" cy="67101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l">
              <a:buFont typeface="Arial" panose="020B0604020202020204" pitchFamily="34" charset="0"/>
              <a:buChar char="•"/>
            </a:pPr>
            <a:r>
              <a:rPr lang="en-GB" b="1" dirty="0">
                <a:solidFill>
                  <a:schemeClr val="tx1"/>
                </a:solidFill>
                <a:latin typeface="Times New Roman" panose="02020603050405020304" pitchFamily="18" charset="0"/>
                <a:cs typeface="Times New Roman" panose="02020603050405020304" pitchFamily="18" charset="0"/>
              </a:rPr>
              <a:t>Time Efficiency</a:t>
            </a:r>
            <a:r>
              <a:rPr lang="en-GB" dirty="0">
                <a:solidFill>
                  <a:schemeClr val="tx1"/>
                </a:solidFill>
                <a:latin typeface="Times New Roman" panose="02020603050405020304" pitchFamily="18" charset="0"/>
                <a:cs typeface="Times New Roman" panose="02020603050405020304" pitchFamily="18" charset="0"/>
              </a:rPr>
              <a:t/>
            </a:r>
            <a:br>
              <a:rPr lang="en-GB" dirty="0">
                <a:solidFill>
                  <a:schemeClr val="tx1"/>
                </a:solidFill>
                <a:latin typeface="Times New Roman" panose="02020603050405020304" pitchFamily="18" charset="0"/>
                <a:cs typeface="Times New Roman" panose="02020603050405020304" pitchFamily="18" charset="0"/>
              </a:rPr>
            </a:br>
            <a:r>
              <a:rPr lang="en-GB" dirty="0">
                <a:solidFill>
                  <a:schemeClr val="tx1"/>
                </a:solidFill>
                <a:latin typeface="Times New Roman" panose="02020603050405020304" pitchFamily="18" charset="0"/>
                <a:cs typeface="Times New Roman" panose="02020603050405020304" pitchFamily="18" charset="0"/>
              </a:rPr>
              <a:t>Automates research and planning tasks.</a:t>
            </a:r>
          </a:p>
          <a:p>
            <a:pPr marL="457200" indent="-457200" algn="l">
              <a:buFont typeface="Arial" panose="020B0604020202020204" pitchFamily="34" charset="0"/>
              <a:buChar char="•"/>
            </a:pPr>
            <a:r>
              <a:rPr lang="en-GB" b="1" dirty="0">
                <a:solidFill>
                  <a:schemeClr val="tx1"/>
                </a:solidFill>
                <a:latin typeface="Times New Roman" panose="02020603050405020304" pitchFamily="18" charset="0"/>
                <a:cs typeface="Times New Roman" panose="02020603050405020304" pitchFamily="18" charset="0"/>
              </a:rPr>
              <a:t>Improved Content Quality</a:t>
            </a:r>
            <a:r>
              <a:rPr lang="en-GB" dirty="0">
                <a:solidFill>
                  <a:schemeClr val="tx1"/>
                </a:solidFill>
                <a:latin typeface="Times New Roman" panose="02020603050405020304" pitchFamily="18" charset="0"/>
                <a:cs typeface="Times New Roman" panose="02020603050405020304" pitchFamily="18" charset="0"/>
              </a:rPr>
              <a:t/>
            </a:r>
            <a:br>
              <a:rPr lang="en-GB" dirty="0">
                <a:solidFill>
                  <a:schemeClr val="tx1"/>
                </a:solidFill>
                <a:latin typeface="Times New Roman" panose="02020603050405020304" pitchFamily="18" charset="0"/>
                <a:cs typeface="Times New Roman" panose="02020603050405020304" pitchFamily="18" charset="0"/>
              </a:rPr>
            </a:br>
            <a:r>
              <a:rPr lang="en-GB" dirty="0">
                <a:solidFill>
                  <a:schemeClr val="tx1"/>
                </a:solidFill>
                <a:latin typeface="Times New Roman" panose="02020603050405020304" pitchFamily="18" charset="0"/>
                <a:cs typeface="Times New Roman" panose="02020603050405020304" pitchFamily="18" charset="0"/>
              </a:rPr>
              <a:t>Ensures logical flow and professional presentation.</a:t>
            </a:r>
          </a:p>
          <a:p>
            <a:pPr marL="457200" indent="-457200" algn="l">
              <a:buFont typeface="Arial" panose="020B0604020202020204" pitchFamily="34" charset="0"/>
              <a:buChar char="•"/>
            </a:pPr>
            <a:r>
              <a:rPr lang="en-GB" b="1" dirty="0">
                <a:solidFill>
                  <a:schemeClr val="tx1"/>
                </a:solidFill>
                <a:latin typeface="Times New Roman" panose="02020603050405020304" pitchFamily="18" charset="0"/>
                <a:cs typeface="Times New Roman" panose="02020603050405020304" pitchFamily="18" charset="0"/>
              </a:rPr>
              <a:t>Consistency</a:t>
            </a:r>
            <a:r>
              <a:rPr lang="en-GB" dirty="0">
                <a:solidFill>
                  <a:schemeClr val="tx1"/>
                </a:solidFill>
                <a:latin typeface="Times New Roman" panose="02020603050405020304" pitchFamily="18" charset="0"/>
                <a:cs typeface="Times New Roman" panose="02020603050405020304" pitchFamily="18" charset="0"/>
              </a:rPr>
              <a:t/>
            </a:r>
            <a:br>
              <a:rPr lang="en-GB" dirty="0">
                <a:solidFill>
                  <a:schemeClr val="tx1"/>
                </a:solidFill>
                <a:latin typeface="Times New Roman" panose="02020603050405020304" pitchFamily="18" charset="0"/>
                <a:cs typeface="Times New Roman" panose="02020603050405020304" pitchFamily="18" charset="0"/>
              </a:rPr>
            </a:br>
            <a:r>
              <a:rPr lang="en-GB" dirty="0">
                <a:solidFill>
                  <a:schemeClr val="tx1"/>
                </a:solidFill>
                <a:latin typeface="Times New Roman" panose="02020603050405020304" pitchFamily="18" charset="0"/>
                <a:cs typeface="Times New Roman" panose="02020603050405020304" pitchFamily="18" charset="0"/>
              </a:rPr>
              <a:t>Maintains uniform structure for all productions.</a:t>
            </a:r>
          </a:p>
          <a:p>
            <a:pPr marL="457200" indent="-457200" algn="l">
              <a:buFont typeface="Arial" panose="020B0604020202020204" pitchFamily="34" charset="0"/>
              <a:buChar char="•"/>
            </a:pPr>
            <a:r>
              <a:rPr lang="en-GB" b="1" dirty="0">
                <a:solidFill>
                  <a:schemeClr val="tx1"/>
                </a:solidFill>
                <a:latin typeface="Times New Roman" panose="02020603050405020304" pitchFamily="18" charset="0"/>
                <a:cs typeface="Times New Roman" panose="02020603050405020304" pitchFamily="18" charset="0"/>
              </a:rPr>
              <a:t>Accessibility</a:t>
            </a:r>
            <a:r>
              <a:rPr lang="en-GB" dirty="0">
                <a:solidFill>
                  <a:schemeClr val="tx1"/>
                </a:solidFill>
                <a:latin typeface="Times New Roman" panose="02020603050405020304" pitchFamily="18" charset="0"/>
                <a:cs typeface="Times New Roman" panose="02020603050405020304" pitchFamily="18" charset="0"/>
              </a:rPr>
              <a:t/>
            </a:r>
            <a:br>
              <a:rPr lang="en-GB" dirty="0">
                <a:solidFill>
                  <a:schemeClr val="tx1"/>
                </a:solidFill>
                <a:latin typeface="Times New Roman" panose="02020603050405020304" pitchFamily="18" charset="0"/>
                <a:cs typeface="Times New Roman" panose="02020603050405020304" pitchFamily="18" charset="0"/>
              </a:rPr>
            </a:br>
            <a:r>
              <a:rPr lang="en-GB" dirty="0">
                <a:solidFill>
                  <a:schemeClr val="tx1"/>
                </a:solidFill>
                <a:latin typeface="Times New Roman" panose="02020603050405020304" pitchFamily="18" charset="0"/>
                <a:cs typeface="Times New Roman" panose="02020603050405020304" pitchFamily="18" charset="0"/>
              </a:rPr>
              <a:t>Supports both web and smartphone platforms.</a:t>
            </a:r>
          </a:p>
          <a:p>
            <a:pPr marL="457200" indent="-457200" algn="l">
              <a:buFont typeface="Arial" panose="020B0604020202020204" pitchFamily="34" charset="0"/>
              <a:buChar char="•"/>
            </a:pPr>
            <a:r>
              <a:rPr lang="en-GB" b="1" dirty="0">
                <a:solidFill>
                  <a:schemeClr val="tx1"/>
                </a:solidFill>
                <a:latin typeface="Times New Roman" panose="02020603050405020304" pitchFamily="18" charset="0"/>
                <a:cs typeface="Times New Roman" panose="02020603050405020304" pitchFamily="18" charset="0"/>
              </a:rPr>
              <a:t>Audience Engagement</a:t>
            </a:r>
            <a:r>
              <a:rPr lang="en-GB" dirty="0">
                <a:solidFill>
                  <a:schemeClr val="tx1"/>
                </a:solidFill>
                <a:latin typeface="Times New Roman" panose="02020603050405020304" pitchFamily="18" charset="0"/>
                <a:cs typeface="Times New Roman" panose="02020603050405020304" pitchFamily="18" charset="0"/>
              </a:rPr>
              <a:t/>
            </a:r>
            <a:br>
              <a:rPr lang="en-GB" dirty="0">
                <a:solidFill>
                  <a:schemeClr val="tx1"/>
                </a:solidFill>
                <a:latin typeface="Times New Roman" panose="02020603050405020304" pitchFamily="18" charset="0"/>
                <a:cs typeface="Times New Roman" panose="02020603050405020304" pitchFamily="18" charset="0"/>
              </a:rPr>
            </a:br>
            <a:r>
              <a:rPr lang="en-GB" dirty="0">
                <a:solidFill>
                  <a:schemeClr val="tx1"/>
                </a:solidFill>
                <a:latin typeface="Times New Roman" panose="02020603050405020304" pitchFamily="18" charset="0"/>
                <a:cs typeface="Times New Roman" panose="02020603050405020304" pitchFamily="18" charset="0"/>
              </a:rPr>
              <a:t>Generates compelling hooks and organized segments.</a:t>
            </a: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9</a:t>
            </a:fld>
            <a:endParaRPr lang="en-US" dirty="0">
              <a:solidFill>
                <a:prstClr val="white"/>
              </a:solidFill>
              <a:latin typeface="Calibri"/>
            </a:endParaRPr>
          </a:p>
        </p:txBody>
      </p:sp>
    </p:spTree>
    <p:extLst>
      <p:ext uri="{BB962C8B-B14F-4D97-AF65-F5344CB8AC3E}">
        <p14:creationId xmlns:p14="http://schemas.microsoft.com/office/powerpoint/2010/main" val="3593019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755880" cy="1143000"/>
          </a:xfrm>
        </p:spPr>
        <p:txBody>
          <a:bodyPr/>
          <a:lstStyle/>
          <a:p>
            <a:r>
              <a:rPr lang="en-US" sz="4500" b="1" u="sng" dirty="0">
                <a:latin typeface="Times New Roman" panose="02020603050405020304" pitchFamily="18" charset="0"/>
                <a:cs typeface="Times New Roman" panose="02020603050405020304" pitchFamily="18" charset="0"/>
              </a:rPr>
              <a:t>Related System Analysis/Literature Review</a:t>
            </a: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1498600" y="2129081"/>
            <a:ext cx="14401800" cy="67101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10</a:t>
            </a:fld>
            <a:endParaRPr lang="en-US" dirty="0">
              <a:solidFill>
                <a:prstClr val="white"/>
              </a:solidFill>
              <a:latin typeface="Calibri"/>
            </a:endParaRPr>
          </a:p>
        </p:txBody>
      </p:sp>
      <p:graphicFrame>
        <p:nvGraphicFramePr>
          <p:cNvPr id="6" name="Table 5"/>
          <p:cNvGraphicFramePr>
            <a:graphicFrameLocks noGrp="1"/>
          </p:cNvGraphicFramePr>
          <p:nvPr>
            <p:extLst>
              <p:ext uri="{D42A27DB-BD31-4B8C-83A1-F6EECF244321}">
                <p14:modId xmlns:p14="http://schemas.microsoft.com/office/powerpoint/2010/main" val="3581889223"/>
              </p:ext>
            </p:extLst>
          </p:nvPr>
        </p:nvGraphicFramePr>
        <p:xfrm>
          <a:off x="2336800" y="2362200"/>
          <a:ext cx="11506200" cy="6019802"/>
        </p:xfrm>
        <a:graphic>
          <a:graphicData uri="http://schemas.openxmlformats.org/drawingml/2006/table">
            <a:tbl>
              <a:tblPr firstRow="1" firstCol="1" bandRow="1">
                <a:tableStyleId>{5C22544A-7EE6-4342-B048-85BDC9FD1C3A}</a:tableStyleId>
              </a:tblPr>
              <a:tblGrid>
                <a:gridCol w="3141369">
                  <a:extLst>
                    <a:ext uri="{9D8B030D-6E8A-4147-A177-3AD203B41FA5}">
                      <a16:colId xmlns:a16="http://schemas.microsoft.com/office/drawing/2014/main" val="1807062474"/>
                    </a:ext>
                  </a:extLst>
                </a:gridCol>
                <a:gridCol w="4309036">
                  <a:extLst>
                    <a:ext uri="{9D8B030D-6E8A-4147-A177-3AD203B41FA5}">
                      <a16:colId xmlns:a16="http://schemas.microsoft.com/office/drawing/2014/main" val="66100941"/>
                    </a:ext>
                  </a:extLst>
                </a:gridCol>
                <a:gridCol w="4055795">
                  <a:extLst>
                    <a:ext uri="{9D8B030D-6E8A-4147-A177-3AD203B41FA5}">
                      <a16:colId xmlns:a16="http://schemas.microsoft.com/office/drawing/2014/main" val="3556714927"/>
                    </a:ext>
                  </a:extLst>
                </a:gridCol>
              </a:tblGrid>
              <a:tr h="748252">
                <a:tc>
                  <a:txBody>
                    <a:bodyPr/>
                    <a:lstStyle/>
                    <a:p>
                      <a:pPr marL="0" marR="0" algn="ctr">
                        <a:lnSpc>
                          <a:spcPct val="150000"/>
                        </a:lnSpc>
                        <a:spcBef>
                          <a:spcPts val="0"/>
                        </a:spcBef>
                        <a:spcAft>
                          <a:spcPts val="0"/>
                        </a:spcAft>
                        <a:tabLst>
                          <a:tab pos="1333500" algn="l"/>
                        </a:tabLst>
                      </a:pPr>
                      <a:r>
                        <a:rPr lang="en-US" sz="1800" dirty="0">
                          <a:solidFill>
                            <a:schemeClr val="bg1"/>
                          </a:solidFill>
                          <a:effectLst/>
                          <a:latin typeface="Times New Roman" panose="02020603050405020304" pitchFamily="18" charset="0"/>
                          <a:cs typeface="Times New Roman" panose="02020603050405020304" pitchFamily="18" charset="0"/>
                        </a:rPr>
                        <a:t>Application Name</a:t>
                      </a:r>
                      <a:endPar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dirty="0">
                          <a:solidFill>
                            <a:schemeClr val="bg1"/>
                          </a:solidFill>
                          <a:effectLst/>
                          <a:latin typeface="Times New Roman" panose="02020603050405020304" pitchFamily="18" charset="0"/>
                          <a:cs typeface="Times New Roman" panose="02020603050405020304" pitchFamily="18" charset="0"/>
                        </a:rPr>
                        <a:t>Weakness </a:t>
                      </a:r>
                      <a:endPar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dirty="0">
                          <a:solidFill>
                            <a:schemeClr val="bg1"/>
                          </a:solidFill>
                          <a:effectLst/>
                          <a:latin typeface="Times New Roman" panose="02020603050405020304" pitchFamily="18" charset="0"/>
                          <a:cs typeface="Times New Roman" panose="02020603050405020304" pitchFamily="18" charset="0"/>
                        </a:rPr>
                        <a:t>Proposed Project Solution</a:t>
                      </a:r>
                      <a:endPar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68251319"/>
                  </a:ext>
                </a:extLst>
              </a:tr>
              <a:tr h="1388687">
                <a:tc>
                  <a:txBody>
                    <a:bodyPr/>
                    <a:lstStyle/>
                    <a:p>
                      <a:pPr marL="0" indent="0">
                        <a:buNone/>
                      </a:pPr>
                      <a:r>
                        <a:rPr lang="en-US" sz="1800" b="1" dirty="0">
                          <a:solidFill>
                            <a:schemeClr val="bg1"/>
                          </a:solidFill>
                          <a:latin typeface="Times New Roman" panose="02020603050405020304" pitchFamily="18" charset="0"/>
                          <a:ea typeface="Geist Bold" pitchFamily="34" charset="-122"/>
                          <a:cs typeface="Times New Roman" panose="02020603050405020304" pitchFamily="18" charset="0"/>
                        </a:rPr>
                        <a:t>Descript:</a:t>
                      </a:r>
                    </a:p>
                  </a:txBody>
                  <a:tcPr marL="68580" marR="68580" marT="0" marB="0"/>
                </a:tc>
                <a:tc>
                  <a:txBody>
                    <a:bodyPr/>
                    <a:lstStyle/>
                    <a:p>
                      <a:pPr marL="0" marR="0">
                        <a:lnSpc>
                          <a:spcPct val="100000"/>
                        </a:lnSpc>
                        <a:spcBef>
                          <a:spcPts val="0"/>
                        </a:spcBef>
                        <a:spcAft>
                          <a:spcPts val="0"/>
                        </a:spcAft>
                      </a:pPr>
                      <a:r>
                        <a:rPr lang="en-US" sz="1800" dirty="0">
                          <a:solidFill>
                            <a:schemeClr val="tx1"/>
                          </a:solidFill>
                          <a:latin typeface="Times New Roman" panose="02020603050405020304" pitchFamily="18" charset="0"/>
                          <a:ea typeface="Geist" pitchFamily="34" charset="-122"/>
                          <a:cs typeface="Times New Roman" panose="02020603050405020304" pitchFamily="18" charset="0"/>
                        </a:rPr>
                        <a:t>no research or planning support.</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Provides automated topic research, structured planning, and complete episode outlines </a:t>
                      </a:r>
                      <a:r>
                        <a:rPr lang="en-US" sz="1800" i="0" dirty="0">
                          <a:solidFill>
                            <a:schemeClr val="tx1"/>
                          </a:solidFill>
                          <a:latin typeface="Times New Roman" panose="02020603050405020304" pitchFamily="18" charset="0"/>
                          <a:cs typeface="Times New Roman" panose="02020603050405020304" pitchFamily="18" charset="0"/>
                        </a:rPr>
                        <a:t>before</a:t>
                      </a:r>
                      <a:r>
                        <a:rPr lang="en-US" sz="1800" dirty="0">
                          <a:solidFill>
                            <a:schemeClr val="tx1"/>
                          </a:solidFill>
                          <a:latin typeface="Times New Roman" panose="02020603050405020304" pitchFamily="18" charset="0"/>
                          <a:cs typeface="Times New Roman" panose="02020603050405020304" pitchFamily="18" charset="0"/>
                        </a:rPr>
                        <a:t> recording begins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94155019"/>
                  </a:ext>
                </a:extLst>
              </a:tr>
              <a:tr h="1388687">
                <a:tc>
                  <a:txBody>
                    <a:bodyPr/>
                    <a:lstStyle/>
                    <a:p>
                      <a:pPr marL="0" marR="0">
                        <a:lnSpc>
                          <a:spcPct val="100000"/>
                        </a:lnSpc>
                        <a:spcBef>
                          <a:spcPts val="0"/>
                        </a:spcBef>
                        <a:spcAft>
                          <a:spcPts val="0"/>
                        </a:spcAft>
                      </a:pPr>
                      <a:r>
                        <a:rPr lang="en-US" sz="1800" dirty="0" err="1">
                          <a:solidFill>
                            <a:schemeClr val="bg1"/>
                          </a:solidFill>
                          <a:latin typeface="Times New Roman" panose="02020603050405020304" pitchFamily="18" charset="0"/>
                          <a:cs typeface="Times New Roman" panose="02020603050405020304" pitchFamily="18" charset="0"/>
                        </a:rPr>
                        <a:t>Buzzsprout</a:t>
                      </a:r>
                      <a:endPar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US" sz="1800" kern="1200" dirty="0">
                          <a:solidFill>
                            <a:schemeClr val="tx1"/>
                          </a:solidFill>
                          <a:effectLst/>
                          <a:latin typeface="Times New Roman" panose="02020603050405020304" pitchFamily="18" charset="0"/>
                          <a:ea typeface="+mn-ea"/>
                          <a:cs typeface="Times New Roman" panose="02020603050405020304" pitchFamily="18" charset="0"/>
                        </a:rPr>
                        <a:t>Only supports hosting and distribution; lacks content preparation tools.</a:t>
                      </a:r>
                    </a:p>
                  </a:txBody>
                  <a:tcPr marL="68580" marR="68580" marT="0" marB="0"/>
                </a:tc>
                <a:tc>
                  <a:txBody>
                    <a:bodyPr/>
                    <a:lstStyle/>
                    <a:p>
                      <a:pPr marL="0" marR="0">
                        <a:lnSpc>
                          <a:spcPct val="10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Assists in pre-production through intelligent agents that generate interview questions, hooks, and timestamps.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841485"/>
                  </a:ext>
                </a:extLst>
              </a:tr>
              <a:tr h="1247088">
                <a:tc>
                  <a:txBody>
                    <a:bodyPr/>
                    <a:lstStyle/>
                    <a:p>
                      <a:pPr marL="0" marR="0">
                        <a:lnSpc>
                          <a:spcPct val="100000"/>
                        </a:lnSpc>
                        <a:spcBef>
                          <a:spcPts val="0"/>
                        </a:spcBef>
                        <a:spcAft>
                          <a:spcPts val="0"/>
                        </a:spcAft>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Notion</a:t>
                      </a:r>
                    </a:p>
                  </a:txBody>
                  <a:tcPr marL="68580" marR="68580" marT="0" marB="0"/>
                </a:tc>
                <a:tc>
                  <a:txBody>
                    <a:bodyPr/>
                    <a:lstStyle/>
                    <a:p>
                      <a:pPr marL="0" marR="0">
                        <a:lnSpc>
                          <a:spcPct val="10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Manual planning tool with no intelligent automation.</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US" sz="1800" dirty="0">
                          <a:solidFill>
                            <a:schemeClr val="tx1"/>
                          </a:solidFill>
                          <a:latin typeface="Times New Roman" panose="02020603050405020304" pitchFamily="18" charset="0"/>
                          <a:cs typeface="Times New Roman" panose="02020603050405020304" pitchFamily="18" charset="0"/>
                        </a:rPr>
                        <a:t>Uses autonomous AI agents to automatically convert raw ideas into structured, actionable episode plans.</a:t>
                      </a:r>
                    </a:p>
                  </a:txBody>
                  <a:tcPr marL="68580" marR="68580" marT="0" marB="0"/>
                </a:tc>
                <a:extLst>
                  <a:ext uri="{0D108BD9-81ED-4DB2-BD59-A6C34878D82A}">
                    <a16:rowId xmlns:a16="http://schemas.microsoft.com/office/drawing/2014/main" val="595596301"/>
                  </a:ext>
                </a:extLst>
              </a:tr>
              <a:tr h="1247088">
                <a:tc>
                  <a:txBody>
                    <a:bodyPr/>
                    <a:lstStyle/>
                    <a:p>
                      <a:pPr marL="0" marR="0">
                        <a:lnSpc>
                          <a:spcPct val="100000"/>
                        </a:lnSpc>
                        <a:spcBef>
                          <a:spcPts val="0"/>
                        </a:spcBef>
                        <a:spcAft>
                          <a:spcPts val="0"/>
                        </a:spcAft>
                      </a:pPr>
                      <a:r>
                        <a:rPr lang="en-US" sz="1800" dirty="0" err="1">
                          <a:solidFill>
                            <a:schemeClr val="bg1"/>
                          </a:solidFill>
                          <a:effectLst/>
                          <a:latin typeface="Times New Roman" panose="02020603050405020304" pitchFamily="18" charset="0"/>
                          <a:ea typeface="+mn-ea"/>
                          <a:cs typeface="Times New Roman" panose="02020603050405020304" pitchFamily="18" charset="0"/>
                        </a:rPr>
                        <a:t>ChatGPT</a:t>
                      </a:r>
                      <a:endPar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General-purpose AI requiring repeated prompts; no specialized or structured workflow.</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Provides a dedicated, one-stop podcast planning workflow with specialized agents for each sub-task.</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17199317"/>
                  </a:ext>
                </a:extLst>
              </a:tr>
            </a:tbl>
          </a:graphicData>
        </a:graphic>
      </p:graphicFrame>
    </p:spTree>
    <p:extLst>
      <p:ext uri="{BB962C8B-B14F-4D97-AF65-F5344CB8AC3E}">
        <p14:creationId xmlns:p14="http://schemas.microsoft.com/office/powerpoint/2010/main" val="2540483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Scope</a:t>
            </a: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1651000" y="2129081"/>
            <a:ext cx="14249400" cy="67101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91866" indent="-391866" algn="just">
              <a:buFont typeface="Arial"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11</a:t>
            </a:fld>
            <a:endParaRPr lang="en-US" dirty="0">
              <a:solidFill>
                <a:prstClr val="white"/>
              </a:solidFill>
              <a:latin typeface="Calibri"/>
            </a:endParaRPr>
          </a:p>
        </p:txBody>
      </p:sp>
      <p:sp>
        <p:nvSpPr>
          <p:cNvPr id="6" name="TextBox 5">
            <a:extLst>
              <a:ext uri="{FF2B5EF4-FFF2-40B4-BE49-F238E27FC236}">
                <a16:creationId xmlns:a16="http://schemas.microsoft.com/office/drawing/2014/main" id="{49512AB6-661E-A1DE-26C5-BE613C967001}"/>
              </a:ext>
            </a:extLst>
          </p:cNvPr>
          <p:cNvSpPr txBox="1"/>
          <p:nvPr/>
        </p:nvSpPr>
        <p:spPr>
          <a:xfrm>
            <a:off x="930417" y="2597527"/>
            <a:ext cx="13944600" cy="4031873"/>
          </a:xfrm>
          <a:prstGeom prst="rect">
            <a:avLst/>
          </a:prstGeom>
          <a:noFill/>
        </p:spPr>
        <p:txBody>
          <a:bodyPr wrap="square">
            <a:spAutoFit/>
          </a:bodyPr>
          <a:lstStyle/>
          <a:p>
            <a:pPr>
              <a:buSzPct val="100000"/>
              <a:buFont typeface="Wingdings" panose="05000000000000000000" pitchFamily="2" charset="2"/>
              <a:buChar char="Ø"/>
            </a:pPr>
            <a:r>
              <a:rPr lang="en-US" sz="3200" b="1" dirty="0">
                <a:latin typeface="Times New Roman" panose="02020603050405020304" pitchFamily="18" charset="0"/>
                <a:ea typeface="Geist" pitchFamily="34" charset="-122"/>
                <a:cs typeface="Times New Roman" panose="02020603050405020304" pitchFamily="18" charset="0"/>
              </a:rPr>
              <a:t>Includes:</a:t>
            </a:r>
            <a:r>
              <a:rPr lang="en-US" sz="3200" dirty="0">
                <a:latin typeface="Times New Roman" panose="02020603050405020304" pitchFamily="18" charset="0"/>
                <a:ea typeface="Geist" pitchFamily="34" charset="-122"/>
                <a:cs typeface="Times New Roman" panose="02020603050405020304" pitchFamily="18" charset="0"/>
              </a:rPr>
              <a:t> Web and smartphone platforms, autonomous agents for research, trend analysis, question generation, and timestamp allocation.</a:t>
            </a:r>
          </a:p>
          <a:p>
            <a:pPr>
              <a:buSzPct val="100000"/>
            </a:pPr>
            <a:endParaRPr lang="en-US" sz="3200" dirty="0">
              <a:latin typeface="Times New Roman" panose="02020603050405020304" pitchFamily="18" charset="0"/>
              <a:cs typeface="Times New Roman" panose="02020603050405020304" pitchFamily="18" charset="0"/>
            </a:endParaRPr>
          </a:p>
          <a:p>
            <a:pPr>
              <a:buSzPct val="100000"/>
              <a:buFont typeface="Wingdings" panose="05000000000000000000" pitchFamily="2" charset="2"/>
              <a:buChar char="Ø"/>
            </a:pPr>
            <a:r>
              <a:rPr lang="en-US" sz="3200" b="1" dirty="0">
                <a:latin typeface="Times New Roman" panose="02020603050405020304" pitchFamily="18" charset="0"/>
                <a:ea typeface="Geist" pitchFamily="34" charset="-122"/>
                <a:cs typeface="Times New Roman" panose="02020603050405020304" pitchFamily="18" charset="0"/>
              </a:rPr>
              <a:t>Functionalities:</a:t>
            </a:r>
            <a:r>
              <a:rPr lang="en-US" sz="3200" dirty="0">
                <a:latin typeface="Times New Roman" panose="02020603050405020304" pitchFamily="18" charset="0"/>
                <a:ea typeface="Geist" pitchFamily="34" charset="-122"/>
                <a:cs typeface="Times New Roman" panose="02020603050405020304" pitchFamily="18" charset="0"/>
              </a:rPr>
              <a:t> Secure user authentication, cloud storage, and editable/exportable episode plans.</a:t>
            </a:r>
          </a:p>
          <a:p>
            <a:pPr>
              <a:buSzPct val="100000"/>
            </a:pPr>
            <a:endParaRPr lang="en-US" sz="3200" dirty="0">
              <a:latin typeface="Times New Roman" panose="02020603050405020304" pitchFamily="18" charset="0"/>
              <a:cs typeface="Times New Roman" panose="02020603050405020304" pitchFamily="18" charset="0"/>
            </a:endParaRPr>
          </a:p>
          <a:p>
            <a:pPr>
              <a:buSzPct val="100000"/>
              <a:buFont typeface="Wingdings" panose="05000000000000000000" pitchFamily="2" charset="2"/>
              <a:buChar char="Ø"/>
            </a:pPr>
            <a:r>
              <a:rPr lang="en-US" sz="3200" b="1" dirty="0">
                <a:latin typeface="Times New Roman" panose="02020603050405020304" pitchFamily="18" charset="0"/>
                <a:ea typeface="Geist" pitchFamily="34" charset="-122"/>
                <a:cs typeface="Times New Roman" panose="02020603050405020304" pitchFamily="18" charset="0"/>
              </a:rPr>
              <a:t>Exclusions:</a:t>
            </a:r>
            <a:r>
              <a:rPr lang="en-US" sz="3200" dirty="0">
                <a:latin typeface="Times New Roman" panose="02020603050405020304" pitchFamily="18" charset="0"/>
                <a:ea typeface="Geist" pitchFamily="34" charset="-122"/>
                <a:cs typeface="Times New Roman" panose="02020603050405020304" pitchFamily="18" charset="0"/>
              </a:rPr>
              <a:t> Does not include audio recording, editing, or direct publishing.</a:t>
            </a:r>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9952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6600" b="1" u="sng" dirty="0">
                <a:latin typeface="Times New Roman" panose="02020603050405020304" pitchFamily="18" charset="0"/>
                <a:cs typeface="Times New Roman" panose="02020603050405020304" pitchFamily="18" charset="0"/>
              </a:rPr>
              <a:t>Modules</a:t>
            </a: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sz="7500" b="1" dirty="0"/>
              <a:t/>
            </a:r>
            <a:br>
              <a:rPr lang="en-US" sz="7500" b="1" dirty="0"/>
            </a:br>
            <a:endParaRPr lang="en-US" sz="3200" b="1" dirty="0"/>
          </a:p>
        </p:txBody>
      </p:sp>
      <p:sp>
        <p:nvSpPr>
          <p:cNvPr id="3" name="Content Placeholder 2"/>
          <p:cNvSpPr txBox="1">
            <a:spLocks/>
          </p:cNvSpPr>
          <p:nvPr/>
        </p:nvSpPr>
        <p:spPr>
          <a:xfrm>
            <a:off x="355600" y="2129081"/>
            <a:ext cx="155448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lvl="0" indent="-457200" algn="l">
              <a:buFont typeface="Arial" panose="020B0604020202020204" pitchFamily="34" charset="0"/>
              <a:buChar char="•"/>
            </a:pPr>
            <a:r>
              <a:rPr lang="en-US" sz="3000" b="1" dirty="0">
                <a:solidFill>
                  <a:schemeClr val="tx1"/>
                </a:solidFill>
                <a:latin typeface="Times New Roman" panose="02020603050405020304" pitchFamily="18" charset="0"/>
                <a:cs typeface="Times New Roman" panose="02020603050405020304" pitchFamily="18" charset="0"/>
              </a:rPr>
              <a:t>Module 1: </a:t>
            </a:r>
            <a:r>
              <a:rPr lang="en-US" dirty="0">
                <a:solidFill>
                  <a:schemeClr val="tx1"/>
                </a:solidFill>
                <a:latin typeface="Times New Roman" panose="02020603050405020304" pitchFamily="18" charset="0"/>
                <a:ea typeface="Geist Bold" pitchFamily="34" charset="-122"/>
                <a:cs typeface="Times New Roman" panose="02020603050405020304" pitchFamily="18" charset="0"/>
              </a:rPr>
              <a:t>User Authentication &amp; Profile Management</a:t>
            </a:r>
            <a:endParaRPr lang="en-US" sz="2800" dirty="0">
              <a:solidFill>
                <a:schemeClr val="tx1"/>
              </a:solidFill>
            </a:endParaRPr>
          </a:p>
          <a:p>
            <a:pPr marL="457200" lvl="0" indent="-457200" algn="l">
              <a:buFont typeface="Arial" panose="020B0604020202020204" pitchFamily="34" charset="0"/>
              <a:buChar char="•"/>
            </a:pPr>
            <a:r>
              <a:rPr lang="en-US" sz="3000" b="1" dirty="0">
                <a:solidFill>
                  <a:schemeClr val="tx1"/>
                </a:solidFill>
                <a:latin typeface="Times New Roman" panose="02020603050405020304" pitchFamily="18" charset="0"/>
                <a:cs typeface="Times New Roman" panose="02020603050405020304" pitchFamily="18" charset="0"/>
              </a:rPr>
              <a:t>Module 2: </a:t>
            </a:r>
            <a:r>
              <a:rPr lang="en-US" dirty="0">
                <a:solidFill>
                  <a:schemeClr val="tx1"/>
                </a:solidFill>
                <a:latin typeface="Times New Roman" panose="02020603050405020304" pitchFamily="18" charset="0"/>
                <a:ea typeface="Geist Bold" pitchFamily="34" charset="-122"/>
                <a:cs typeface="Times New Roman" panose="02020603050405020304" pitchFamily="18" charset="0"/>
              </a:rPr>
              <a:t>User Intent &amp; Guest Analyzer</a:t>
            </a:r>
            <a:endParaRPr lang="en-US" sz="3000" dirty="0">
              <a:solidFill>
                <a:schemeClr val="tx1"/>
              </a:solidFill>
              <a:latin typeface="Times New Roman" panose="02020603050405020304" pitchFamily="18" charset="0"/>
              <a:cs typeface="Times New Roman" panose="02020603050405020304" pitchFamily="18" charset="0"/>
            </a:endParaRPr>
          </a:p>
          <a:p>
            <a:pPr marL="457200" lvl="0" indent="-457200" algn="l">
              <a:buFont typeface="Arial" panose="020B0604020202020204" pitchFamily="34" charset="0"/>
              <a:buChar char="•"/>
            </a:pPr>
            <a:r>
              <a:rPr lang="en-US" sz="3000" b="1" dirty="0">
                <a:solidFill>
                  <a:schemeClr val="tx1"/>
                </a:solidFill>
                <a:latin typeface="Times New Roman" panose="02020603050405020304" pitchFamily="18" charset="0"/>
                <a:cs typeface="Times New Roman" panose="02020603050405020304" pitchFamily="18" charset="0"/>
              </a:rPr>
              <a:t>Module 3: </a:t>
            </a:r>
            <a:r>
              <a:rPr lang="en-US" dirty="0">
                <a:solidFill>
                  <a:schemeClr val="tx1"/>
                </a:solidFill>
                <a:latin typeface="Times New Roman" panose="02020603050405020304" pitchFamily="18" charset="0"/>
                <a:ea typeface="Geist Bold" pitchFamily="34" charset="-122"/>
                <a:cs typeface="Times New Roman" panose="02020603050405020304" pitchFamily="18" charset="0"/>
              </a:rPr>
              <a:t>Topic Research Agent</a:t>
            </a:r>
            <a:endParaRPr lang="en-US" sz="3000" dirty="0">
              <a:solidFill>
                <a:schemeClr val="tx1"/>
              </a:solidFill>
              <a:latin typeface="Times New Roman" panose="02020603050405020304" pitchFamily="18" charset="0"/>
              <a:cs typeface="Times New Roman" panose="02020603050405020304" pitchFamily="18" charset="0"/>
            </a:endParaRPr>
          </a:p>
          <a:p>
            <a:pPr marL="457200" lvl="0" indent="-457200" algn="l">
              <a:buFont typeface="Arial" panose="020B0604020202020204" pitchFamily="34" charset="0"/>
              <a:buChar char="•"/>
            </a:pPr>
            <a:r>
              <a:rPr lang="en-US" sz="3000" b="1" dirty="0">
                <a:solidFill>
                  <a:schemeClr val="tx1"/>
                </a:solidFill>
                <a:latin typeface="Times New Roman" panose="02020603050405020304" pitchFamily="18" charset="0"/>
                <a:cs typeface="Times New Roman" panose="02020603050405020304" pitchFamily="18" charset="0"/>
              </a:rPr>
              <a:t>Module 4: </a:t>
            </a:r>
            <a:r>
              <a:rPr lang="en-US" dirty="0">
                <a:solidFill>
                  <a:schemeClr val="tx1"/>
                </a:solidFill>
                <a:latin typeface="Times New Roman" panose="02020603050405020304" pitchFamily="18" charset="0"/>
                <a:ea typeface="Geist Bold" pitchFamily="34" charset="-122"/>
                <a:cs typeface="Times New Roman" panose="02020603050405020304" pitchFamily="18" charset="0"/>
              </a:rPr>
              <a:t>Question and Timestamp Generator</a:t>
            </a:r>
            <a:endParaRPr lang="en-US" sz="3000" dirty="0">
              <a:solidFill>
                <a:schemeClr val="tx1"/>
              </a:solidFill>
              <a:latin typeface="Times New Roman" panose="02020603050405020304" pitchFamily="18" charset="0"/>
              <a:cs typeface="Times New Roman" panose="02020603050405020304" pitchFamily="18" charset="0"/>
            </a:endParaRPr>
          </a:p>
          <a:p>
            <a:pPr marL="457200" lvl="0" indent="-457200" algn="l">
              <a:buFont typeface="Arial" panose="020B0604020202020204" pitchFamily="34" charset="0"/>
              <a:buChar char="•"/>
            </a:pPr>
            <a:r>
              <a:rPr lang="en-US" sz="3000" b="1" dirty="0">
                <a:solidFill>
                  <a:schemeClr val="tx1"/>
                </a:solidFill>
                <a:latin typeface="Times New Roman" panose="02020603050405020304" pitchFamily="18" charset="0"/>
                <a:cs typeface="Times New Roman" panose="02020603050405020304" pitchFamily="18" charset="0"/>
              </a:rPr>
              <a:t>Module 5: </a:t>
            </a:r>
            <a:r>
              <a:rPr lang="en-US" dirty="0">
                <a:solidFill>
                  <a:schemeClr val="tx1"/>
                </a:solidFill>
                <a:latin typeface="Times New Roman" panose="02020603050405020304" pitchFamily="18" charset="0"/>
                <a:ea typeface="Geist Bold" pitchFamily="34" charset="-122"/>
                <a:cs typeface="Times New Roman" panose="02020603050405020304" pitchFamily="18" charset="0"/>
              </a:rPr>
              <a:t>Hook &amp; Intro Suggestion Agent</a:t>
            </a:r>
            <a:endParaRPr lang="en-US" dirty="0">
              <a:solidFill>
                <a:schemeClr val="tx1"/>
              </a:solidFill>
              <a:latin typeface="Times New Roman" panose="02020603050405020304" pitchFamily="18" charset="0"/>
              <a:cs typeface="Times New Roman" panose="02020603050405020304" pitchFamily="18" charset="0"/>
            </a:endParaRPr>
          </a:p>
          <a:p>
            <a:pPr marL="457200" lvl="0" indent="-457200" algn="l">
              <a:buFont typeface="Arial" panose="020B0604020202020204" pitchFamily="34" charset="0"/>
              <a:buChar char="•"/>
            </a:pPr>
            <a:r>
              <a:rPr lang="en-US" sz="3000" b="1" dirty="0">
                <a:solidFill>
                  <a:schemeClr val="tx1"/>
                </a:solidFill>
                <a:latin typeface="Times New Roman" panose="02020603050405020304" pitchFamily="18" charset="0"/>
                <a:cs typeface="Times New Roman" panose="02020603050405020304" pitchFamily="18" charset="0"/>
              </a:rPr>
              <a:t>Module 6: </a:t>
            </a:r>
            <a:r>
              <a:rPr lang="en-US" dirty="0">
                <a:solidFill>
                  <a:schemeClr val="tx1"/>
                </a:solidFill>
                <a:latin typeface="Times New Roman" panose="02020603050405020304" pitchFamily="18" charset="0"/>
                <a:ea typeface="Geist Bold" pitchFamily="34" charset="-122"/>
                <a:cs typeface="Times New Roman" panose="02020603050405020304" pitchFamily="18" charset="0"/>
              </a:rPr>
              <a:t>Episode Outline Planner</a:t>
            </a:r>
            <a:endParaRPr lang="en-US" sz="2800" dirty="0">
              <a:solidFill>
                <a:schemeClr val="tx1"/>
              </a:solidFill>
            </a:endParaRPr>
          </a:p>
          <a:p>
            <a:pPr algn="just"/>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endParaRPr lang="en-US" sz="26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4556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25746-F388-8E8C-B6D0-4ABFEC11A7E8}"/>
              </a:ext>
            </a:extLst>
          </p:cNvPr>
          <p:cNvSpPr>
            <a:spLocks noGrp="1"/>
          </p:cNvSpPr>
          <p:nvPr>
            <p:ph type="title"/>
          </p:nvPr>
        </p:nvSpPr>
        <p:spPr>
          <a:xfrm>
            <a:off x="2870200" y="-762000"/>
            <a:ext cx="10744200" cy="2057400"/>
          </a:xfrm>
        </p:spPr>
        <p:txBody>
          <a:bodyPr/>
          <a:lstStyle/>
          <a:p>
            <a:r>
              <a:rPr lang="en-US" sz="5400" b="1" u="sng" dirty="0">
                <a:latin typeface="Times New Roman" panose="02020603050405020304" pitchFamily="18" charset="0"/>
                <a:ea typeface="Calibri" pitchFamily="34" charset="-122"/>
                <a:cs typeface="Times New Roman" panose="02020603050405020304" pitchFamily="18" charset="0"/>
              </a:rPr>
              <a:t/>
            </a:r>
            <a:br>
              <a:rPr lang="en-US" sz="5400" b="1" u="sng" dirty="0">
                <a:latin typeface="Times New Roman" panose="02020603050405020304" pitchFamily="18" charset="0"/>
                <a:ea typeface="Calibri" pitchFamily="34" charset="-122"/>
                <a:cs typeface="Times New Roman" panose="02020603050405020304" pitchFamily="18" charset="0"/>
              </a:rPr>
            </a:br>
            <a:r>
              <a:rPr lang="en-US" sz="5400" b="1" u="sng" dirty="0">
                <a:latin typeface="Times New Roman" panose="02020603050405020304" pitchFamily="18" charset="0"/>
                <a:ea typeface="Calibri" pitchFamily="34" charset="-122"/>
                <a:cs typeface="Times New Roman" panose="02020603050405020304" pitchFamily="18" charset="0"/>
              </a:rPr>
              <a:t>Module 1: User Authentication &amp; Profile Management </a:t>
            </a:r>
            <a:endParaRPr lang="en-US" sz="5400" u="sng"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E84B774-8BDC-8071-5BF6-9E570E300371}"/>
              </a:ext>
            </a:extLst>
          </p:cNvPr>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Content Placeholder 2"/>
          <p:cNvSpPr>
            <a:spLocks noGrp="1"/>
          </p:cNvSpPr>
          <p:nvPr>
            <p:ph idx="1"/>
          </p:nvPr>
        </p:nvSpPr>
        <p:spPr/>
        <p:txBody>
          <a:bodyPr/>
          <a:lstStyle/>
          <a:p>
            <a:pPr marL="0" indent="0">
              <a:buNone/>
            </a:pPr>
            <a:r>
              <a:rPr lang="en-GB" sz="2800" b="1" dirty="0">
                <a:latin typeface="Times New Roman" panose="02020603050405020304" pitchFamily="18" charset="0"/>
                <a:cs typeface="Times New Roman" panose="02020603050405020304" pitchFamily="18" charset="0"/>
              </a:rPr>
              <a:t>What the user does:</a:t>
            </a:r>
            <a:r>
              <a:rPr lang="en-GB" sz="2800" dirty="0">
                <a:latin typeface="Times New Roman" panose="02020603050405020304" pitchFamily="18" charset="0"/>
                <a:cs typeface="Times New Roman" panose="02020603050405020304" pitchFamily="18" charset="0"/>
              </a:rPr>
              <a:t> Registers an account, logs in, and sets up their podcast profile.</a:t>
            </a:r>
          </a:p>
          <a:p>
            <a:pPr marL="0" indent="0">
              <a:buNone/>
            </a:pPr>
            <a:r>
              <a:rPr lang="en-GB" sz="2800" b="1" dirty="0">
                <a:latin typeface="Times New Roman" panose="02020603050405020304" pitchFamily="18" charset="0"/>
                <a:cs typeface="Times New Roman" panose="02020603050405020304" pitchFamily="18" charset="0"/>
              </a:rPr>
              <a:t>Logical flow:</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User signs up using email/password or Google OAuth.</a:t>
            </a:r>
          </a:p>
          <a:p>
            <a:r>
              <a:rPr lang="en-GB" sz="2800" dirty="0">
                <a:latin typeface="Times New Roman" panose="02020603050405020304" pitchFamily="18" charset="0"/>
                <a:cs typeface="Times New Roman" panose="02020603050405020304" pitchFamily="18" charset="0"/>
              </a:rPr>
              <a:t>User verifies email (if applicable) and logs in.</a:t>
            </a:r>
          </a:p>
          <a:p>
            <a:r>
              <a:rPr lang="en-GB" sz="2800" dirty="0">
                <a:latin typeface="Times New Roman" panose="02020603050405020304" pitchFamily="18" charset="0"/>
                <a:cs typeface="Times New Roman" panose="02020603050405020304" pitchFamily="18" charset="0"/>
              </a:rPr>
              <a:t>User creates a podcast profile (podcast name, niche, default tone).</a:t>
            </a:r>
          </a:p>
          <a:p>
            <a:r>
              <a:rPr lang="en-GB" sz="2800" dirty="0">
                <a:latin typeface="Times New Roman" panose="02020603050405020304" pitchFamily="18" charset="0"/>
                <a:cs typeface="Times New Roman" panose="02020603050405020304" pitchFamily="18" charset="0"/>
              </a:rPr>
              <a:t>User can add guest profiles, view episode history, and manage account settings.</a:t>
            </a:r>
          </a:p>
          <a:p>
            <a:pPr marL="0" indent="0">
              <a:buNone/>
            </a:pPr>
            <a:r>
              <a:rPr lang="en-GB" sz="2800" b="1" dirty="0">
                <a:latin typeface="Times New Roman" panose="02020603050405020304" pitchFamily="18" charset="0"/>
                <a:cs typeface="Times New Roman" panose="02020603050405020304" pitchFamily="18" charset="0"/>
              </a:rPr>
              <a:t>Major Features:</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Secure registration &amp; login (JWT + OAuth)</a:t>
            </a:r>
          </a:p>
          <a:p>
            <a:r>
              <a:rPr lang="en-GB" sz="2800" dirty="0">
                <a:latin typeface="Times New Roman" panose="02020603050405020304" pitchFamily="18" charset="0"/>
                <a:cs typeface="Times New Roman" panose="02020603050405020304" pitchFamily="18" charset="0"/>
              </a:rPr>
              <a:t>Password recovery with reset link</a:t>
            </a:r>
          </a:p>
          <a:p>
            <a:r>
              <a:rPr lang="en-GB" sz="2800" dirty="0">
                <a:latin typeface="Times New Roman" panose="02020603050405020304" pitchFamily="18" charset="0"/>
                <a:cs typeface="Times New Roman" panose="02020603050405020304" pitchFamily="18" charset="0"/>
              </a:rPr>
              <a:t>Podcast profile creation &amp; switching</a:t>
            </a:r>
          </a:p>
          <a:p>
            <a:r>
              <a:rPr lang="en-GB" sz="2800" dirty="0">
                <a:latin typeface="Times New Roman" panose="02020603050405020304" pitchFamily="18" charset="0"/>
                <a:cs typeface="Times New Roman" panose="02020603050405020304" pitchFamily="18" charset="0"/>
              </a:rPr>
              <a:t>Guest profile management</a:t>
            </a:r>
          </a:p>
          <a:p>
            <a:r>
              <a:rPr lang="en-GB" sz="2800" dirty="0">
                <a:latin typeface="Times New Roman" panose="02020603050405020304" pitchFamily="18" charset="0"/>
                <a:cs typeface="Times New Roman" panose="02020603050405020304" pitchFamily="18" charset="0"/>
              </a:rPr>
              <a:t>Episode history and saved plan management</a:t>
            </a:r>
          </a:p>
        </p:txBody>
      </p:sp>
    </p:spTree>
    <p:extLst>
      <p:ext uri="{BB962C8B-B14F-4D97-AF65-F5344CB8AC3E}">
        <p14:creationId xmlns:p14="http://schemas.microsoft.com/office/powerpoint/2010/main" val="1150759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2A67C-FD43-96B6-176E-97CA70F80AA0}"/>
              </a:ext>
            </a:extLst>
          </p:cNvPr>
          <p:cNvSpPr>
            <a:spLocks noGrp="1"/>
          </p:cNvSpPr>
          <p:nvPr>
            <p:ph type="title"/>
          </p:nvPr>
        </p:nvSpPr>
        <p:spPr>
          <a:xfrm>
            <a:off x="1422400" y="457200"/>
            <a:ext cx="14630400" cy="1524000"/>
          </a:xfrm>
        </p:spPr>
        <p:txBody>
          <a:bodyPr/>
          <a:lstStyle/>
          <a:p>
            <a:r>
              <a:rPr lang="en-US" sz="6000" b="1" u="sng" dirty="0">
                <a:latin typeface="Times New Roman" panose="02020603050405020304" pitchFamily="18" charset="0"/>
                <a:ea typeface="Calibri" pitchFamily="34" charset="-122"/>
                <a:cs typeface="Times New Roman" panose="02020603050405020304" pitchFamily="18" charset="0"/>
              </a:rPr>
              <a:t>Module 2: User Intent &amp; Guest Analyzer </a:t>
            </a:r>
            <a:endParaRPr lang="en-US" sz="6000" u="sng"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E5B3E9C-9319-21A6-2619-4379903C7F4B}"/>
              </a:ext>
            </a:extLst>
          </p:cNvPr>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Content Placeholder 2"/>
          <p:cNvSpPr>
            <a:spLocks noGrp="1"/>
          </p:cNvSpPr>
          <p:nvPr>
            <p:ph idx="1"/>
          </p:nvPr>
        </p:nvSpPr>
        <p:spPr/>
        <p:txBody>
          <a:bodyPr/>
          <a:lstStyle/>
          <a:p>
            <a:pPr marL="0" indent="0">
              <a:buNone/>
            </a:pPr>
            <a:r>
              <a:rPr lang="en-US" sz="2800" b="1" dirty="0">
                <a:latin typeface="Times New Roman" panose="02020603050405020304" pitchFamily="18" charset="0"/>
                <a:cs typeface="Times New Roman" panose="02020603050405020304" pitchFamily="18" charset="0"/>
              </a:rPr>
              <a:t>What the user does:</a:t>
            </a:r>
            <a:r>
              <a:rPr lang="en-US" sz="2800" dirty="0">
                <a:latin typeface="Times New Roman" panose="02020603050405020304" pitchFamily="18" charset="0"/>
                <a:cs typeface="Times New Roman" panose="02020603050405020304" pitchFamily="18" charset="0"/>
              </a:rPr>
              <a:t> Provides episode direction and guest details for AI analysis.</a:t>
            </a:r>
          </a:p>
          <a:p>
            <a:pPr marL="0" indent="0">
              <a:buNone/>
            </a:pPr>
            <a:r>
              <a:rPr lang="en-US" sz="2800" b="1" dirty="0">
                <a:latin typeface="Times New Roman" panose="02020603050405020304" pitchFamily="18" charset="0"/>
                <a:cs typeface="Times New Roman" panose="02020603050405020304" pitchFamily="18" charset="0"/>
              </a:rPr>
              <a:t>Logical flow:</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User starts a new episode and selects a podcast niche from predefined categories.</a:t>
            </a:r>
          </a:p>
          <a:p>
            <a:r>
              <a:rPr lang="en-US" sz="2800" dirty="0">
                <a:latin typeface="Times New Roman" panose="02020603050405020304" pitchFamily="18" charset="0"/>
                <a:cs typeface="Times New Roman" panose="02020603050405020304" pitchFamily="18" charset="0"/>
              </a:rPr>
              <a:t>User enters episode topic or guest name.</a:t>
            </a:r>
          </a:p>
          <a:p>
            <a:r>
              <a:rPr lang="en-US" sz="2800" dirty="0">
                <a:latin typeface="Times New Roman" panose="02020603050405020304" pitchFamily="18" charset="0"/>
                <a:cs typeface="Times New Roman" panose="02020603050405020304" pitchFamily="18" charset="0"/>
              </a:rPr>
              <a:t>User optionally adds guest details (name, profession, LinkedIn/website).</a:t>
            </a:r>
          </a:p>
          <a:p>
            <a:r>
              <a:rPr lang="en-US" sz="2800" dirty="0">
                <a:latin typeface="Times New Roman" panose="02020603050405020304" pitchFamily="18" charset="0"/>
                <a:cs typeface="Times New Roman" panose="02020603050405020304" pitchFamily="18" charset="0"/>
              </a:rPr>
              <a:t>AI analyzes input and generates content direction and guest summary.</a:t>
            </a:r>
          </a:p>
          <a:p>
            <a:pPr marL="0" indent="0">
              <a:buNone/>
            </a:pPr>
            <a:r>
              <a:rPr lang="en-US" sz="2800" b="1" dirty="0">
                <a:latin typeface="Times New Roman" panose="02020603050405020304" pitchFamily="18" charset="0"/>
                <a:cs typeface="Times New Roman" panose="02020603050405020304" pitchFamily="18" charset="0"/>
              </a:rPr>
              <a:t>Major Features:</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Podcast niche selection (20+ categories)</a:t>
            </a:r>
          </a:p>
          <a:p>
            <a:r>
              <a:rPr lang="en-US" sz="2800" dirty="0">
                <a:latin typeface="Times New Roman" panose="02020603050405020304" pitchFamily="18" charset="0"/>
                <a:cs typeface="Times New Roman" panose="02020603050405020304" pitchFamily="18" charset="0"/>
              </a:rPr>
              <a:t>Episode topic / guest name input</a:t>
            </a:r>
          </a:p>
          <a:p>
            <a:r>
              <a:rPr lang="en-US" sz="2800" dirty="0">
                <a:latin typeface="Times New Roman" panose="02020603050405020304" pitchFamily="18" charset="0"/>
                <a:cs typeface="Times New Roman" panose="02020603050405020304" pitchFamily="18" charset="0"/>
              </a:rPr>
              <a:t>Guest profile submission (manual or URL-based)</a:t>
            </a:r>
          </a:p>
          <a:p>
            <a:r>
              <a:rPr lang="en-US" sz="2800" dirty="0">
                <a:latin typeface="Times New Roman" panose="02020603050405020304" pitchFamily="18" charset="0"/>
                <a:cs typeface="Times New Roman" panose="02020603050405020304" pitchFamily="18" charset="0"/>
              </a:rPr>
              <a:t>AI-generated guest background summary</a:t>
            </a:r>
          </a:p>
          <a:p>
            <a:r>
              <a:rPr lang="en-US" sz="2800" dirty="0">
                <a:latin typeface="Times New Roman" panose="02020603050405020304" pitchFamily="18" charset="0"/>
                <a:cs typeface="Times New Roman" panose="02020603050405020304" pitchFamily="18" charset="0"/>
              </a:rPr>
              <a:t>Episode tone selection (Casual, Professional, Humorous, Serious)</a:t>
            </a:r>
          </a:p>
        </p:txBody>
      </p:sp>
    </p:spTree>
    <p:extLst>
      <p:ext uri="{BB962C8B-B14F-4D97-AF65-F5344CB8AC3E}">
        <p14:creationId xmlns:p14="http://schemas.microsoft.com/office/powerpoint/2010/main" val="3039823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29714-779D-0368-6628-2647B23D47B7}"/>
              </a:ext>
            </a:extLst>
          </p:cNvPr>
          <p:cNvSpPr>
            <a:spLocks noGrp="1"/>
          </p:cNvSpPr>
          <p:nvPr>
            <p:ph type="title"/>
          </p:nvPr>
        </p:nvSpPr>
        <p:spPr>
          <a:xfrm>
            <a:off x="812796" y="609600"/>
            <a:ext cx="14630400" cy="1524000"/>
          </a:xfrm>
        </p:spPr>
        <p:txBody>
          <a:bodyPr/>
          <a:lstStyle/>
          <a:p>
            <a:r>
              <a:rPr lang="en-US" sz="6000" b="1" u="sng" dirty="0">
                <a:latin typeface="Times New Roman" panose="02020603050405020304" pitchFamily="18" charset="0"/>
                <a:ea typeface="Calibri" pitchFamily="34" charset="-122"/>
                <a:cs typeface="Times New Roman" panose="02020603050405020304" pitchFamily="18" charset="0"/>
              </a:rPr>
              <a:t>Module 3: Topic Research Agent </a:t>
            </a:r>
            <a:endParaRPr lang="en-US" sz="6000" u="sng"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90837DC-E387-1BE7-F1A6-A2D1975B8B3C}"/>
              </a:ext>
            </a:extLst>
          </p:cNvPr>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Content Placeholder 2"/>
          <p:cNvSpPr>
            <a:spLocks noGrp="1"/>
          </p:cNvSpPr>
          <p:nvPr>
            <p:ph idx="1"/>
          </p:nvPr>
        </p:nvSpPr>
        <p:spPr/>
        <p:txBody>
          <a:bodyPr/>
          <a:lstStyle/>
          <a:p>
            <a:pPr marL="0" indent="0">
              <a:buNone/>
            </a:pPr>
            <a:r>
              <a:rPr lang="en-GB" sz="2800" b="1" dirty="0">
                <a:latin typeface="Times New Roman" panose="02020603050405020304" pitchFamily="18" charset="0"/>
                <a:cs typeface="Times New Roman" panose="02020603050405020304" pitchFamily="18" charset="0"/>
              </a:rPr>
              <a:t>What the user does:</a:t>
            </a:r>
            <a:r>
              <a:rPr lang="en-GB" sz="2800" dirty="0">
                <a:latin typeface="Times New Roman" panose="02020603050405020304" pitchFamily="18" charset="0"/>
                <a:cs typeface="Times New Roman" panose="02020603050405020304" pitchFamily="18" charset="0"/>
              </a:rPr>
              <a:t> Triggers and reviews AI-researched topics for the episode.</a:t>
            </a:r>
          </a:p>
          <a:p>
            <a:pPr marL="0" indent="0">
              <a:buNone/>
            </a:pPr>
            <a:r>
              <a:rPr lang="en-GB" sz="2800" b="1" dirty="0">
                <a:latin typeface="Times New Roman" panose="02020603050405020304" pitchFamily="18" charset="0"/>
                <a:cs typeface="Times New Roman" panose="02020603050405020304" pitchFamily="18" charset="0"/>
              </a:rPr>
              <a:t>Logical flow:</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User clicks "Generate Topics" or research starts automatically after intent submission.</a:t>
            </a:r>
          </a:p>
          <a:p>
            <a:r>
              <a:rPr lang="en-GB" sz="2800" dirty="0">
                <a:latin typeface="Times New Roman" panose="02020603050405020304" pitchFamily="18" charset="0"/>
                <a:cs typeface="Times New Roman" panose="02020603050405020304" pitchFamily="18" charset="0"/>
              </a:rPr>
              <a:t>AI agent scans news, social media, academic sources, and industry blogs.</a:t>
            </a:r>
          </a:p>
          <a:p>
            <a:r>
              <a:rPr lang="en-GB" sz="2800" dirty="0">
                <a:latin typeface="Times New Roman" panose="02020603050405020304" pitchFamily="18" charset="0"/>
                <a:cs typeface="Times New Roman" panose="02020603050405020304" pitchFamily="18" charset="0"/>
              </a:rPr>
              <a:t>System displays topics with title, summary, source, and date.</a:t>
            </a:r>
          </a:p>
          <a:p>
            <a:r>
              <a:rPr lang="en-GB" sz="2800" dirty="0">
                <a:latin typeface="Times New Roman" panose="02020603050405020304" pitchFamily="18" charset="0"/>
                <a:cs typeface="Times New Roman" panose="02020603050405020304" pitchFamily="18" charset="0"/>
              </a:rPr>
              <a:t>User bookmarks preferred topics (up to 10) and rejects irrelevant ones.</a:t>
            </a:r>
          </a:p>
          <a:p>
            <a:r>
              <a:rPr lang="en-GB" sz="2800" dirty="0">
                <a:latin typeface="Times New Roman" panose="02020603050405020304" pitchFamily="18" charset="0"/>
                <a:cs typeface="Times New Roman" panose="02020603050405020304" pitchFamily="18" charset="0"/>
              </a:rPr>
              <a:t>User can export research summary as PDF.</a:t>
            </a:r>
          </a:p>
          <a:p>
            <a:pPr marL="0" indent="0">
              <a:buNone/>
            </a:pPr>
            <a:r>
              <a:rPr lang="en-GB" sz="2800" b="1" dirty="0">
                <a:latin typeface="Times New Roman" panose="02020603050405020304" pitchFamily="18" charset="0"/>
                <a:cs typeface="Times New Roman" panose="02020603050405020304" pitchFamily="18" charset="0"/>
              </a:rPr>
              <a:t>Major Features:</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Automated topic research (30-second delivery)</a:t>
            </a:r>
          </a:p>
          <a:p>
            <a:r>
              <a:rPr lang="en-GB" sz="2800" dirty="0">
                <a:latin typeface="Times New Roman" panose="02020603050405020304" pitchFamily="18" charset="0"/>
                <a:cs typeface="Times New Roman" panose="02020603050405020304" pitchFamily="18" charset="0"/>
              </a:rPr>
              <a:t>Filter by relevance and </a:t>
            </a:r>
            <a:r>
              <a:rPr lang="en-GB" sz="2800" dirty="0" err="1">
                <a:latin typeface="Times New Roman" panose="02020603050405020304" pitchFamily="18" charset="0"/>
                <a:cs typeface="Times New Roman" panose="02020603050405020304" pitchFamily="18" charset="0"/>
              </a:rPr>
              <a:t>recency</a:t>
            </a:r>
            <a:r>
              <a:rPr lang="en-GB" sz="2800" dirty="0">
                <a:latin typeface="Times New Roman" panose="02020603050405020304" pitchFamily="18" charset="0"/>
                <a:cs typeface="Times New Roman" panose="02020603050405020304" pitchFamily="18" charset="0"/>
              </a:rPr>
              <a:t> (30 days / 6 months / all time)</a:t>
            </a:r>
          </a:p>
          <a:p>
            <a:r>
              <a:rPr lang="en-GB" sz="2800" dirty="0">
                <a:latin typeface="Times New Roman" panose="02020603050405020304" pitchFamily="18" charset="0"/>
                <a:cs typeface="Times New Roman" panose="02020603050405020304" pitchFamily="18" charset="0"/>
              </a:rPr>
              <a:t>Bookmark up to 10 topics per episode</a:t>
            </a:r>
          </a:p>
          <a:p>
            <a:r>
              <a:rPr lang="en-GB" sz="2800" dirty="0">
                <a:latin typeface="Times New Roman" panose="02020603050405020304" pitchFamily="18" charset="0"/>
                <a:cs typeface="Times New Roman" panose="02020603050405020304" pitchFamily="18" charset="0"/>
              </a:rPr>
              <a:t>View source references</a:t>
            </a:r>
          </a:p>
          <a:p>
            <a:r>
              <a:rPr lang="en-GB" sz="2800" dirty="0">
                <a:latin typeface="Times New Roman" panose="02020603050405020304" pitchFamily="18" charset="0"/>
                <a:cs typeface="Times New Roman" panose="02020603050405020304" pitchFamily="18" charset="0"/>
              </a:rPr>
              <a:t>Tier-based research depth (premium: 5 sources, free: 2 sources)</a:t>
            </a:r>
          </a:p>
        </p:txBody>
      </p:sp>
    </p:spTree>
    <p:extLst>
      <p:ext uri="{BB962C8B-B14F-4D97-AF65-F5344CB8AC3E}">
        <p14:creationId xmlns:p14="http://schemas.microsoft.com/office/powerpoint/2010/main" val="2516538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1107E-27E5-27B7-F8A1-E9991E05D439}"/>
              </a:ext>
            </a:extLst>
          </p:cNvPr>
          <p:cNvSpPr>
            <a:spLocks noGrp="1"/>
          </p:cNvSpPr>
          <p:nvPr>
            <p:ph type="title"/>
          </p:nvPr>
        </p:nvSpPr>
        <p:spPr>
          <a:xfrm>
            <a:off x="1346200" y="381000"/>
            <a:ext cx="14630400" cy="1524000"/>
          </a:xfrm>
        </p:spPr>
        <p:txBody>
          <a:bodyPr/>
          <a:lstStyle/>
          <a:p>
            <a:r>
              <a:rPr lang="en-US" sz="5400" b="1" u="sng" dirty="0">
                <a:latin typeface="Times New Roman" panose="02020603050405020304" pitchFamily="18" charset="0"/>
                <a:ea typeface="Calibri" pitchFamily="34" charset="-122"/>
                <a:cs typeface="Times New Roman" panose="02020603050405020304" pitchFamily="18" charset="0"/>
              </a:rPr>
              <a:t>Module 4: Question &amp; Timestamp Generator</a:t>
            </a:r>
            <a:r>
              <a:rPr lang="en-US" sz="5400" b="1" u="sng" dirty="0">
                <a:latin typeface="Calibri" pitchFamily="34" charset="0"/>
                <a:ea typeface="Calibri" pitchFamily="34" charset="-122"/>
                <a:cs typeface="Calibri" pitchFamily="34" charset="-120"/>
              </a:rPr>
              <a:t> </a:t>
            </a:r>
            <a:endParaRPr lang="en-US" sz="5400" u="sng" dirty="0"/>
          </a:p>
        </p:txBody>
      </p:sp>
      <p:sp>
        <p:nvSpPr>
          <p:cNvPr id="4" name="Slide Number Placeholder 3">
            <a:extLst>
              <a:ext uri="{FF2B5EF4-FFF2-40B4-BE49-F238E27FC236}">
                <a16:creationId xmlns:a16="http://schemas.microsoft.com/office/drawing/2014/main" id="{47C07392-7494-916B-5F5C-2BF11F594C59}"/>
              </a:ext>
            </a:extLst>
          </p:cNvPr>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Content Placeholder 2"/>
          <p:cNvSpPr>
            <a:spLocks noGrp="1"/>
          </p:cNvSpPr>
          <p:nvPr>
            <p:ph idx="1"/>
          </p:nvPr>
        </p:nvSpPr>
        <p:spPr>
          <a:xfrm>
            <a:off x="812800" y="1905000"/>
            <a:ext cx="14630400" cy="6034618"/>
          </a:xfrm>
        </p:spPr>
        <p:txBody>
          <a:bodyPr/>
          <a:lstStyle/>
          <a:p>
            <a:pPr marL="0" indent="0">
              <a:buNone/>
            </a:pPr>
            <a:r>
              <a:rPr lang="en-US" sz="2600" b="1" dirty="0">
                <a:latin typeface="Times New Roman" panose="02020603050405020304" pitchFamily="18" charset="0"/>
                <a:cs typeface="Times New Roman" panose="02020603050405020304" pitchFamily="18" charset="0"/>
              </a:rPr>
              <a:t>What the user does:</a:t>
            </a:r>
            <a:r>
              <a:rPr lang="en-US" sz="2600" dirty="0">
                <a:latin typeface="Times New Roman" panose="02020603050405020304" pitchFamily="18" charset="0"/>
                <a:cs typeface="Times New Roman" panose="02020603050405020304" pitchFamily="18" charset="0"/>
              </a:rPr>
              <a:t> Generates structured interview questions with time allocations.</a:t>
            </a:r>
          </a:p>
          <a:p>
            <a:pPr marL="0" indent="0">
              <a:buNone/>
            </a:pPr>
            <a:r>
              <a:rPr lang="en-US" sz="2600" b="1" dirty="0">
                <a:latin typeface="Times New Roman" panose="02020603050405020304" pitchFamily="18" charset="0"/>
                <a:cs typeface="Times New Roman" panose="02020603050405020304" pitchFamily="18" charset="0"/>
              </a:rPr>
              <a:t>Logical flow:</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User clicks "Generate Questions" (requires at least 1 bookmarked topic).</a:t>
            </a:r>
          </a:p>
          <a:p>
            <a:r>
              <a:rPr lang="en-US" sz="2600" dirty="0">
                <a:latin typeface="Times New Roman" panose="02020603050405020304" pitchFamily="18" charset="0"/>
                <a:cs typeface="Times New Roman" panose="02020603050405020304" pitchFamily="18" charset="0"/>
              </a:rPr>
              <a:t>AI creates 10–20 questions organized into Opening, Main, and Closing segments.</a:t>
            </a:r>
          </a:p>
          <a:p>
            <a:r>
              <a:rPr lang="en-US" sz="2600" dirty="0">
                <a:latin typeface="Times New Roman" panose="02020603050405020304" pitchFamily="18" charset="0"/>
                <a:cs typeface="Times New Roman" panose="02020603050405020304" pitchFamily="18" charset="0"/>
              </a:rPr>
              <a:t>User can edit, reorder (drag-and-drop), or add custom questions.</a:t>
            </a:r>
          </a:p>
          <a:p>
            <a:r>
              <a:rPr lang="en-US" sz="2600" dirty="0">
                <a:latin typeface="Times New Roman" panose="02020603050405020304" pitchFamily="18" charset="0"/>
                <a:cs typeface="Times New Roman" panose="02020603050405020304" pitchFamily="18" charset="0"/>
              </a:rPr>
              <a:t>User specifies total episode duration.</a:t>
            </a:r>
          </a:p>
          <a:p>
            <a:r>
              <a:rPr lang="en-US" sz="2600" dirty="0">
                <a:latin typeface="Times New Roman" panose="02020603050405020304" pitchFamily="18" charset="0"/>
                <a:cs typeface="Times New Roman" panose="02020603050405020304" pitchFamily="18" charset="0"/>
              </a:rPr>
              <a:t>System auto-generates timestamps (HH:MM:SS) for each segment.</a:t>
            </a:r>
          </a:p>
          <a:p>
            <a:r>
              <a:rPr lang="en-US" sz="2600" dirty="0">
                <a:latin typeface="Times New Roman" panose="02020603050405020304" pitchFamily="18" charset="0"/>
                <a:cs typeface="Times New Roman" panose="02020603050405020304" pitchFamily="18" charset="0"/>
              </a:rPr>
              <a:t>User can manually adjust timestamps or export to PDF/DOCX.</a:t>
            </a:r>
          </a:p>
          <a:p>
            <a:pPr marL="0" indent="0">
              <a:buNone/>
            </a:pPr>
            <a:r>
              <a:rPr lang="en-US" sz="2600" b="1" dirty="0">
                <a:latin typeface="Times New Roman" panose="02020603050405020304" pitchFamily="18" charset="0"/>
                <a:cs typeface="Times New Roman" panose="02020603050405020304" pitchFamily="18" charset="0"/>
              </a:rPr>
              <a:t>Major Features:</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Structured question generation (Opening / Main / Closing)</a:t>
            </a:r>
          </a:p>
          <a:p>
            <a:r>
              <a:rPr lang="en-US" sz="2600" dirty="0">
                <a:latin typeface="Times New Roman" panose="02020603050405020304" pitchFamily="18" charset="0"/>
                <a:cs typeface="Times New Roman" panose="02020603050405020304" pitchFamily="18" charset="0"/>
              </a:rPr>
              <a:t>Question count customization (5–30 for premium, max 8 for free)</a:t>
            </a:r>
          </a:p>
          <a:p>
            <a:r>
              <a:rPr lang="en-US" sz="2600" dirty="0">
                <a:latin typeface="Times New Roman" panose="02020603050405020304" pitchFamily="18" charset="0"/>
                <a:cs typeface="Times New Roman" panose="02020603050405020304" pitchFamily="18" charset="0"/>
              </a:rPr>
              <a:t>Drag-and-drop reordering</a:t>
            </a:r>
          </a:p>
          <a:p>
            <a:r>
              <a:rPr lang="en-US" sz="2600" dirty="0">
                <a:latin typeface="Times New Roman" panose="02020603050405020304" pitchFamily="18" charset="0"/>
                <a:cs typeface="Times New Roman" panose="02020603050405020304" pitchFamily="18" charset="0"/>
              </a:rPr>
              <a:t>Auto-timestamp allocation based on episode duration</a:t>
            </a:r>
          </a:p>
          <a:p>
            <a:r>
              <a:rPr lang="en-US" sz="2600" dirty="0">
                <a:latin typeface="Times New Roman" panose="02020603050405020304" pitchFamily="18" charset="0"/>
                <a:cs typeface="Times New Roman" panose="02020603050405020304" pitchFamily="18" charset="0"/>
              </a:rPr>
              <a:t>Shareable question sheet link for guest</a:t>
            </a:r>
          </a:p>
          <a:p>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0156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F4AEE-0033-7BA6-1697-202AC44375C0}"/>
              </a:ext>
            </a:extLst>
          </p:cNvPr>
          <p:cNvSpPr>
            <a:spLocks noGrp="1"/>
          </p:cNvSpPr>
          <p:nvPr>
            <p:ph type="title"/>
          </p:nvPr>
        </p:nvSpPr>
        <p:spPr>
          <a:xfrm>
            <a:off x="1803400" y="457200"/>
            <a:ext cx="13792200" cy="1524000"/>
          </a:xfrm>
        </p:spPr>
        <p:txBody>
          <a:bodyPr/>
          <a:lstStyle/>
          <a:p>
            <a:r>
              <a:rPr lang="en-US" sz="5400" b="1" u="sng" dirty="0">
                <a:latin typeface="Times New Roman" panose="02020603050405020304" pitchFamily="18" charset="0"/>
                <a:ea typeface="Calibri" pitchFamily="34" charset="-122"/>
                <a:cs typeface="Times New Roman" panose="02020603050405020304" pitchFamily="18" charset="0"/>
              </a:rPr>
              <a:t>Module 5: Hook &amp; Intro Suggestion Agent </a:t>
            </a:r>
            <a:endParaRPr lang="en-US" sz="5400" u="sng"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63CA08E-6E91-4FD1-1DD9-7096FCD7F03D}"/>
              </a:ext>
            </a:extLst>
          </p:cNvPr>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Content Placeholder 2"/>
          <p:cNvSpPr>
            <a:spLocks noGrp="1"/>
          </p:cNvSpPr>
          <p:nvPr>
            <p:ph idx="1"/>
          </p:nvPr>
        </p:nvSpPr>
        <p:spPr>
          <a:xfrm>
            <a:off x="736600" y="1923535"/>
            <a:ext cx="14630400" cy="6034618"/>
          </a:xfrm>
        </p:spPr>
        <p:txBody>
          <a:bodyPr/>
          <a:lstStyle/>
          <a:p>
            <a:pPr marL="0" indent="0">
              <a:buNone/>
            </a:pPr>
            <a:r>
              <a:rPr lang="en-GB" sz="2500" b="1" dirty="0">
                <a:latin typeface="Times New Roman" panose="02020603050405020304" pitchFamily="18" charset="0"/>
                <a:cs typeface="Times New Roman" panose="02020603050405020304" pitchFamily="18" charset="0"/>
              </a:rPr>
              <a:t>What the user does:</a:t>
            </a:r>
            <a:r>
              <a:rPr lang="en-GB" sz="2500" dirty="0">
                <a:latin typeface="Times New Roman" panose="02020603050405020304" pitchFamily="18" charset="0"/>
                <a:cs typeface="Times New Roman" panose="02020603050405020304" pitchFamily="18" charset="0"/>
              </a:rPr>
              <a:t> Generates and selects an engaging episode opening hook.</a:t>
            </a:r>
          </a:p>
          <a:p>
            <a:pPr marL="0" indent="0">
              <a:buNone/>
            </a:pPr>
            <a:r>
              <a:rPr lang="en-GB" sz="2500" b="1" dirty="0">
                <a:latin typeface="Times New Roman" panose="02020603050405020304" pitchFamily="18" charset="0"/>
                <a:cs typeface="Times New Roman" panose="02020603050405020304" pitchFamily="18" charset="0"/>
              </a:rPr>
              <a:t>Logical flow:</a:t>
            </a:r>
            <a:endParaRPr lang="en-GB" sz="2500" dirty="0">
              <a:latin typeface="Times New Roman" panose="02020603050405020304" pitchFamily="18" charset="0"/>
              <a:cs typeface="Times New Roman" panose="02020603050405020304" pitchFamily="18" charset="0"/>
            </a:endParaRPr>
          </a:p>
          <a:p>
            <a:r>
              <a:rPr lang="en-GB" sz="2500" dirty="0">
                <a:latin typeface="Times New Roman" panose="02020603050405020304" pitchFamily="18" charset="0"/>
                <a:cs typeface="Times New Roman" panose="02020603050405020304" pitchFamily="18" charset="0"/>
              </a:rPr>
              <a:t>User navigates to Hook &amp; Intro screen.</a:t>
            </a:r>
          </a:p>
          <a:p>
            <a:r>
              <a:rPr lang="en-GB" sz="2500" dirty="0">
                <a:latin typeface="Times New Roman" panose="02020603050405020304" pitchFamily="18" charset="0"/>
                <a:cs typeface="Times New Roman" panose="02020603050405020304" pitchFamily="18" charset="0"/>
              </a:rPr>
              <a:t>User selects preferred tone (Dramatic, Curious, Humorous, Inspirational).</a:t>
            </a:r>
          </a:p>
          <a:p>
            <a:r>
              <a:rPr lang="en-GB" sz="2500" dirty="0">
                <a:latin typeface="Times New Roman" panose="02020603050405020304" pitchFamily="18" charset="0"/>
                <a:cs typeface="Times New Roman" panose="02020603050405020304" pitchFamily="18" charset="0"/>
              </a:rPr>
              <a:t>User clicks "Generate Hooks" — AI produces 3–5 distinct hook variants.</a:t>
            </a:r>
          </a:p>
          <a:p>
            <a:r>
              <a:rPr lang="en-GB" sz="2500" dirty="0">
                <a:latin typeface="Times New Roman" panose="02020603050405020304" pitchFamily="18" charset="0"/>
                <a:cs typeface="Times New Roman" panose="02020603050405020304" pitchFamily="18" charset="0"/>
              </a:rPr>
              <a:t>User reviews each variant (word count and style displayed).</a:t>
            </a:r>
          </a:p>
          <a:p>
            <a:r>
              <a:rPr lang="en-GB" sz="2500" dirty="0">
                <a:latin typeface="Times New Roman" panose="02020603050405020304" pitchFamily="18" charset="0"/>
                <a:cs typeface="Times New Roman" panose="02020603050405020304" pitchFamily="18" charset="0"/>
              </a:rPr>
              <a:t>User selects one hook to save to episode draft.</a:t>
            </a:r>
          </a:p>
          <a:p>
            <a:r>
              <a:rPr lang="en-GB" sz="2500" dirty="0">
                <a:latin typeface="Times New Roman" panose="02020603050405020304" pitchFamily="18" charset="0"/>
                <a:cs typeface="Times New Roman" panose="02020603050405020304" pitchFamily="18" charset="0"/>
              </a:rPr>
              <a:t>User can preview hook read-aloud or export as standalone script.</a:t>
            </a:r>
          </a:p>
          <a:p>
            <a:pPr marL="0" indent="0">
              <a:buNone/>
            </a:pPr>
            <a:r>
              <a:rPr lang="en-GB" sz="2500" b="1" dirty="0">
                <a:latin typeface="Times New Roman" panose="02020603050405020304" pitchFamily="18" charset="0"/>
                <a:cs typeface="Times New Roman" panose="02020603050405020304" pitchFamily="18" charset="0"/>
              </a:rPr>
              <a:t>Major Features:</a:t>
            </a:r>
            <a:endParaRPr lang="en-GB" sz="2500" dirty="0">
              <a:latin typeface="Times New Roman" panose="02020603050405020304" pitchFamily="18" charset="0"/>
              <a:cs typeface="Times New Roman" panose="02020603050405020304" pitchFamily="18" charset="0"/>
            </a:endParaRPr>
          </a:p>
          <a:p>
            <a:r>
              <a:rPr lang="en-GB" sz="2500" dirty="0">
                <a:latin typeface="Times New Roman" panose="02020603050405020304" pitchFamily="18" charset="0"/>
                <a:cs typeface="Times New Roman" panose="02020603050405020304" pitchFamily="18" charset="0"/>
              </a:rPr>
              <a:t>Generate 3–5 hook variants per request</a:t>
            </a:r>
          </a:p>
          <a:p>
            <a:r>
              <a:rPr lang="en-GB" sz="2500" dirty="0">
                <a:latin typeface="Times New Roman" panose="02020603050405020304" pitchFamily="18" charset="0"/>
                <a:cs typeface="Times New Roman" panose="02020603050405020304" pitchFamily="18" charset="0"/>
              </a:rPr>
              <a:t>Tone customization (4 options)</a:t>
            </a:r>
          </a:p>
          <a:p>
            <a:r>
              <a:rPr lang="en-GB" sz="2500" dirty="0">
                <a:latin typeface="Times New Roman" panose="02020603050405020304" pitchFamily="18" charset="0"/>
                <a:cs typeface="Times New Roman" panose="02020603050405020304" pitchFamily="18" charset="0"/>
              </a:rPr>
              <a:t>Hook length compliance (30–120 words)</a:t>
            </a:r>
          </a:p>
          <a:p>
            <a:r>
              <a:rPr lang="en-GB" sz="2500" dirty="0">
                <a:latin typeface="Times New Roman" panose="02020603050405020304" pitchFamily="18" charset="0"/>
                <a:cs typeface="Times New Roman" panose="02020603050405020304" pitchFamily="18" charset="0"/>
              </a:rPr>
              <a:t>Individual hook regeneration</a:t>
            </a:r>
          </a:p>
          <a:p>
            <a:r>
              <a:rPr lang="en-GB" sz="2500" dirty="0">
                <a:latin typeface="Times New Roman" panose="02020603050405020304" pitchFamily="18" charset="0"/>
                <a:cs typeface="Times New Roman" panose="02020603050405020304" pitchFamily="18" charset="0"/>
              </a:rPr>
              <a:t>Read-aloud preview feature</a:t>
            </a:r>
          </a:p>
          <a:p>
            <a:r>
              <a:rPr lang="en-GB" sz="2500" dirty="0">
                <a:latin typeface="Times New Roman" panose="02020603050405020304" pitchFamily="18" charset="0"/>
                <a:cs typeface="Times New Roman" panose="02020603050405020304" pitchFamily="18" charset="0"/>
              </a:rPr>
              <a:t>Export as plain-text script</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5591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300DE-E850-3B3F-3B60-EDBADCED8551}"/>
              </a:ext>
            </a:extLst>
          </p:cNvPr>
          <p:cNvSpPr>
            <a:spLocks noGrp="1"/>
          </p:cNvSpPr>
          <p:nvPr>
            <p:ph type="title"/>
          </p:nvPr>
        </p:nvSpPr>
        <p:spPr>
          <a:xfrm>
            <a:off x="1422400" y="533400"/>
            <a:ext cx="14630400" cy="1524000"/>
          </a:xfrm>
        </p:spPr>
        <p:txBody>
          <a:bodyPr/>
          <a:lstStyle/>
          <a:p>
            <a:r>
              <a:rPr lang="en-US" sz="5400" b="1" u="sng" dirty="0">
                <a:latin typeface="Times New Roman" panose="02020603050405020304" pitchFamily="18" charset="0"/>
                <a:ea typeface="Calibri" pitchFamily="34" charset="-122"/>
                <a:cs typeface="Times New Roman" panose="02020603050405020304" pitchFamily="18" charset="0"/>
              </a:rPr>
              <a:t>Module 6: Episode Outline Planner </a:t>
            </a:r>
            <a:endParaRPr lang="en-US" sz="5400" u="sng"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0DBC00E-03BF-691D-615C-BBF848DA20C9}"/>
              </a:ext>
            </a:extLst>
          </p:cNvPr>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Content Placeholder 2"/>
          <p:cNvSpPr>
            <a:spLocks noGrp="1"/>
          </p:cNvSpPr>
          <p:nvPr>
            <p:ph idx="1"/>
          </p:nvPr>
        </p:nvSpPr>
        <p:spPr/>
        <p:txBody>
          <a:bodyPr/>
          <a:lstStyle/>
          <a:p>
            <a:pPr marL="0" indent="0">
              <a:buNone/>
            </a:pPr>
            <a:r>
              <a:rPr lang="en-GB" sz="2400" b="1" dirty="0">
                <a:latin typeface="Times New Roman" panose="02020603050405020304" pitchFamily="18" charset="0"/>
                <a:cs typeface="Times New Roman" panose="02020603050405020304" pitchFamily="18" charset="0"/>
              </a:rPr>
              <a:t>What the user does:</a:t>
            </a:r>
            <a:r>
              <a:rPr lang="en-GB" sz="2400" dirty="0">
                <a:latin typeface="Times New Roman" panose="02020603050405020304" pitchFamily="18" charset="0"/>
                <a:cs typeface="Times New Roman" panose="02020603050405020304" pitchFamily="18" charset="0"/>
              </a:rPr>
              <a:t> Combines all outputs into a complete, exportable episode plan.</a:t>
            </a:r>
          </a:p>
          <a:p>
            <a:pPr marL="0" indent="0">
              <a:buNone/>
            </a:pPr>
            <a:r>
              <a:rPr lang="en-GB" sz="2400" b="1" dirty="0">
                <a:latin typeface="Times New Roman" panose="02020603050405020304" pitchFamily="18" charset="0"/>
                <a:cs typeface="Times New Roman" panose="02020603050405020304" pitchFamily="18" charset="0"/>
              </a:rPr>
              <a:t>Logical flow:</a:t>
            </a:r>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User clicks "Build Outline" after completing questions, timestamps, and hook selection.</a:t>
            </a:r>
          </a:p>
          <a:p>
            <a:r>
              <a:rPr lang="en-GB" sz="2400" dirty="0">
                <a:latin typeface="Times New Roman" panose="02020603050405020304" pitchFamily="18" charset="0"/>
                <a:cs typeface="Times New Roman" panose="02020603050405020304" pitchFamily="18" charset="0"/>
              </a:rPr>
              <a:t>AI synthesizes research topics, questions, timestamps, and selected hook into structured outline.</a:t>
            </a:r>
          </a:p>
          <a:p>
            <a:r>
              <a:rPr lang="en-GB" sz="2400" dirty="0">
                <a:latin typeface="Times New Roman" panose="02020603050405020304" pitchFamily="18" charset="0"/>
                <a:cs typeface="Times New Roman" panose="02020603050405020304" pitchFamily="18" charset="0"/>
              </a:rPr>
              <a:t>Outline is organized into Intro → Main Segments → Outro.</a:t>
            </a:r>
          </a:p>
          <a:p>
            <a:r>
              <a:rPr lang="en-GB" sz="2400" dirty="0">
                <a:latin typeface="Times New Roman" panose="02020603050405020304" pitchFamily="18" charset="0"/>
                <a:cs typeface="Times New Roman" panose="02020603050405020304" pitchFamily="18" charset="0"/>
              </a:rPr>
              <a:t>User can edit sections, reorder, add custom sections, or apply a template (Interview / Solo / Panel).</a:t>
            </a:r>
          </a:p>
          <a:p>
            <a:r>
              <a:rPr lang="en-GB" sz="2400" dirty="0">
                <a:latin typeface="Times New Roman" panose="02020603050405020304" pitchFamily="18" charset="0"/>
                <a:cs typeface="Times New Roman" panose="02020603050405020304" pitchFamily="18" charset="0"/>
              </a:rPr>
              <a:t>User approves outline and exports as PDF, DOCX, or Markdown (Notion-compatible).</a:t>
            </a:r>
          </a:p>
          <a:p>
            <a:pPr marL="0" indent="0">
              <a:buNone/>
            </a:pPr>
            <a:r>
              <a:rPr lang="en-GB" sz="2400" b="1" dirty="0">
                <a:latin typeface="Times New Roman" panose="02020603050405020304" pitchFamily="18" charset="0"/>
                <a:cs typeface="Times New Roman" panose="02020603050405020304" pitchFamily="18" charset="0"/>
              </a:rPr>
              <a:t>Major Features:</a:t>
            </a:r>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Full outline synthesis from all prior modules</a:t>
            </a:r>
          </a:p>
          <a:p>
            <a:r>
              <a:rPr lang="en-GB" sz="2400" dirty="0">
                <a:latin typeface="Times New Roman" panose="02020603050405020304" pitchFamily="18" charset="0"/>
                <a:cs typeface="Times New Roman" panose="02020603050405020304" pitchFamily="18" charset="0"/>
              </a:rPr>
              <a:t>Section editing &amp; reordering (drag-and-drop)</a:t>
            </a:r>
          </a:p>
          <a:p>
            <a:r>
              <a:rPr lang="en-GB" sz="2400" dirty="0">
                <a:latin typeface="Times New Roman" panose="02020603050405020304" pitchFamily="18" charset="0"/>
                <a:cs typeface="Times New Roman" panose="02020603050405020304" pitchFamily="18" charset="0"/>
              </a:rPr>
              <a:t>Custom section addition</a:t>
            </a:r>
          </a:p>
          <a:p>
            <a:r>
              <a:rPr lang="en-GB" sz="2400" dirty="0">
                <a:latin typeface="Times New Roman" panose="02020603050405020304" pitchFamily="18" charset="0"/>
                <a:cs typeface="Times New Roman" panose="02020603050405020304" pitchFamily="18" charset="0"/>
              </a:rPr>
              <a:t>3 outline templates (Interview, Solo Episode, Panel Discussion)</a:t>
            </a:r>
          </a:p>
          <a:p>
            <a:r>
              <a:rPr lang="en-GB" sz="2400" dirty="0">
                <a:latin typeface="Times New Roman" panose="02020603050405020304" pitchFamily="18" charset="0"/>
                <a:cs typeface="Times New Roman" panose="02020603050405020304" pitchFamily="18" charset="0"/>
              </a:rPr>
              <a:t>Multi-format export (PDF, DOCX, Markdown)</a:t>
            </a:r>
          </a:p>
          <a:p>
            <a:r>
              <a:rPr lang="en-GB" sz="2400" dirty="0">
                <a:latin typeface="Times New Roman" panose="02020603050405020304" pitchFamily="18" charset="0"/>
                <a:cs typeface="Times New Roman" panose="02020603050405020304" pitchFamily="18" charset="0"/>
              </a:rPr>
              <a:t>Team sharing (production team users)</a:t>
            </a:r>
          </a:p>
          <a:p>
            <a:r>
              <a:rPr lang="en-GB" sz="2400" dirty="0">
                <a:latin typeface="Times New Roman" panose="02020603050405020304" pitchFamily="18" charset="0"/>
                <a:cs typeface="Times New Roman" panose="02020603050405020304" pitchFamily="18" charset="0"/>
              </a:rPr>
              <a:t>Auto-save every 30 seconds</a:t>
            </a:r>
          </a:p>
        </p:txBody>
      </p:sp>
    </p:spTree>
    <p:extLst>
      <p:ext uri="{BB962C8B-B14F-4D97-AF65-F5344CB8AC3E}">
        <p14:creationId xmlns:p14="http://schemas.microsoft.com/office/powerpoint/2010/main" val="459386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System Limitations/Constraints</a:t>
            </a:r>
            <a:r>
              <a:rPr lang="en-US" b="1" dirty="0"/>
              <a:t/>
            </a:r>
            <a:br>
              <a:rPr lang="en-US" b="1" dirty="0"/>
            </a:b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1422400" y="2129081"/>
            <a:ext cx="144780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b="1" dirty="0">
                <a:solidFill>
                  <a:schemeClr val="tx1"/>
                </a:solidFill>
                <a:latin typeface="Times New Roman" panose="02020603050405020304" pitchFamily="18" charset="0"/>
                <a:ea typeface="Geist" pitchFamily="34" charset="-122"/>
                <a:cs typeface="Times New Roman" panose="02020603050405020304" pitchFamily="18" charset="0"/>
              </a:rPr>
              <a:t>LI-1</a:t>
            </a:r>
          </a:p>
          <a:p>
            <a:pPr marL="457200" indent="-457200" algn="l">
              <a:buFont typeface="Arial" panose="020B0604020202020204" pitchFamily="34" charset="0"/>
              <a:buChar char="•"/>
            </a:pPr>
            <a:r>
              <a:rPr lang="en-US" dirty="0">
                <a:solidFill>
                  <a:schemeClr val="tx1"/>
                </a:solidFill>
                <a:latin typeface="Times New Roman" panose="02020603050405020304" pitchFamily="18" charset="0"/>
                <a:ea typeface="Geist" pitchFamily="34" charset="-122"/>
                <a:cs typeface="Times New Roman" panose="02020603050405020304" pitchFamily="18" charset="0"/>
              </a:rPr>
              <a:t>Depends on active internet connectivity.</a:t>
            </a:r>
          </a:p>
          <a:p>
            <a:pPr algn="l"/>
            <a:r>
              <a:rPr lang="en-US" b="1" dirty="0">
                <a:solidFill>
                  <a:schemeClr val="tx1"/>
                </a:solidFill>
                <a:latin typeface="Times New Roman" panose="02020603050405020304" pitchFamily="18" charset="0"/>
                <a:ea typeface="Geist" pitchFamily="34" charset="-122"/>
                <a:cs typeface="Times New Roman" panose="02020603050405020304" pitchFamily="18" charset="0"/>
              </a:rPr>
              <a:t>LI-2</a:t>
            </a:r>
          </a:p>
          <a:p>
            <a:pPr marL="457200" indent="-457200" algn="l">
              <a:buFont typeface="Arial" panose="020B0604020202020204" pitchFamily="34" charset="0"/>
              <a:buChar char="•"/>
            </a:pPr>
            <a:r>
              <a:rPr lang="en-US" dirty="0">
                <a:solidFill>
                  <a:schemeClr val="tx1"/>
                </a:solidFill>
                <a:latin typeface="Times New Roman" panose="02020603050405020304" pitchFamily="18" charset="0"/>
                <a:ea typeface="Geist" pitchFamily="34" charset="-122"/>
                <a:cs typeface="Times New Roman" panose="02020603050405020304" pitchFamily="18" charset="0"/>
              </a:rPr>
              <a:t>AI content may require manual review for accuracy.</a:t>
            </a:r>
            <a:endParaRPr lang="en-US" dirty="0">
              <a:solidFill>
                <a:schemeClr val="tx1"/>
              </a:solidFill>
              <a:latin typeface="Times New Roman" panose="02020603050405020304" pitchFamily="18" charset="0"/>
              <a:cs typeface="Times New Roman" panose="02020603050405020304" pitchFamily="18" charset="0"/>
            </a:endParaRPr>
          </a:p>
          <a:p>
            <a:pPr algn="l"/>
            <a:r>
              <a:rPr lang="en-US" b="1" dirty="0">
                <a:solidFill>
                  <a:schemeClr val="tx1"/>
                </a:solidFill>
                <a:latin typeface="Times New Roman" panose="02020603050405020304" pitchFamily="18" charset="0"/>
                <a:cs typeface="Times New Roman" panose="02020603050405020304" pitchFamily="18" charset="0"/>
              </a:rPr>
              <a:t>LI-3</a:t>
            </a:r>
          </a:p>
          <a:p>
            <a:pPr marL="457200" indent="-457200" algn="l">
              <a:buFont typeface="Arial" panose="020B0604020202020204" pitchFamily="34" charset="0"/>
              <a:buChar char="•"/>
            </a:pPr>
            <a:r>
              <a:rPr lang="en-US" dirty="0">
                <a:solidFill>
                  <a:schemeClr val="tx1"/>
                </a:solidFill>
                <a:latin typeface="Times New Roman" panose="02020603050405020304" pitchFamily="18" charset="0"/>
                <a:ea typeface="Geist" pitchFamily="34" charset="-122"/>
                <a:cs typeface="Times New Roman" panose="02020603050405020304" pitchFamily="18" charset="0"/>
              </a:rPr>
              <a:t>No support for audio recording or editing.</a:t>
            </a:r>
            <a:endParaRPr lang="en-US" dirty="0">
              <a:solidFill>
                <a:schemeClr val="tx1"/>
              </a:solidFill>
              <a:latin typeface="Times New Roman" panose="02020603050405020304" pitchFamily="18" charset="0"/>
              <a:cs typeface="Times New Roman" panose="02020603050405020304" pitchFamily="18" charset="0"/>
            </a:endParaRPr>
          </a:p>
          <a:p>
            <a:pPr algn="l"/>
            <a:r>
              <a:rPr lang="en-US" b="1" dirty="0">
                <a:solidFill>
                  <a:schemeClr val="tx1"/>
                </a:solidFill>
                <a:latin typeface="Times New Roman" panose="02020603050405020304" pitchFamily="18" charset="0"/>
                <a:cs typeface="Times New Roman" panose="02020603050405020304" pitchFamily="18" charset="0"/>
              </a:rPr>
              <a:t>LI-4</a:t>
            </a:r>
          </a:p>
          <a:p>
            <a:pPr marL="457200" indent="-457200" algn="l">
              <a:buFont typeface="Arial" panose="020B0604020202020204" pitchFamily="34" charset="0"/>
              <a:buChar char="•"/>
            </a:pPr>
            <a:r>
              <a:rPr lang="en-US" dirty="0">
                <a:solidFill>
                  <a:schemeClr val="tx1"/>
                </a:solidFill>
                <a:latin typeface="Times New Roman" panose="02020603050405020304" pitchFamily="18" charset="0"/>
                <a:ea typeface="Geist" pitchFamily="34" charset="-122"/>
                <a:cs typeface="Times New Roman" panose="02020603050405020304" pitchFamily="18" charset="0"/>
              </a:rPr>
              <a:t>Performance varies based on device and network speed.</a:t>
            </a:r>
            <a:endParaRPr lang="en-US" dirty="0">
              <a:solidFill>
                <a:schemeClr val="tx1"/>
              </a:solidFill>
              <a:latin typeface="Times New Roman" panose="02020603050405020304" pitchFamily="18" charset="0"/>
              <a:cs typeface="Times New Roman" panose="02020603050405020304" pitchFamily="18" charset="0"/>
            </a:endParaRPr>
          </a:p>
          <a:p>
            <a:pPr algn="l"/>
            <a:endParaRPr lang="en-US" dirty="0">
              <a:solidFill>
                <a:schemeClr val="tx1"/>
              </a:solidFill>
              <a:latin typeface="Times New Roman" panose="02020603050405020304" pitchFamily="18" charset="0"/>
              <a:cs typeface="Times New Roman" panose="02020603050405020304" pitchFamily="18" charset="0"/>
            </a:endParaRPr>
          </a:p>
          <a:p>
            <a:pPr algn="l"/>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19</a:t>
            </a:fld>
            <a:endParaRPr lang="en-US" dirty="0">
              <a:solidFill>
                <a:prstClr val="white"/>
              </a:solidFill>
              <a:latin typeface="Calibri"/>
            </a:endParaRPr>
          </a:p>
        </p:txBody>
      </p:sp>
    </p:spTree>
    <p:extLst>
      <p:ext uri="{BB962C8B-B14F-4D97-AF65-F5344CB8AC3E}">
        <p14:creationId xmlns:p14="http://schemas.microsoft.com/office/powerpoint/2010/main" val="1220778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Software Process Methodology</a:t>
            </a:r>
            <a:r>
              <a:rPr lang="en-US" b="1" u="sng" dirty="0"/>
              <a:t/>
            </a:r>
            <a:br>
              <a:rPr lang="en-US" b="1" u="sng" dirty="0"/>
            </a:br>
            <a:r>
              <a:rPr lang="en-US" b="1" dirty="0"/>
              <a:t/>
            </a:r>
            <a:br>
              <a:rPr lang="en-US" b="1" dirty="0"/>
            </a:b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1041400" y="2436987"/>
            <a:ext cx="143256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lvl="0" algn="just" eaLnBrk="0" fontAlgn="base" hangingPunct="0">
              <a:spcBef>
                <a:spcPct val="0"/>
              </a:spcBef>
              <a:spcAft>
                <a:spcPct val="0"/>
              </a:spcAft>
            </a:pPr>
            <a:r>
              <a:rPr lang="en-US" altLang="en-US" b="1" u="sng" dirty="0">
                <a:solidFill>
                  <a:schemeClr val="tx1"/>
                </a:solidFill>
                <a:latin typeface="Times New Roman" panose="02020603050405020304" pitchFamily="18" charset="0"/>
                <a:cs typeface="Times New Roman" panose="02020603050405020304" pitchFamily="18" charset="0"/>
              </a:rPr>
              <a:t>Process Methodology: </a:t>
            </a:r>
            <a:r>
              <a:rPr lang="en-US" altLang="en-US" b="1" dirty="0">
                <a:solidFill>
                  <a:schemeClr val="tx1"/>
                </a:solidFill>
                <a:latin typeface="Times New Roman" panose="02020603050405020304" pitchFamily="18" charset="0"/>
                <a:cs typeface="Times New Roman" panose="02020603050405020304" pitchFamily="18" charset="0"/>
              </a:rPr>
              <a:t>Incremental Development Model</a:t>
            </a:r>
            <a:endParaRPr lang="en-US" altLang="en-US"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b="1" dirty="0">
                <a:solidFill>
                  <a:schemeClr val="tx1"/>
                </a:solidFill>
                <a:latin typeface="Times New Roman" panose="02020603050405020304" pitchFamily="18" charset="0"/>
                <a:cs typeface="Times New Roman" panose="02020603050405020304" pitchFamily="18" charset="0"/>
              </a:rPr>
              <a:t>Reason:</a:t>
            </a:r>
            <a:r>
              <a:rPr lang="en-US" altLang="en-US" dirty="0">
                <a:solidFill>
                  <a:schemeClr val="tx1"/>
                </a:solidFill>
                <a:latin typeface="Times New Roman" panose="02020603050405020304" pitchFamily="18" charset="0"/>
                <a:cs typeface="Times New Roman" panose="02020603050405020304" pitchFamily="18" charset="0"/>
              </a:rPr>
              <a:t> Since </a:t>
            </a:r>
            <a:r>
              <a:rPr lang="en-US" altLang="en-US" dirty="0" err="1">
                <a:solidFill>
                  <a:schemeClr val="tx1"/>
                </a:solidFill>
                <a:latin typeface="Times New Roman" panose="02020603050405020304" pitchFamily="18" charset="0"/>
                <a:cs typeface="Times New Roman" panose="02020603050405020304" pitchFamily="18" charset="0"/>
              </a:rPr>
              <a:t>PodCraft</a:t>
            </a:r>
            <a:r>
              <a:rPr lang="en-US" altLang="en-US" dirty="0">
                <a:solidFill>
                  <a:schemeClr val="tx1"/>
                </a:solidFill>
                <a:latin typeface="Times New Roman" panose="02020603050405020304" pitchFamily="18" charset="0"/>
                <a:cs typeface="Times New Roman" panose="02020603050405020304" pitchFamily="18" charset="0"/>
              </a:rPr>
              <a:t> involves complex AI agent interactions, an incremental approach allows us to develop and test one agent (e.g., the Researcher) before moving to the next (e.g., the Scriptwriter). This ensures core functionality is stable before adding complexity.</a:t>
            </a:r>
          </a:p>
          <a:p>
            <a:pPr algn="just" eaLnBrk="0" fontAlgn="base" hangingPunct="0">
              <a:spcBef>
                <a:spcPct val="0"/>
              </a:spcBef>
              <a:spcAft>
                <a:spcPct val="0"/>
              </a:spcAft>
            </a:pPr>
            <a:r>
              <a:rPr lang="en-US" b="1" u="sng" dirty="0">
                <a:solidFill>
                  <a:schemeClr val="tx1"/>
                </a:solidFill>
                <a:latin typeface="Times New Roman" panose="02020603050405020304" pitchFamily="18" charset="0"/>
                <a:cs typeface="Times New Roman" panose="02020603050405020304" pitchFamily="18" charset="0"/>
              </a:rPr>
              <a:t>Design Methodology: </a:t>
            </a:r>
            <a:r>
              <a:rPr lang="en-US" b="1" dirty="0">
                <a:solidFill>
                  <a:schemeClr val="tx1"/>
                </a:solidFill>
                <a:latin typeface="Times New Roman" panose="02020603050405020304" pitchFamily="18" charset="0"/>
                <a:cs typeface="Times New Roman" panose="02020603050405020304" pitchFamily="18" charset="0"/>
              </a:rPr>
              <a:t>Object-Oriented Design (OOD)</a:t>
            </a:r>
          </a:p>
          <a:p>
            <a:pPr algn="just" eaLnBrk="0" fontAlgn="base" hangingPunct="0">
              <a:spcBef>
                <a:spcPct val="0"/>
              </a:spcBef>
              <a:spcAft>
                <a:spcPct val="0"/>
              </a:spcAft>
            </a:pPr>
            <a:r>
              <a:rPr lang="en-US" altLang="en-US" b="1" dirty="0">
                <a:solidFill>
                  <a:schemeClr val="tx1"/>
                </a:solidFill>
                <a:latin typeface="Times New Roman" panose="02020603050405020304" pitchFamily="18" charset="0"/>
                <a:cs typeface="Times New Roman" panose="02020603050405020304" pitchFamily="18" charset="0"/>
              </a:rPr>
              <a:t>Reason:</a:t>
            </a:r>
            <a:r>
              <a:rPr lang="en-US" altLang="en-US"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We are using an Agentic framework where each AI Agent is treated as an autonomous "Object" with its own properties (tools, memory, role). OOD allows us to manage these interactions cleanly and scale the system easily.</a:t>
            </a:r>
            <a:endParaRPr lang="en-US" altLang="en-US"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endParaRPr lang="en-US" dirty="0">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dirty="0">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20</a:t>
            </a:fld>
            <a:endParaRPr lang="en-US" dirty="0">
              <a:solidFill>
                <a:prstClr val="white"/>
              </a:solidFill>
              <a:latin typeface="Calibri"/>
            </a:endParaRPr>
          </a:p>
        </p:txBody>
      </p:sp>
    </p:spTree>
    <p:extLst>
      <p:ext uri="{BB962C8B-B14F-4D97-AF65-F5344CB8AC3E}">
        <p14:creationId xmlns:p14="http://schemas.microsoft.com/office/powerpoint/2010/main" val="186009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413000" y="262303"/>
            <a:ext cx="12374880" cy="1143000"/>
          </a:xfrm>
        </p:spPr>
        <p:txBody>
          <a:bodyPr/>
          <a:lstStyle/>
          <a:p>
            <a:r>
              <a:rPr lang="en-US" sz="6600" b="1" u="sng" dirty="0">
                <a:latin typeface="Times New Roman" panose="02020603050405020304" pitchFamily="18" charset="0"/>
                <a:cs typeface="Times New Roman" panose="02020603050405020304" pitchFamily="18" charset="0"/>
              </a:rPr>
              <a:t>Tools and Technologies</a:t>
            </a:r>
            <a:r>
              <a:rPr lang="en-US" sz="6600" b="1" u="sng" dirty="0"/>
              <a:t/>
            </a:r>
            <a:br>
              <a:rPr lang="en-US" sz="6600" b="1" u="sng" dirty="0"/>
            </a:br>
            <a:r>
              <a:rPr lang="en-US" sz="6600" b="1" dirty="0"/>
              <a:t/>
            </a:r>
            <a:br>
              <a:rPr lang="en-US" sz="6600" b="1" dirty="0"/>
            </a:br>
            <a:r>
              <a:rPr lang="en-US" sz="6600" b="1" dirty="0"/>
              <a:t/>
            </a:r>
            <a:br>
              <a:rPr lang="en-US" sz="6600" b="1" dirty="0"/>
            </a:br>
            <a:r>
              <a:rPr lang="en-US" sz="6600" b="1" dirty="0"/>
              <a:t/>
            </a:r>
            <a:br>
              <a:rPr lang="en-US" sz="6600" b="1" dirty="0"/>
            </a:br>
            <a:endParaRPr lang="en-US" sz="6600" b="1" dirty="0"/>
          </a:p>
        </p:txBody>
      </p:sp>
      <p:sp>
        <p:nvSpPr>
          <p:cNvPr id="3" name="Content Placeholder 2"/>
          <p:cNvSpPr txBox="1">
            <a:spLocks/>
          </p:cNvSpPr>
          <p:nvPr/>
        </p:nvSpPr>
        <p:spPr>
          <a:xfrm>
            <a:off x="355600" y="2129081"/>
            <a:ext cx="155448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marR="0" lvl="0" indent="-457200" algn="just"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3000" b="0"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p:cNvGraphicFramePr>
            <a:graphicFrameLocks noGrp="1"/>
          </p:cNvGraphicFramePr>
          <p:nvPr/>
        </p:nvGraphicFramePr>
        <p:xfrm>
          <a:off x="1117600" y="2433638"/>
          <a:ext cx="13944600" cy="6055225"/>
        </p:xfrm>
        <a:graphic>
          <a:graphicData uri="http://schemas.openxmlformats.org/drawingml/2006/table">
            <a:tbl>
              <a:tblPr firstRow="1" bandRow="1">
                <a:tableStyleId>{5C22544A-7EE6-4342-B048-85BDC9FD1C3A}</a:tableStyleId>
              </a:tblPr>
              <a:tblGrid>
                <a:gridCol w="4648200">
                  <a:extLst>
                    <a:ext uri="{9D8B030D-6E8A-4147-A177-3AD203B41FA5}">
                      <a16:colId xmlns:a16="http://schemas.microsoft.com/office/drawing/2014/main" val="1268838856"/>
                    </a:ext>
                  </a:extLst>
                </a:gridCol>
                <a:gridCol w="4648200">
                  <a:extLst>
                    <a:ext uri="{9D8B030D-6E8A-4147-A177-3AD203B41FA5}">
                      <a16:colId xmlns:a16="http://schemas.microsoft.com/office/drawing/2014/main" val="2077626467"/>
                    </a:ext>
                  </a:extLst>
                </a:gridCol>
                <a:gridCol w="4648200">
                  <a:extLst>
                    <a:ext uri="{9D8B030D-6E8A-4147-A177-3AD203B41FA5}">
                      <a16:colId xmlns:a16="http://schemas.microsoft.com/office/drawing/2014/main" val="3410588143"/>
                    </a:ext>
                  </a:extLst>
                </a:gridCol>
              </a:tblGrid>
              <a:tr h="339771">
                <a:tc>
                  <a:txBody>
                    <a:bodyPr/>
                    <a:lstStyle/>
                    <a:p>
                      <a:r>
                        <a:rPr lang="en-US" dirty="0">
                          <a:latin typeface="Times New Roman" panose="02020603050405020304" pitchFamily="18" charset="0"/>
                          <a:cs typeface="Times New Roman" panose="02020603050405020304" pitchFamily="18" charset="0"/>
                        </a:rPr>
                        <a:t>Tools</a:t>
                      </a:r>
                    </a:p>
                  </a:txBody>
                  <a:tcPr/>
                </a:tc>
                <a:tc>
                  <a:txBody>
                    <a:bodyPr/>
                    <a:lstStyle/>
                    <a:p>
                      <a:r>
                        <a:rPr lang="en-US" dirty="0">
                          <a:latin typeface="Times New Roman" panose="02020603050405020304" pitchFamily="18" charset="0"/>
                          <a:cs typeface="Times New Roman" panose="02020603050405020304" pitchFamily="18" charset="0"/>
                        </a:rPr>
                        <a:t>Versions</a:t>
                      </a:r>
                    </a:p>
                  </a:txBody>
                  <a:tcPr/>
                </a:tc>
                <a:tc>
                  <a:txBody>
                    <a:bodyPr/>
                    <a:lstStyle/>
                    <a:p>
                      <a:r>
                        <a:rPr lang="en-US" dirty="0">
                          <a:latin typeface="Times New Roman" panose="02020603050405020304" pitchFamily="18" charset="0"/>
                          <a:cs typeface="Times New Roman" panose="02020603050405020304" pitchFamily="18" charset="0"/>
                        </a:rPr>
                        <a:t>Rationale</a:t>
                      </a:r>
                    </a:p>
                  </a:txBody>
                  <a:tcPr/>
                </a:tc>
                <a:extLst>
                  <a:ext uri="{0D108BD9-81ED-4DB2-BD59-A6C34878D82A}">
                    <a16:rowId xmlns:a16="http://schemas.microsoft.com/office/drawing/2014/main" val="1014312084"/>
                  </a:ext>
                </a:extLst>
              </a:tr>
              <a:tr h="566030">
                <a:tc>
                  <a:txBody>
                    <a:bodyPr/>
                    <a:lstStyle/>
                    <a:p>
                      <a:r>
                        <a:rPr lang="en-US" sz="2400" dirty="0">
                          <a:solidFill>
                            <a:schemeClr val="tx1"/>
                          </a:solidFill>
                          <a:latin typeface="Times New Roman" panose="02020603050405020304" pitchFamily="18" charset="0"/>
                          <a:cs typeface="Times New Roman" panose="02020603050405020304" pitchFamily="18" charset="0"/>
                        </a:rPr>
                        <a:t>Python</a:t>
                      </a:r>
                    </a:p>
                  </a:txBody>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3.11</a:t>
                      </a:r>
                    </a:p>
                  </a:txBody>
                  <a:tcPr/>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Backend development and AI processing</a:t>
                      </a:r>
                      <a:endParaRPr lang="en-US" sz="2400" kern="100" dirty="0">
                        <a:solidFill>
                          <a:schemeClr val="tx1"/>
                        </a:solidFill>
                        <a:effectLst/>
                        <a:latin typeface="Times New Roman" panose="02020603050405020304" pitchFamily="18" charset="0"/>
                        <a:ea typeface="Aptos"/>
                        <a:cs typeface="Times New Roman" panose="02020603050405020304" pitchFamily="18" charset="0"/>
                      </a:endParaRPr>
                    </a:p>
                  </a:txBody>
                  <a:tcPr marL="68580" marR="68580" marT="0" marB="0"/>
                </a:tc>
                <a:extLst>
                  <a:ext uri="{0D108BD9-81ED-4DB2-BD59-A6C34878D82A}">
                    <a16:rowId xmlns:a16="http://schemas.microsoft.com/office/drawing/2014/main" val="3229310703"/>
                  </a:ext>
                </a:extLst>
              </a:tr>
              <a:tr h="617221">
                <a:tc>
                  <a:txBody>
                    <a:bodyPr/>
                    <a:lstStyle/>
                    <a:p>
                      <a:r>
                        <a:rPr lang="en-US" sz="2400" dirty="0">
                          <a:solidFill>
                            <a:schemeClr val="tx1"/>
                          </a:solidFill>
                          <a:latin typeface="Times New Roman" panose="02020603050405020304" pitchFamily="18" charset="0"/>
                          <a:cs typeface="Times New Roman" panose="02020603050405020304" pitchFamily="18" charset="0"/>
                        </a:rPr>
                        <a:t>JavaScript</a:t>
                      </a:r>
                    </a:p>
                  </a:txBody>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ES6</a:t>
                      </a:r>
                    </a:p>
                  </a:txBody>
                  <a:tcPr/>
                </a:tc>
                <a:tc>
                  <a:txBody>
                    <a:bodyPr/>
                    <a:lstStyle/>
                    <a:p>
                      <a:r>
                        <a:rPr lang="en-US" sz="2400" kern="1200" dirty="0">
                          <a:solidFill>
                            <a:schemeClr val="tx1"/>
                          </a:solidFill>
                          <a:effectLst/>
                          <a:latin typeface="Times New Roman" panose="02020603050405020304" pitchFamily="18" charset="0"/>
                          <a:ea typeface="+mn-ea"/>
                          <a:cs typeface="Times New Roman" panose="02020603050405020304" pitchFamily="18" charset="0"/>
                        </a:rPr>
                        <a:t>Frontend and backend scripting</a:t>
                      </a:r>
                      <a:endParaRPr lang="en-US" sz="2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07732859"/>
                  </a:ext>
                </a:extLst>
              </a:tr>
              <a:tr h="566030">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Typescript</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5.3</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Type-safe frontend development</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3659193128"/>
                  </a:ext>
                </a:extLst>
              </a:tr>
              <a:tr h="357596">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React JS</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18.2</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Web frontend framework</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516062140"/>
                  </a:ext>
                </a:extLst>
              </a:tr>
              <a:tr h="566030">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React Native</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0.72</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Cross-platform mobile app development</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1700664191"/>
                  </a:ext>
                </a:extLst>
              </a:tr>
              <a:tr h="546988">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Node JS</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20.10</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Server-side runtime environment</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682461213"/>
                  </a:ext>
                </a:extLst>
              </a:tr>
              <a:tr h="357596">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Express JS</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4.18</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Backend web framework</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779242638"/>
                  </a:ext>
                </a:extLst>
              </a:tr>
              <a:tr h="546988">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OpenAI API</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Latest</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AI content generation and intelligent agents</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248771742"/>
                  </a:ext>
                </a:extLst>
              </a:tr>
              <a:tr h="546988">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REST API</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V1</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Communication between frontend and backend</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21346410"/>
                  </a:ext>
                </a:extLst>
              </a:tr>
            </a:tbl>
          </a:graphicData>
        </a:graphic>
      </p:graphicFrame>
    </p:spTree>
    <p:extLst>
      <p:ext uri="{BB962C8B-B14F-4D97-AF65-F5344CB8AC3E}">
        <p14:creationId xmlns:p14="http://schemas.microsoft.com/office/powerpoint/2010/main" val="1996914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Team Members Individual Tasks/Work Division</a:t>
            </a:r>
            <a:br>
              <a:rPr lang="en-US" sz="4500" b="1" u="sng" dirty="0">
                <a:latin typeface="Times New Roman" panose="02020603050405020304" pitchFamily="18" charset="0"/>
                <a:cs typeface="Times New Roman" panose="02020603050405020304" pitchFamily="18" charset="0"/>
              </a:rPr>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1574800" y="2129081"/>
            <a:ext cx="143256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22</a:t>
            </a:fld>
            <a:endParaRPr lang="en-US" dirty="0">
              <a:solidFill>
                <a:prstClr val="white"/>
              </a:solidFill>
              <a:latin typeface="Calibri"/>
            </a:endParaRPr>
          </a:p>
        </p:txBody>
      </p:sp>
      <p:graphicFrame>
        <p:nvGraphicFramePr>
          <p:cNvPr id="6" name="Table 5"/>
          <p:cNvGraphicFramePr>
            <a:graphicFrameLocks noGrp="1"/>
          </p:cNvGraphicFramePr>
          <p:nvPr>
            <p:extLst>
              <p:ext uri="{D42A27DB-BD31-4B8C-83A1-F6EECF244321}">
                <p14:modId xmlns:p14="http://schemas.microsoft.com/office/powerpoint/2010/main" val="595656149"/>
              </p:ext>
            </p:extLst>
          </p:nvPr>
        </p:nvGraphicFramePr>
        <p:xfrm>
          <a:off x="2489200" y="2590800"/>
          <a:ext cx="11963400" cy="5486401"/>
        </p:xfrm>
        <a:graphic>
          <a:graphicData uri="http://schemas.openxmlformats.org/drawingml/2006/table">
            <a:tbl>
              <a:tblPr firstRow="1" bandRow="1">
                <a:tableStyleId>{5C22544A-7EE6-4342-B048-85BDC9FD1C3A}</a:tableStyleId>
              </a:tblPr>
              <a:tblGrid>
                <a:gridCol w="3987800">
                  <a:extLst>
                    <a:ext uri="{9D8B030D-6E8A-4147-A177-3AD203B41FA5}">
                      <a16:colId xmlns:a16="http://schemas.microsoft.com/office/drawing/2014/main" val="2798560708"/>
                    </a:ext>
                  </a:extLst>
                </a:gridCol>
                <a:gridCol w="3987800">
                  <a:extLst>
                    <a:ext uri="{9D8B030D-6E8A-4147-A177-3AD203B41FA5}">
                      <a16:colId xmlns:a16="http://schemas.microsoft.com/office/drawing/2014/main" val="35288827"/>
                    </a:ext>
                  </a:extLst>
                </a:gridCol>
                <a:gridCol w="3987800">
                  <a:extLst>
                    <a:ext uri="{9D8B030D-6E8A-4147-A177-3AD203B41FA5}">
                      <a16:colId xmlns:a16="http://schemas.microsoft.com/office/drawing/2014/main" val="2634361049"/>
                    </a:ext>
                  </a:extLst>
                </a:gridCol>
              </a:tblGrid>
              <a:tr h="1153355">
                <a:tc>
                  <a:txBody>
                    <a:bodyPr/>
                    <a:lstStyle/>
                    <a:p>
                      <a:pPr algn="l"/>
                      <a:r>
                        <a:rPr lang="en-US" sz="2600" b="0" dirty="0">
                          <a:effectLst/>
                          <a:latin typeface="Times New Roman" panose="02020603050405020304" pitchFamily="18" charset="0"/>
                          <a:cs typeface="Times New Roman" panose="02020603050405020304" pitchFamily="18" charset="0"/>
                        </a:rPr>
                        <a:t>Student Name</a:t>
                      </a:r>
                    </a:p>
                  </a:txBody>
                  <a:tcPr marR="101600" marT="63500" marB="63500" anchor="ctr"/>
                </a:tc>
                <a:tc>
                  <a:txBody>
                    <a:bodyPr/>
                    <a:lstStyle/>
                    <a:p>
                      <a:pPr algn="l"/>
                      <a:r>
                        <a:rPr lang="en-US" sz="2600" b="0" dirty="0">
                          <a:effectLst/>
                          <a:latin typeface="Times New Roman" panose="02020603050405020304" pitchFamily="18" charset="0"/>
                          <a:cs typeface="Times New Roman" panose="02020603050405020304" pitchFamily="18" charset="0"/>
                        </a:rPr>
                        <a:t>Student Registration Number</a:t>
                      </a:r>
                    </a:p>
                  </a:txBody>
                  <a:tcPr marL="101600" marR="101600" marT="63500" marB="63500" anchor="ctr"/>
                </a:tc>
                <a:tc>
                  <a:txBody>
                    <a:bodyPr/>
                    <a:lstStyle/>
                    <a:p>
                      <a:pPr algn="l"/>
                      <a:r>
                        <a:rPr lang="en-US" sz="2600" b="0" dirty="0">
                          <a:effectLst/>
                          <a:latin typeface="Times New Roman" panose="02020603050405020304" pitchFamily="18" charset="0"/>
                          <a:cs typeface="Times New Roman" panose="02020603050405020304" pitchFamily="18" charset="0"/>
                        </a:rPr>
                        <a:t>Responsibility / Modules</a:t>
                      </a:r>
                    </a:p>
                  </a:txBody>
                  <a:tcPr marL="101600" marR="101600" marT="63500" marB="63500" anchor="ctr"/>
                </a:tc>
                <a:extLst>
                  <a:ext uri="{0D108BD9-81ED-4DB2-BD59-A6C34878D82A}">
                    <a16:rowId xmlns:a16="http://schemas.microsoft.com/office/drawing/2014/main" val="1207213963"/>
                  </a:ext>
                </a:extLst>
              </a:tr>
              <a:tr h="2166523">
                <a:tc>
                  <a:txBody>
                    <a:bodyPr/>
                    <a:lstStyle/>
                    <a:p>
                      <a:r>
                        <a:rPr lang="en-US" b="0" dirty="0" err="1">
                          <a:effectLst/>
                          <a:latin typeface="Times New Roman" panose="02020603050405020304" pitchFamily="18" charset="0"/>
                          <a:cs typeface="Times New Roman" panose="02020603050405020304" pitchFamily="18" charset="0"/>
                        </a:rPr>
                        <a:t>Awais</a:t>
                      </a:r>
                      <a:r>
                        <a:rPr lang="en-US" b="0" dirty="0">
                          <a:effectLst/>
                          <a:latin typeface="Times New Roman" panose="02020603050405020304" pitchFamily="18" charset="0"/>
                          <a:cs typeface="Times New Roman" panose="02020603050405020304" pitchFamily="18" charset="0"/>
                        </a:rPr>
                        <a:t> Ashraf</a:t>
                      </a:r>
                    </a:p>
                  </a:txBody>
                  <a:tcPr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FA23-BDS-053</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Full-stack development for Mobile App (React Native, backend APIs, database integration, AI agent integration for mobile platform, testing and deployment on mobile)</a:t>
                      </a:r>
                    </a:p>
                  </a:txBody>
                  <a:tcPr marL="101600" marT="63500" marB="63500" anchor="ctr"/>
                </a:tc>
                <a:extLst>
                  <a:ext uri="{0D108BD9-81ED-4DB2-BD59-A6C34878D82A}">
                    <a16:rowId xmlns:a16="http://schemas.microsoft.com/office/drawing/2014/main" val="2935020316"/>
                  </a:ext>
                </a:extLst>
              </a:tr>
              <a:tr h="2166523">
                <a:tc>
                  <a:txBody>
                    <a:bodyPr/>
                    <a:lstStyle/>
                    <a:p>
                      <a:r>
                        <a:rPr lang="en-US" b="0">
                          <a:effectLst/>
                          <a:latin typeface="Times New Roman" panose="02020603050405020304" pitchFamily="18" charset="0"/>
                          <a:cs typeface="Times New Roman" panose="02020603050405020304" pitchFamily="18" charset="0"/>
                        </a:rPr>
                        <a:t>Asna Hammad</a:t>
                      </a:r>
                    </a:p>
                  </a:txBody>
                  <a:tcPr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FA23-BDS-051</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Full-stack development for Web App (React JS frontend, Node JS backend, database management, AI agent integration for web platform, testing and deployment on web)</a:t>
                      </a:r>
                    </a:p>
                  </a:txBody>
                  <a:tcPr marL="101600" marT="63500" marB="63500" anchor="ctr"/>
                </a:tc>
                <a:extLst>
                  <a:ext uri="{0D108BD9-81ED-4DB2-BD59-A6C34878D82A}">
                    <a16:rowId xmlns:a16="http://schemas.microsoft.com/office/drawing/2014/main" val="471343337"/>
                  </a:ext>
                </a:extLst>
              </a:tr>
            </a:tbl>
          </a:graphicData>
        </a:graphic>
      </p:graphicFrame>
    </p:spTree>
    <p:extLst>
      <p:ext uri="{BB962C8B-B14F-4D97-AF65-F5344CB8AC3E}">
        <p14:creationId xmlns:p14="http://schemas.microsoft.com/office/powerpoint/2010/main" val="936790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6800" y="342900"/>
            <a:ext cx="13213080" cy="1143000"/>
          </a:xfrm>
        </p:spPr>
        <p:txBody>
          <a:bodyPr/>
          <a:lstStyle/>
          <a:p>
            <a:r>
              <a:rPr lang="en-US" sz="6600" b="1" u="sng" dirty="0">
                <a:latin typeface="Times New Roman" panose="02020603050405020304" pitchFamily="18" charset="0"/>
                <a:cs typeface="Times New Roman" panose="02020603050405020304" pitchFamily="18" charset="0"/>
              </a:rPr>
              <a:t>Data Gathering Approach</a:t>
            </a:r>
          </a:p>
        </p:txBody>
      </p:sp>
      <p:sp>
        <p:nvSpPr>
          <p:cNvPr id="3" name="Content Placeholder 2"/>
          <p:cNvSpPr txBox="1">
            <a:spLocks/>
          </p:cNvSpPr>
          <p:nvPr/>
        </p:nvSpPr>
        <p:spPr>
          <a:xfrm>
            <a:off x="355600" y="2514600"/>
            <a:ext cx="155448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Interviews:</a:t>
            </a:r>
            <a:r>
              <a:rPr kumimoji="0" lang="en-US" alt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Conducted with podcast creators to understand their specific workflows and challenges.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Questionnaires:</a:t>
            </a:r>
            <a:r>
              <a:rPr kumimoji="0" lang="en-US" alt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Distributed to creators to gather quantitative data on preparation difficulties.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Observation:</a:t>
            </a:r>
            <a:r>
              <a:rPr kumimoji="0" lang="en-US" alt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Studying how podcasters currently use existing tools like Notion or Descript for planning.</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Online Research:</a:t>
            </a:r>
            <a:r>
              <a:rPr kumimoji="0" lang="en-US" alt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Analyzing current podcast production trends and user expectations.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Reasoning:</a:t>
            </a:r>
            <a:r>
              <a:rPr kumimoji="0" lang="en-US" alt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To ensure </a:t>
            </a:r>
            <a:r>
              <a:rPr kumimoji="0" lang="en-US" altLang="en-US" sz="3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PodCraft</a:t>
            </a:r>
            <a:r>
              <a:rPr kumimoji="0" lang="en-US" alt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aligns with real-world user needs and solves actual planning bottlenecks.</a:t>
            </a:r>
          </a:p>
        </p:txBody>
      </p:sp>
    </p:spTree>
    <p:extLst>
      <p:ext uri="{BB962C8B-B14F-4D97-AF65-F5344CB8AC3E}">
        <p14:creationId xmlns:p14="http://schemas.microsoft.com/office/powerpoint/2010/main" val="1239707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b="1" u="sng" dirty="0">
                <a:latin typeface="Times New Roman" panose="02020603050405020304" pitchFamily="18" charset="0"/>
                <a:cs typeface="Times New Roman" panose="02020603050405020304" pitchFamily="18" charset="0"/>
              </a:rPr>
              <a:t>Core AI &amp; Backend Concepts</a:t>
            </a:r>
          </a:p>
        </p:txBody>
      </p:sp>
      <p:sp>
        <p:nvSpPr>
          <p:cNvPr id="3" name="Content Placeholder 2"/>
          <p:cNvSpPr txBox="1">
            <a:spLocks/>
          </p:cNvSpPr>
          <p:nvPr/>
        </p:nvSpPr>
        <p:spPr>
          <a:xfrm>
            <a:off x="1202266" y="2133600"/>
            <a:ext cx="144780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b="1" dirty="0">
                <a:solidFill>
                  <a:schemeClr val="tx1"/>
                </a:solidFill>
                <a:latin typeface="Times New Roman" panose="02020603050405020304" pitchFamily="18" charset="0"/>
                <a:cs typeface="Times New Roman" panose="02020603050405020304" pitchFamily="18" charset="0"/>
              </a:rPr>
              <a:t>Concept-1 Agentic AI Architecture</a:t>
            </a:r>
            <a:r>
              <a:rPr lang="en-US" dirty="0">
                <a:solidFill>
                  <a:schemeClr val="tx1"/>
                </a:solidFill>
                <a:latin typeface="Times New Roman" panose="02020603050405020304" pitchFamily="18" charset="0"/>
                <a:cs typeface="Times New Roman" panose="02020603050405020304" pitchFamily="18" charset="0"/>
              </a:rPr>
              <a:t>: Multiple AI agents work together to plan episodes.</a:t>
            </a:r>
          </a:p>
          <a:p>
            <a:pPr algn="l"/>
            <a:r>
              <a:rPr lang="en-US" b="1" dirty="0">
                <a:solidFill>
                  <a:schemeClr val="tx1"/>
                </a:solidFill>
                <a:latin typeface="Times New Roman" panose="02020603050405020304" pitchFamily="18" charset="0"/>
                <a:cs typeface="Times New Roman" panose="02020603050405020304" pitchFamily="18" charset="0"/>
              </a:rPr>
              <a:t>Concept-2 Natural Language Processing (NLP)</a:t>
            </a:r>
            <a:r>
              <a:rPr lang="en-US" dirty="0">
                <a:solidFill>
                  <a:schemeClr val="tx1"/>
                </a:solidFill>
                <a:latin typeface="Times New Roman" panose="02020603050405020304" pitchFamily="18" charset="0"/>
                <a:cs typeface="Times New Roman" panose="02020603050405020304" pitchFamily="18" charset="0"/>
              </a:rPr>
              <a:t>: GPT-4 understands input and generates content.</a:t>
            </a:r>
          </a:p>
          <a:p>
            <a:pPr algn="l"/>
            <a:r>
              <a:rPr lang="en-US" b="1" dirty="0">
                <a:solidFill>
                  <a:schemeClr val="tx1"/>
                </a:solidFill>
                <a:latin typeface="Times New Roman" panose="02020603050405020304" pitchFamily="18" charset="0"/>
                <a:cs typeface="Times New Roman" panose="02020603050405020304" pitchFamily="18" charset="0"/>
              </a:rPr>
              <a:t>Concept-3 Prompt Engineering</a:t>
            </a:r>
            <a:r>
              <a:rPr lang="en-US" dirty="0">
                <a:solidFill>
                  <a:schemeClr val="tx1"/>
                </a:solidFill>
                <a:latin typeface="Times New Roman" panose="02020603050405020304" pitchFamily="18" charset="0"/>
                <a:cs typeface="Times New Roman" panose="02020603050405020304" pitchFamily="18" charset="0"/>
              </a:rPr>
              <a:t>: Designing prompts for structured AI outputs.</a:t>
            </a:r>
          </a:p>
          <a:p>
            <a:pPr algn="l"/>
            <a:r>
              <a:rPr lang="en-US" b="1" dirty="0">
                <a:solidFill>
                  <a:schemeClr val="tx1"/>
                </a:solidFill>
                <a:latin typeface="Times New Roman" panose="02020603050405020304" pitchFamily="18" charset="0"/>
                <a:cs typeface="Times New Roman" panose="02020603050405020304" pitchFamily="18" charset="0"/>
              </a:rPr>
              <a:t>Concept-4 Web Scraping</a:t>
            </a:r>
            <a:r>
              <a:rPr lang="en-US" dirty="0">
                <a:solidFill>
                  <a:schemeClr val="tx1"/>
                </a:solidFill>
                <a:latin typeface="Times New Roman" panose="02020603050405020304" pitchFamily="18" charset="0"/>
                <a:cs typeface="Times New Roman" panose="02020603050405020304" pitchFamily="18" charset="0"/>
              </a:rPr>
              <a:t>: Fetching trending topics from external APIs.</a:t>
            </a:r>
          </a:p>
          <a:p>
            <a:pPr algn="l"/>
            <a:r>
              <a:rPr lang="en-US" b="1" dirty="0">
                <a:solidFill>
                  <a:schemeClr val="tx1"/>
                </a:solidFill>
                <a:latin typeface="Times New Roman" panose="02020603050405020304" pitchFamily="18" charset="0"/>
                <a:cs typeface="Times New Roman" panose="02020603050405020304" pitchFamily="18" charset="0"/>
              </a:rPr>
              <a:t>Concept-5 RESTful API Development</a:t>
            </a:r>
            <a:r>
              <a:rPr lang="en-US" dirty="0">
                <a:solidFill>
                  <a:schemeClr val="tx1"/>
                </a:solidFill>
                <a:latin typeface="Times New Roman" panose="02020603050405020304" pitchFamily="18" charset="0"/>
                <a:cs typeface="Times New Roman" panose="02020603050405020304" pitchFamily="18" charset="0"/>
              </a:rPr>
              <a:t>: Building secure Node.js/Express APIs.</a:t>
            </a:r>
          </a:p>
          <a:p>
            <a:pPr algn="l"/>
            <a:r>
              <a:rPr lang="en-US" b="1" dirty="0">
                <a:solidFill>
                  <a:schemeClr val="tx1"/>
                </a:solidFill>
                <a:latin typeface="Times New Roman" panose="02020603050405020304" pitchFamily="18" charset="0"/>
                <a:cs typeface="Times New Roman" panose="02020603050405020304" pitchFamily="18" charset="0"/>
              </a:rPr>
              <a:t>Concept-6 JWT Authentication &amp; OAuth 2.0</a:t>
            </a:r>
            <a:r>
              <a:rPr lang="en-US" dirty="0">
                <a:solidFill>
                  <a:schemeClr val="tx1"/>
                </a:solidFill>
                <a:latin typeface="Times New Roman" panose="02020603050405020304" pitchFamily="18" charset="0"/>
                <a:cs typeface="Times New Roman" panose="02020603050405020304" pitchFamily="18" charset="0"/>
              </a:rPr>
              <a:t>: Secure login with email or Google.</a:t>
            </a:r>
          </a:p>
          <a:p>
            <a:pPr algn="l"/>
            <a:r>
              <a:rPr lang="en-US" b="1" dirty="0">
                <a:solidFill>
                  <a:schemeClr val="tx1"/>
                </a:solidFill>
                <a:latin typeface="Times New Roman" panose="02020603050405020304" pitchFamily="18" charset="0"/>
                <a:cs typeface="Times New Roman" panose="02020603050405020304" pitchFamily="18" charset="0"/>
              </a:rPr>
              <a:t>Concept-7 NoSQL Database (MongoDB)</a:t>
            </a:r>
            <a:r>
              <a:rPr lang="en-US" dirty="0">
                <a:solidFill>
                  <a:schemeClr val="tx1"/>
                </a:solidFill>
                <a:latin typeface="Times New Roman" panose="02020603050405020304" pitchFamily="18" charset="0"/>
                <a:cs typeface="Times New Roman" panose="02020603050405020304" pitchFamily="18" charset="0"/>
              </a:rPr>
              <a:t>: Flexible schemas for users and episodes.</a:t>
            </a: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24</a:t>
            </a:fld>
            <a:endParaRPr lang="en-US" dirty="0">
              <a:solidFill>
                <a:prstClr val="white"/>
              </a:solidFill>
              <a:latin typeface="Calibri"/>
            </a:endParaRPr>
          </a:p>
        </p:txBody>
      </p:sp>
    </p:spTree>
    <p:extLst>
      <p:ext uri="{BB962C8B-B14F-4D97-AF65-F5344CB8AC3E}">
        <p14:creationId xmlns:p14="http://schemas.microsoft.com/office/powerpoint/2010/main" val="3248725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FR" b="1" u="sng" dirty="0">
                <a:latin typeface="Times New Roman" panose="02020603050405020304" pitchFamily="18" charset="0"/>
                <a:cs typeface="Times New Roman" panose="02020603050405020304" pitchFamily="18" charset="0"/>
              </a:rPr>
              <a:t>Slide 2: </a:t>
            </a:r>
            <a:r>
              <a:rPr lang="fr-FR" b="1" u="sng" dirty="0" err="1">
                <a:latin typeface="Times New Roman" panose="02020603050405020304" pitchFamily="18" charset="0"/>
                <a:cs typeface="Times New Roman" panose="02020603050405020304" pitchFamily="18" charset="0"/>
              </a:rPr>
              <a:t>Frontend</a:t>
            </a:r>
            <a:r>
              <a:rPr lang="fr-FR" b="1" u="sng" dirty="0">
                <a:latin typeface="Times New Roman" panose="02020603050405020304" pitchFamily="18" charset="0"/>
                <a:cs typeface="Times New Roman" panose="02020603050405020304" pitchFamily="18" charset="0"/>
              </a:rPr>
              <a:t> &amp; Mobile Concepts</a:t>
            </a:r>
          </a:p>
        </p:txBody>
      </p:sp>
      <p:sp>
        <p:nvSpPr>
          <p:cNvPr id="3" name="Subtitle 2"/>
          <p:cNvSpPr>
            <a:spLocks noGrp="1"/>
          </p:cNvSpPr>
          <p:nvPr>
            <p:ph type="subTitle" idx="1"/>
          </p:nvPr>
        </p:nvSpPr>
        <p:spPr>
          <a:xfrm>
            <a:off x="1193800" y="2133600"/>
            <a:ext cx="13554956" cy="6186767"/>
          </a:xfrm>
        </p:spPr>
        <p:txBody>
          <a:bodyPr/>
          <a:lstStyle/>
          <a:p>
            <a:pPr algn="just"/>
            <a:r>
              <a:rPr lang="en-US" sz="2800" b="1" dirty="0">
                <a:solidFill>
                  <a:schemeClr val="tx1"/>
                </a:solidFill>
                <a:latin typeface="Times New Roman" panose="02020603050405020304" pitchFamily="18" charset="0"/>
                <a:cs typeface="Times New Roman" panose="02020603050405020304" pitchFamily="18" charset="0"/>
              </a:rPr>
              <a:t>Concept-1 Cross-Platform Mobile (React Native)</a:t>
            </a:r>
            <a:r>
              <a:rPr lang="en-US" sz="2800" dirty="0">
                <a:solidFill>
                  <a:schemeClr val="tx1"/>
                </a:solidFill>
                <a:latin typeface="Times New Roman" panose="02020603050405020304" pitchFamily="18" charset="0"/>
                <a:cs typeface="Times New Roman" panose="02020603050405020304" pitchFamily="18" charset="0"/>
              </a:rPr>
              <a:t>: One codebase for Android &amp; iOS.</a:t>
            </a:r>
          </a:p>
          <a:p>
            <a:pPr algn="just"/>
            <a:r>
              <a:rPr lang="en-US" sz="2800" b="1" dirty="0">
                <a:solidFill>
                  <a:schemeClr val="tx1"/>
                </a:solidFill>
                <a:latin typeface="Times New Roman" panose="02020603050405020304" pitchFamily="18" charset="0"/>
                <a:cs typeface="Times New Roman" panose="02020603050405020304" pitchFamily="18" charset="0"/>
              </a:rPr>
              <a:t>Concept-2 State Management (</a:t>
            </a:r>
            <a:r>
              <a:rPr lang="en-US" sz="2800" b="1" dirty="0" err="1">
                <a:solidFill>
                  <a:schemeClr val="tx1"/>
                </a:solidFill>
                <a:latin typeface="Times New Roman" panose="02020603050405020304" pitchFamily="18" charset="0"/>
                <a:cs typeface="Times New Roman" panose="02020603050405020304" pitchFamily="18" charset="0"/>
              </a:rPr>
              <a:t>Redux</a:t>
            </a:r>
            <a:r>
              <a:rPr lang="en-US" sz="2800" b="1" dirty="0">
                <a:solidFill>
                  <a:schemeClr val="tx1"/>
                </a:solidFill>
                <a:latin typeface="Times New Roman" panose="02020603050405020304" pitchFamily="18" charset="0"/>
                <a:cs typeface="Times New Roman" panose="02020603050405020304" pitchFamily="18" charset="0"/>
              </a:rPr>
              <a:t>/Context API)</a:t>
            </a:r>
            <a:r>
              <a:rPr lang="en-US" sz="2800" dirty="0">
                <a:solidFill>
                  <a:schemeClr val="tx1"/>
                </a:solidFill>
                <a:latin typeface="Times New Roman" panose="02020603050405020304" pitchFamily="18" charset="0"/>
                <a:cs typeface="Times New Roman" panose="02020603050405020304" pitchFamily="18" charset="0"/>
              </a:rPr>
              <a:t>: Managing app-wide episode data across screens.</a:t>
            </a:r>
          </a:p>
          <a:p>
            <a:pPr algn="just"/>
            <a:r>
              <a:rPr lang="en-US" sz="2800" b="1" dirty="0">
                <a:solidFill>
                  <a:schemeClr val="tx1"/>
                </a:solidFill>
                <a:latin typeface="Times New Roman" panose="02020603050405020304" pitchFamily="18" charset="0"/>
                <a:cs typeface="Times New Roman" panose="02020603050405020304" pitchFamily="18" charset="0"/>
              </a:rPr>
              <a:t>Concept-3 Responsive UI Design (Tailwind CSS)</a:t>
            </a:r>
            <a:r>
              <a:rPr lang="en-US" sz="2800" dirty="0">
                <a:solidFill>
                  <a:schemeClr val="tx1"/>
                </a:solidFill>
                <a:latin typeface="Times New Roman" panose="02020603050405020304" pitchFamily="18" charset="0"/>
                <a:cs typeface="Times New Roman" panose="02020603050405020304" pitchFamily="18" charset="0"/>
              </a:rPr>
              <a:t>: Building adaptive layouts for all screen sizes.</a:t>
            </a:r>
          </a:p>
          <a:p>
            <a:pPr algn="just"/>
            <a:r>
              <a:rPr lang="en-US" sz="2800" b="1" dirty="0">
                <a:solidFill>
                  <a:schemeClr val="tx1"/>
                </a:solidFill>
                <a:latin typeface="Times New Roman" panose="02020603050405020304" pitchFamily="18" charset="0"/>
                <a:cs typeface="Times New Roman" panose="02020603050405020304" pitchFamily="18" charset="0"/>
              </a:rPr>
              <a:t>Concept-4 Component-Based Architecture (React JS)</a:t>
            </a:r>
            <a:r>
              <a:rPr lang="en-US" sz="2800" dirty="0">
                <a:solidFill>
                  <a:schemeClr val="tx1"/>
                </a:solidFill>
                <a:latin typeface="Times New Roman" panose="02020603050405020304" pitchFamily="18" charset="0"/>
                <a:cs typeface="Times New Roman" panose="02020603050405020304" pitchFamily="18" charset="0"/>
              </a:rPr>
              <a:t>: Reusable UI components for faster development.</a:t>
            </a:r>
          </a:p>
          <a:p>
            <a:pPr algn="just"/>
            <a:r>
              <a:rPr lang="en-US" sz="2800" b="1" dirty="0">
                <a:solidFill>
                  <a:schemeClr val="tx1"/>
                </a:solidFill>
                <a:latin typeface="Times New Roman" panose="02020603050405020304" pitchFamily="18" charset="0"/>
                <a:cs typeface="Times New Roman" panose="02020603050405020304" pitchFamily="18" charset="0"/>
              </a:rPr>
              <a:t>Concept-5 Form Handling &amp; Validation</a:t>
            </a:r>
            <a:r>
              <a:rPr lang="en-US" sz="2800" dirty="0">
                <a:solidFill>
                  <a:schemeClr val="tx1"/>
                </a:solidFill>
                <a:latin typeface="Times New Roman" panose="02020603050405020304" pitchFamily="18" charset="0"/>
                <a:cs typeface="Times New Roman" panose="02020603050405020304" pitchFamily="18" charset="0"/>
              </a:rPr>
              <a:t>: Managing user inputs for niche, guest details, and episode settings.</a:t>
            </a:r>
          </a:p>
          <a:p>
            <a:pPr algn="just"/>
            <a:r>
              <a:rPr lang="en-US" sz="2800" b="1" dirty="0">
                <a:solidFill>
                  <a:schemeClr val="tx1"/>
                </a:solidFill>
                <a:latin typeface="Times New Roman" panose="02020603050405020304" pitchFamily="18" charset="0"/>
                <a:cs typeface="Times New Roman" panose="02020603050405020304" pitchFamily="18" charset="0"/>
              </a:rPr>
              <a:t>Concept-6 API Integration (</a:t>
            </a:r>
            <a:r>
              <a:rPr lang="en-US" sz="2800" b="1" dirty="0" err="1">
                <a:solidFill>
                  <a:schemeClr val="tx1"/>
                </a:solidFill>
                <a:latin typeface="Times New Roman" panose="02020603050405020304" pitchFamily="18" charset="0"/>
                <a:cs typeface="Times New Roman" panose="02020603050405020304" pitchFamily="18" charset="0"/>
              </a:rPr>
              <a:t>Axios</a:t>
            </a:r>
            <a:r>
              <a:rPr lang="en-US" sz="2800" b="1" dirty="0">
                <a:solidFill>
                  <a:schemeClr val="tx1"/>
                </a:solidFill>
                <a:latin typeface="Times New Roman" panose="02020603050405020304" pitchFamily="18" charset="0"/>
                <a:cs typeface="Times New Roman" panose="02020603050405020304" pitchFamily="18" charset="0"/>
              </a:rPr>
              <a:t>/Fetch)</a:t>
            </a:r>
            <a:r>
              <a:rPr lang="en-US" sz="2800" dirty="0">
                <a:solidFill>
                  <a:schemeClr val="tx1"/>
                </a:solidFill>
                <a:latin typeface="Times New Roman" panose="02020603050405020304" pitchFamily="18" charset="0"/>
                <a:cs typeface="Times New Roman" panose="02020603050405020304" pitchFamily="18" charset="0"/>
              </a:rPr>
              <a:t>: Connecting frontend to backend REST APIs.</a:t>
            </a:r>
          </a:p>
          <a:p>
            <a:pPr algn="just"/>
            <a:r>
              <a:rPr lang="en-GB" sz="2800" b="1" dirty="0">
                <a:solidFill>
                  <a:schemeClr val="tx1"/>
                </a:solidFill>
                <a:latin typeface="Times New Roman" panose="02020603050405020304" pitchFamily="18" charset="0"/>
                <a:cs typeface="Times New Roman" panose="02020603050405020304" pitchFamily="18" charset="0"/>
              </a:rPr>
              <a:t>Concept-7 Navigation (React Router / React Navigation)</a:t>
            </a:r>
            <a:r>
              <a:rPr lang="en-GB" sz="2800" dirty="0">
                <a:solidFill>
                  <a:schemeClr val="tx1"/>
                </a:solidFill>
                <a:latin typeface="Times New Roman" panose="02020603050405020304" pitchFamily="18" charset="0"/>
                <a:cs typeface="Times New Roman" panose="02020603050405020304" pitchFamily="18" charset="0"/>
              </a:rPr>
              <a:t>: Screen-to-screen navigation in web and mobile apps.</a:t>
            </a:r>
          </a:p>
          <a:p>
            <a:pPr algn="just"/>
            <a:r>
              <a:rPr lang="en-GB" sz="2800" b="1" dirty="0">
                <a:solidFill>
                  <a:schemeClr val="tx1"/>
                </a:solidFill>
                <a:latin typeface="Times New Roman" panose="02020603050405020304" pitchFamily="18" charset="0"/>
                <a:cs typeface="Times New Roman" panose="02020603050405020304" pitchFamily="18" charset="0"/>
              </a:rPr>
              <a:t>Concept-8 Full-Stack Integration</a:t>
            </a:r>
            <a:r>
              <a:rPr lang="en-GB" sz="2800" dirty="0">
                <a:solidFill>
                  <a:schemeClr val="tx1"/>
                </a:solidFill>
                <a:latin typeface="Times New Roman" panose="02020603050405020304" pitchFamily="18" charset="0"/>
                <a:cs typeface="Times New Roman" panose="02020603050405020304" pitchFamily="18" charset="0"/>
              </a:rPr>
              <a:t>: Connecting frontend, backend APIs, and MongoDB database seamlessly.</a:t>
            </a:r>
          </a:p>
          <a:p>
            <a:pPr algn="just"/>
            <a:r>
              <a:rPr lang="en-GB" sz="2800" dirty="0">
                <a:solidFill>
                  <a:schemeClr val="tx1"/>
                </a:solidFill>
                <a:latin typeface="Times New Roman" panose="02020603050405020304" pitchFamily="18" charset="0"/>
                <a:cs typeface="Times New Roman" panose="02020603050405020304" pitchFamily="18" charset="0"/>
              </a:rPr>
              <a:t/>
            </a:r>
            <a:br>
              <a:rPr lang="en-GB" sz="2800" dirty="0">
                <a:solidFill>
                  <a:schemeClr val="tx1"/>
                </a:solidFill>
                <a:latin typeface="Times New Roman" panose="02020603050405020304" pitchFamily="18" charset="0"/>
                <a:cs typeface="Times New Roman" panose="02020603050405020304" pitchFamily="18" charset="0"/>
              </a:rPr>
            </a:b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25</a:t>
            </a:fld>
            <a:endParaRPr lang="en-US" dirty="0">
              <a:solidFill>
                <a:prstClr val="white"/>
              </a:solidFill>
            </a:endParaRPr>
          </a:p>
        </p:txBody>
      </p:sp>
    </p:spTree>
    <p:extLst>
      <p:ext uri="{BB962C8B-B14F-4D97-AF65-F5344CB8AC3E}">
        <p14:creationId xmlns:p14="http://schemas.microsoft.com/office/powerpoint/2010/main" val="1072715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Gantt Chart</a:t>
            </a:r>
            <a:r>
              <a:rPr lang="en-US" b="1" dirty="0"/>
              <a:t/>
            </a:r>
            <a:br>
              <a:rPr lang="en-US" b="1" dirty="0"/>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355600" y="2129081"/>
            <a:ext cx="156972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000" b="0"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000" b="0"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3000" b="0"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mn-ea"/>
              <a:cs typeface="Times New Roman" panose="02020603050405020304" pitchFamily="18" charset="0"/>
            </a:endParaRPr>
          </a:p>
        </p:txBody>
      </p:sp>
      <p:pic>
        <p:nvPicPr>
          <p:cNvPr id="4" name="Picture 3">
            <a:extLst>
              <a:ext uri="{FF2B5EF4-FFF2-40B4-BE49-F238E27FC236}">
                <a16:creationId xmlns:a16="http://schemas.microsoft.com/office/drawing/2014/main" id="{78BB6FEB-DABF-F01A-14FA-89003F91D7A6}"/>
              </a:ext>
            </a:extLst>
          </p:cNvPr>
          <p:cNvPicPr/>
          <p:nvPr/>
        </p:nvPicPr>
        <p:blipFill>
          <a:blip r:embed="rId2">
            <a:extLst>
              <a:ext uri="{28A0092B-C50C-407E-A947-70E740481C1C}">
                <a14:useLocalDpi xmlns:a14="http://schemas.microsoft.com/office/drawing/2010/main" val="0"/>
              </a:ext>
            </a:extLst>
          </a:blip>
          <a:stretch>
            <a:fillRect/>
          </a:stretch>
        </p:blipFill>
        <p:spPr>
          <a:xfrm>
            <a:off x="469900" y="2129081"/>
            <a:ext cx="15316200" cy="6710119"/>
          </a:xfrm>
          <a:prstGeom prst="rect">
            <a:avLst/>
          </a:prstGeom>
        </p:spPr>
      </p:pic>
    </p:spTree>
    <p:extLst>
      <p:ext uri="{BB962C8B-B14F-4D97-AF65-F5344CB8AC3E}">
        <p14:creationId xmlns:p14="http://schemas.microsoft.com/office/powerpoint/2010/main" val="2883764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smtClean="0">
                <a:latin typeface="Times New Roman" panose="02020603050405020304" pitchFamily="18" charset="0"/>
                <a:cs typeface="Times New Roman" panose="02020603050405020304" pitchFamily="18" charset="0"/>
              </a:rPr>
              <a:t>Mockups</a:t>
            </a:r>
            <a:endParaRPr lang="en-US" sz="4500" b="1" u="sng" dirty="0">
              <a:latin typeface="Times New Roman" panose="02020603050405020304" pitchFamily="18" charset="0"/>
              <a:cs typeface="Times New Roman" panose="02020603050405020304" pitchFamily="18" charset="0"/>
            </a:endParaRPr>
          </a:p>
        </p:txBody>
      </p:sp>
      <p:sp>
        <p:nvSpPr>
          <p:cNvPr id="3" name="Content Placeholder 2"/>
          <p:cNvSpPr txBox="1">
            <a:spLocks/>
          </p:cNvSpPr>
          <p:nvPr/>
        </p:nvSpPr>
        <p:spPr>
          <a:xfrm>
            <a:off x="355600" y="2129081"/>
            <a:ext cx="15544800" cy="6669051"/>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3000" b="0"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mn-ea"/>
              <a:cs typeface="Times New Roman" panose="02020603050405020304" pitchFamily="18" charset="0"/>
            </a:endParaRPr>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3937000" y="3598694"/>
            <a:ext cx="8229600" cy="4935705"/>
          </a:xfrm>
          <a:prstGeom prst="rect">
            <a:avLst/>
          </a:prstGeom>
          <a:noFill/>
          <a:ln>
            <a:noFill/>
          </a:ln>
        </p:spPr>
      </p:pic>
      <p:sp>
        <p:nvSpPr>
          <p:cNvPr id="4" name="Rectangle 3"/>
          <p:cNvSpPr/>
          <p:nvPr/>
        </p:nvSpPr>
        <p:spPr>
          <a:xfrm>
            <a:off x="4851400" y="2625026"/>
            <a:ext cx="6353599" cy="584775"/>
          </a:xfrm>
          <a:prstGeom prst="rect">
            <a:avLst/>
          </a:prstGeom>
        </p:spPr>
        <p:txBody>
          <a:bodyPr wrap="none">
            <a:spAutoFit/>
          </a:bodyPr>
          <a:lstStyle/>
          <a:p>
            <a:pPr marL="0" marR="0" lvl="0" indent="0" algn="l" defTabSz="1044976"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ea typeface="Geist Bold" pitchFamily="34" charset="-122"/>
                <a:cs typeface="Times New Roman" panose="02020603050405020304" pitchFamily="18" charset="0"/>
              </a:rPr>
              <a:t>Interface-01: Login/Sign-up Screen</a:t>
            </a:r>
            <a:endPar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85956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u="sng" dirty="0" smtClean="0">
                <a:latin typeface="Times New Roman" panose="02020603050405020304" pitchFamily="18" charset="0"/>
                <a:cs typeface="Times New Roman" panose="02020603050405020304" pitchFamily="18" charset="0"/>
              </a:rPr>
              <a:t>Mockups</a:t>
            </a:r>
            <a:endParaRPr lang="en-US" sz="44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Interface-02: User Dashboard</a:t>
            </a:r>
          </a:p>
        </p:txBody>
      </p:sp>
      <p:sp>
        <p:nvSpPr>
          <p:cNvPr id="4" name="Slide Number Placeholder 3"/>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28</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3708400" y="2971800"/>
            <a:ext cx="8763000" cy="5196420"/>
          </a:xfrm>
          <a:prstGeom prst="rect">
            <a:avLst/>
          </a:prstGeom>
          <a:noFill/>
          <a:ln>
            <a:noFill/>
          </a:ln>
        </p:spPr>
      </p:pic>
    </p:spTree>
    <p:extLst>
      <p:ext uri="{BB962C8B-B14F-4D97-AF65-F5344CB8AC3E}">
        <p14:creationId xmlns:p14="http://schemas.microsoft.com/office/powerpoint/2010/main" val="3588082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u="sng" dirty="0" smtClean="0">
                <a:latin typeface="Times New Roman" panose="02020603050405020304" pitchFamily="18" charset="0"/>
                <a:cs typeface="Times New Roman" panose="02020603050405020304" pitchFamily="18" charset="0"/>
              </a:rPr>
              <a:t>Mockups</a:t>
            </a:r>
            <a:endParaRPr lang="en-US" sz="44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Interface-03: Topic Research Agent</a:t>
            </a:r>
          </a:p>
          <a:p>
            <a:pPr marL="0" indent="0" algn="ctr">
              <a:buNone/>
            </a:pPr>
            <a:endParaRPr lang="en-US" dirty="0"/>
          </a:p>
        </p:txBody>
      </p:sp>
      <p:sp>
        <p:nvSpPr>
          <p:cNvPr id="4" name="Slide Number Placeholder 3"/>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4851400" y="3040380"/>
            <a:ext cx="6858000" cy="5127840"/>
          </a:xfrm>
          <a:prstGeom prst="rect">
            <a:avLst/>
          </a:prstGeom>
          <a:noFill/>
          <a:ln>
            <a:noFill/>
          </a:ln>
        </p:spPr>
      </p:pic>
    </p:spTree>
    <p:extLst>
      <p:ext uri="{BB962C8B-B14F-4D97-AF65-F5344CB8AC3E}">
        <p14:creationId xmlns:p14="http://schemas.microsoft.com/office/powerpoint/2010/main" val="4155151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u="sng" dirty="0" smtClean="0">
                <a:latin typeface="Times New Roman" panose="02020603050405020304" pitchFamily="18" charset="0"/>
                <a:cs typeface="Times New Roman" panose="02020603050405020304" pitchFamily="18" charset="0"/>
              </a:rPr>
              <a:t>Mockups</a:t>
            </a:r>
            <a:endParaRPr lang="en-US" sz="44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Interface-04 Question and Timestamp Generator</a:t>
            </a:r>
          </a:p>
        </p:txBody>
      </p:sp>
      <p:sp>
        <p:nvSpPr>
          <p:cNvPr id="4" name="Slide Number Placeholder 3"/>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4165600" y="3124200"/>
            <a:ext cx="7924800" cy="4727577"/>
          </a:xfrm>
          <a:prstGeom prst="rect">
            <a:avLst/>
          </a:prstGeom>
          <a:noFill/>
          <a:ln>
            <a:noFill/>
          </a:ln>
        </p:spPr>
      </p:pic>
    </p:spTree>
    <p:extLst>
      <p:ext uri="{BB962C8B-B14F-4D97-AF65-F5344CB8AC3E}">
        <p14:creationId xmlns:p14="http://schemas.microsoft.com/office/powerpoint/2010/main" val="9615730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u="sng" dirty="0" smtClean="0">
                <a:latin typeface="Times New Roman" panose="02020603050405020304" pitchFamily="18" charset="0"/>
                <a:cs typeface="Times New Roman" panose="02020603050405020304" pitchFamily="18" charset="0"/>
              </a:rPr>
              <a:t>Mockups</a:t>
            </a:r>
            <a:endParaRPr lang="en-US" sz="44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Interface-05: Episode Outline Planner</a:t>
            </a:r>
          </a:p>
          <a:p>
            <a:pPr marL="0" indent="0" algn="ctr">
              <a:buNone/>
            </a:pP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4470400" y="2971800"/>
            <a:ext cx="7772400" cy="5105400"/>
          </a:xfrm>
          <a:prstGeom prst="rect">
            <a:avLst/>
          </a:prstGeom>
          <a:noFill/>
          <a:ln>
            <a:noFill/>
          </a:ln>
        </p:spPr>
      </p:pic>
    </p:spTree>
    <p:extLst>
      <p:ext uri="{BB962C8B-B14F-4D97-AF65-F5344CB8AC3E}">
        <p14:creationId xmlns:p14="http://schemas.microsoft.com/office/powerpoint/2010/main" val="906439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u="sng" dirty="0" smtClean="0">
                <a:latin typeface="Times New Roman" panose="02020603050405020304" pitchFamily="18" charset="0"/>
                <a:cs typeface="Times New Roman" panose="02020603050405020304" pitchFamily="18" charset="0"/>
              </a:rPr>
              <a:t>Mockups</a:t>
            </a:r>
            <a:endParaRPr lang="en-US" sz="45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Interface-06: User Authentication Screen (Mobile)</a:t>
            </a:r>
          </a:p>
        </p:txBody>
      </p:sp>
      <p:sp>
        <p:nvSpPr>
          <p:cNvPr id="4" name="Slide Number Placeholder 3"/>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32</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5" name="Picture 4"/>
          <p:cNvPicPr/>
          <p:nvPr/>
        </p:nvPicPr>
        <p:blipFill>
          <a:blip r:embed="rId2"/>
          <a:srcRect/>
          <a:stretch>
            <a:fillRect/>
          </a:stretch>
        </p:blipFill>
        <p:spPr bwMode="auto">
          <a:xfrm>
            <a:off x="6205008" y="3048000"/>
            <a:ext cx="2762250" cy="5120220"/>
          </a:xfrm>
          <a:prstGeom prst="rect">
            <a:avLst/>
          </a:prstGeom>
        </p:spPr>
      </p:pic>
    </p:spTree>
    <p:extLst>
      <p:ext uri="{BB962C8B-B14F-4D97-AF65-F5344CB8AC3E}">
        <p14:creationId xmlns:p14="http://schemas.microsoft.com/office/powerpoint/2010/main" val="25498960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u="sng" dirty="0" smtClean="0">
                <a:latin typeface="Times New Roman" panose="02020603050405020304" pitchFamily="18" charset="0"/>
                <a:cs typeface="Times New Roman" panose="02020603050405020304" pitchFamily="18" charset="0"/>
              </a:rPr>
              <a:t>Mockups</a:t>
            </a:r>
            <a:endParaRPr lang="en-US" sz="45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Interface-07: User Dashboard (Mobile)</a:t>
            </a:r>
          </a:p>
          <a:p>
            <a:pPr marL="0" indent="0" algn="ctr">
              <a:buNone/>
            </a:pP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33</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5" name="Picture 4"/>
          <p:cNvPicPr/>
          <p:nvPr/>
        </p:nvPicPr>
        <p:blipFill>
          <a:blip r:embed="rId2"/>
          <a:srcRect/>
          <a:stretch>
            <a:fillRect/>
          </a:stretch>
        </p:blipFill>
        <p:spPr bwMode="auto">
          <a:xfrm>
            <a:off x="6527800" y="2971800"/>
            <a:ext cx="3124200" cy="5439838"/>
          </a:xfrm>
          <a:prstGeom prst="rect">
            <a:avLst/>
          </a:prstGeom>
        </p:spPr>
      </p:pic>
    </p:spTree>
    <p:extLst>
      <p:ext uri="{BB962C8B-B14F-4D97-AF65-F5344CB8AC3E}">
        <p14:creationId xmlns:p14="http://schemas.microsoft.com/office/powerpoint/2010/main" val="30253612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u="sng" dirty="0" smtClean="0">
                <a:latin typeface="Times New Roman" panose="02020603050405020304" pitchFamily="18" charset="0"/>
                <a:cs typeface="Times New Roman" panose="02020603050405020304" pitchFamily="18" charset="0"/>
              </a:rPr>
              <a:t>Mockups</a:t>
            </a:r>
            <a:endParaRPr lang="en-US" sz="45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Interface-08: Topic Research (Mobile)</a:t>
            </a:r>
          </a:p>
          <a:p>
            <a:pPr marL="0" indent="0" algn="ctr">
              <a:buNone/>
            </a:pPr>
            <a:r>
              <a:rPr lang="en-US" dirty="0"/>
              <a:t> </a:t>
            </a:r>
          </a:p>
        </p:txBody>
      </p:sp>
      <p:sp>
        <p:nvSpPr>
          <p:cNvPr id="4" name="Slide Number Placeholder 3"/>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34</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6" name="Picture 5"/>
          <p:cNvPicPr/>
          <p:nvPr/>
        </p:nvPicPr>
        <p:blipFill>
          <a:blip r:embed="rId2"/>
          <a:srcRect/>
          <a:stretch>
            <a:fillRect/>
          </a:stretch>
        </p:blipFill>
        <p:spPr bwMode="auto">
          <a:xfrm>
            <a:off x="6299200" y="2819400"/>
            <a:ext cx="3505200" cy="5715002"/>
          </a:xfrm>
          <a:prstGeom prst="rect">
            <a:avLst/>
          </a:prstGeom>
        </p:spPr>
      </p:pic>
    </p:spTree>
    <p:extLst>
      <p:ext uri="{BB962C8B-B14F-4D97-AF65-F5344CB8AC3E}">
        <p14:creationId xmlns:p14="http://schemas.microsoft.com/office/powerpoint/2010/main" val="21436129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u="sng" dirty="0" smtClean="0">
                <a:latin typeface="Times New Roman" panose="02020603050405020304" pitchFamily="18" charset="0"/>
                <a:cs typeface="Times New Roman" panose="02020603050405020304" pitchFamily="18" charset="0"/>
              </a:rPr>
              <a:t>Mockups</a:t>
            </a:r>
            <a:endParaRPr lang="en-US" sz="45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Interface-09: Questions and Timestamp Generator (Mobile)</a:t>
            </a:r>
          </a:p>
          <a:p>
            <a:pPr marL="0" indent="0" algn="ctr">
              <a:buNone/>
            </a:pP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35</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5" name="Picture 4"/>
          <p:cNvPicPr/>
          <p:nvPr/>
        </p:nvPicPr>
        <p:blipFill>
          <a:blip r:embed="rId2"/>
          <a:srcRect/>
          <a:stretch>
            <a:fillRect/>
          </a:stretch>
        </p:blipFill>
        <p:spPr bwMode="auto">
          <a:xfrm>
            <a:off x="6146800" y="2829296"/>
            <a:ext cx="3429000" cy="5363638"/>
          </a:xfrm>
          <a:prstGeom prst="rect">
            <a:avLst/>
          </a:prstGeom>
        </p:spPr>
      </p:pic>
    </p:spTree>
    <p:extLst>
      <p:ext uri="{BB962C8B-B14F-4D97-AF65-F5344CB8AC3E}">
        <p14:creationId xmlns:p14="http://schemas.microsoft.com/office/powerpoint/2010/main" val="22833959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u="sng" dirty="0" smtClean="0">
                <a:latin typeface="Times New Roman" panose="02020603050405020304" pitchFamily="18" charset="0"/>
                <a:cs typeface="Times New Roman" panose="02020603050405020304" pitchFamily="18" charset="0"/>
              </a:rPr>
              <a:t>Mockups</a:t>
            </a:r>
            <a:endParaRPr lang="en-US" sz="45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Interface-10: Hook and Intro Suggestion (Mobile)</a:t>
            </a:r>
          </a:p>
          <a:p>
            <a:pPr marL="0" indent="0" algn="ctr">
              <a:buNone/>
            </a:pP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36</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5" name="Picture 4"/>
          <p:cNvPicPr/>
          <p:nvPr/>
        </p:nvPicPr>
        <p:blipFill>
          <a:blip r:embed="rId2"/>
          <a:srcRect/>
          <a:stretch>
            <a:fillRect/>
          </a:stretch>
        </p:blipFill>
        <p:spPr bwMode="auto">
          <a:xfrm>
            <a:off x="5994400" y="2895600"/>
            <a:ext cx="3886200" cy="5638802"/>
          </a:xfrm>
          <a:prstGeom prst="rect">
            <a:avLst/>
          </a:prstGeom>
        </p:spPr>
      </p:pic>
    </p:spTree>
    <p:extLst>
      <p:ext uri="{BB962C8B-B14F-4D97-AF65-F5344CB8AC3E}">
        <p14:creationId xmlns:p14="http://schemas.microsoft.com/office/powerpoint/2010/main" val="30362956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u="sng" dirty="0" smtClean="0">
                <a:latin typeface="Times New Roman" panose="02020603050405020304" pitchFamily="18" charset="0"/>
                <a:cs typeface="Times New Roman" panose="02020603050405020304" pitchFamily="18" charset="0"/>
              </a:rPr>
              <a:t>Mockups</a:t>
            </a:r>
            <a:endParaRPr lang="en-US" sz="4500" b="1"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Interface-11: Episode Outline Planner (Mobile)</a:t>
            </a:r>
          </a:p>
        </p:txBody>
      </p:sp>
      <p:sp>
        <p:nvSpPr>
          <p:cNvPr id="4" name="Slide Number Placeholder 3"/>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37</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5" name="Picture 4"/>
          <p:cNvPicPr/>
          <p:nvPr/>
        </p:nvPicPr>
        <p:blipFill>
          <a:blip r:embed="rId2"/>
          <a:srcRect/>
          <a:stretch>
            <a:fillRect/>
          </a:stretch>
        </p:blipFill>
        <p:spPr bwMode="auto">
          <a:xfrm>
            <a:off x="5918200" y="2864910"/>
            <a:ext cx="4114800" cy="5303309"/>
          </a:xfrm>
          <a:prstGeom prst="rect">
            <a:avLst/>
          </a:prstGeom>
        </p:spPr>
      </p:pic>
    </p:spTree>
    <p:extLst>
      <p:ext uri="{BB962C8B-B14F-4D97-AF65-F5344CB8AC3E}">
        <p14:creationId xmlns:p14="http://schemas.microsoft.com/office/powerpoint/2010/main" val="7994778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574800" y="3581400"/>
            <a:ext cx="14219757" cy="2712327"/>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buFont typeface="Arial" panose="020B0604020202020204" pitchFamily="34" charset="0"/>
              <a:buChar char="•"/>
            </a:pPr>
            <a:r>
              <a:rPr lang="en-US" sz="6000" b="1" dirty="0">
                <a:solidFill>
                  <a:schemeClr val="tx1">
                    <a:lumMod val="95000"/>
                    <a:lumOff val="5000"/>
                  </a:schemeClr>
                </a:solidFill>
                <a:latin typeface="Times New Roman" panose="02020603050405020304" pitchFamily="18" charset="0"/>
                <a:cs typeface="Times New Roman" panose="02020603050405020304" pitchFamily="18" charset="0"/>
              </a:rPr>
              <a:t>SRS</a:t>
            </a:r>
            <a:endParaRPr lang="en-US"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6000" dirty="0">
              <a:solidFill>
                <a:srgbClr val="FF0000"/>
              </a:solidFill>
              <a:latin typeface="Times New Roman" panose="02020603050405020304" pitchFamily="18" charset="0"/>
              <a:cs typeface="Times New Roman" panose="02020603050405020304" pitchFamily="18" charset="0"/>
            </a:endParaRPr>
          </a:p>
          <a:p>
            <a:endParaRPr lang="en-US" sz="6000" dirty="0">
              <a:solidFill>
                <a:srgbClr val="FF0000"/>
              </a:solidFill>
              <a:latin typeface="Calibri"/>
            </a:endParaRPr>
          </a:p>
        </p:txBody>
      </p:sp>
    </p:spTree>
    <p:extLst>
      <p:ext uri="{BB962C8B-B14F-4D97-AF65-F5344CB8AC3E}">
        <p14:creationId xmlns:p14="http://schemas.microsoft.com/office/powerpoint/2010/main" val="6219284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674B1-DB41-CCBA-0002-031490D39043}"/>
              </a:ext>
            </a:extLst>
          </p:cNvPr>
          <p:cNvSpPr>
            <a:spLocks noGrp="1"/>
          </p:cNvSpPr>
          <p:nvPr>
            <p:ph type="title"/>
          </p:nvPr>
        </p:nvSpPr>
        <p:spPr/>
        <p:txBody>
          <a:bodyPr/>
          <a:lstStyle/>
          <a:p>
            <a:r>
              <a:rPr lang="en-US" sz="6600" b="1" u="sng" dirty="0">
                <a:latin typeface="Times New Roman" panose="02020603050405020304" pitchFamily="18" charset="0"/>
                <a:cs typeface="Times New Roman" panose="02020603050405020304" pitchFamily="18" charset="0"/>
              </a:rPr>
              <a:t>Context / Block Diagram</a:t>
            </a:r>
            <a:br>
              <a:rPr lang="en-US" sz="6600" b="1" u="sng" dirty="0">
                <a:latin typeface="Times New Roman" panose="02020603050405020304" pitchFamily="18" charset="0"/>
                <a:cs typeface="Times New Roman" panose="02020603050405020304" pitchFamily="18" charset="0"/>
              </a:rPr>
            </a:br>
            <a:endParaRPr lang="en-US" sz="6000" dirty="0"/>
          </a:p>
        </p:txBody>
      </p:sp>
      <p:pic>
        <p:nvPicPr>
          <p:cNvPr id="6" name="Content Placeholder 5">
            <a:extLst>
              <a:ext uri="{FF2B5EF4-FFF2-40B4-BE49-F238E27FC236}">
                <a16:creationId xmlns:a16="http://schemas.microsoft.com/office/drawing/2014/main" id="{5179C56F-F660-7E68-054E-EA1546F09B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51400" y="2116306"/>
            <a:ext cx="6705599" cy="6209807"/>
          </a:xfrm>
          <a:prstGeom prst="rect">
            <a:avLst/>
          </a:prstGeom>
        </p:spPr>
      </p:pic>
      <p:sp>
        <p:nvSpPr>
          <p:cNvPr id="4" name="Slide Number Placeholder 3">
            <a:extLst>
              <a:ext uri="{FF2B5EF4-FFF2-40B4-BE49-F238E27FC236}">
                <a16:creationId xmlns:a16="http://schemas.microsoft.com/office/drawing/2014/main" id="{942893A0-6C0E-BDE4-AA68-9A552727DC9F}"/>
              </a:ext>
            </a:extLst>
          </p:cNvPr>
          <p:cNvSpPr>
            <a:spLocks noGrp="1"/>
          </p:cNvSpPr>
          <p:nvPr>
            <p:ph type="sldNum" sz="quarter" idx="12"/>
          </p:nvPr>
        </p:nvSpPr>
        <p:spPr/>
        <p:txBody>
          <a:bodyPr/>
          <a:lstStyle/>
          <a:p>
            <a:pPr marL="0" marR="0" lvl="0" indent="0" algn="r" defTabSz="1044976" rtl="0" eaLnBrk="1" fontAlgn="auto" latinLnBrk="0" hangingPunct="1">
              <a:lnSpc>
                <a:spcPct val="100000"/>
              </a:lnSpc>
              <a:spcBef>
                <a:spcPts val="0"/>
              </a:spcBef>
              <a:spcAft>
                <a:spcPts val="0"/>
              </a:spcAft>
              <a:buClrTx/>
              <a:buSzTx/>
              <a:buFontTx/>
              <a:buNone/>
              <a:tabLst/>
              <a:defRPr/>
            </a:pPr>
            <a:fld id="{A8EF9831-35B4-4843-9AA9-F06FC1EDDB89}"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4976" rtl="0" eaLnBrk="1" fontAlgn="auto" latinLnBrk="0" hangingPunct="1">
                <a:lnSpc>
                  <a:spcPct val="100000"/>
                </a:lnSpc>
                <a:spcBef>
                  <a:spcPts val="0"/>
                </a:spcBef>
                <a:spcAft>
                  <a:spcPts val="0"/>
                </a:spcAft>
                <a:buClrTx/>
                <a:buSzTx/>
                <a:buFontTx/>
                <a:buNone/>
                <a:tabLst/>
                <a:defRPr/>
              </a:pPr>
              <a:t>39</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811716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Requirement Elicitation Techniques</a:t>
            </a:r>
            <a:br>
              <a:rPr lang="en-US" sz="4500" b="1" u="sng" dirty="0">
                <a:latin typeface="Times New Roman" panose="02020603050405020304" pitchFamily="18" charset="0"/>
                <a:cs typeface="Times New Roman" panose="02020603050405020304" pitchFamily="18" charset="0"/>
              </a:rPr>
            </a:br>
            <a:endParaRPr lang="en-US" sz="4500" b="1" u="sng" dirty="0">
              <a:latin typeface="Times New Roman" panose="02020603050405020304" pitchFamily="18" charset="0"/>
              <a:cs typeface="Times New Roman" panose="02020603050405020304" pitchFamily="18" charset="0"/>
            </a:endParaRPr>
          </a:p>
        </p:txBody>
      </p:sp>
      <p:sp>
        <p:nvSpPr>
          <p:cNvPr id="3" name="Content Placeholder 2"/>
          <p:cNvSpPr txBox="1">
            <a:spLocks/>
          </p:cNvSpPr>
          <p:nvPr/>
        </p:nvSpPr>
        <p:spPr>
          <a:xfrm>
            <a:off x="889000" y="2514600"/>
            <a:ext cx="144780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r>
              <a:rPr lang="en-GB" b="1" dirty="0">
                <a:solidFill>
                  <a:schemeClr val="tx1"/>
                </a:solidFill>
                <a:latin typeface="Times New Roman" panose="02020603050405020304" pitchFamily="18" charset="0"/>
                <a:cs typeface="Times New Roman" panose="02020603050405020304" pitchFamily="18" charset="0"/>
              </a:rPr>
              <a:t>Technique: Observation</a:t>
            </a:r>
            <a:endParaRPr lang="en-GB" dirty="0">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GB" b="1" dirty="0">
                <a:solidFill>
                  <a:schemeClr val="tx1"/>
                </a:solidFill>
                <a:latin typeface="Times New Roman" panose="02020603050405020304" pitchFamily="18" charset="0"/>
                <a:cs typeface="Times New Roman" panose="02020603050405020304" pitchFamily="18" charset="0"/>
              </a:rPr>
              <a:t>Reason:</a:t>
            </a:r>
            <a:r>
              <a:rPr lang="en-GB" dirty="0">
                <a:solidFill>
                  <a:schemeClr val="tx1"/>
                </a:solidFill>
                <a:latin typeface="Times New Roman" panose="02020603050405020304" pitchFamily="18" charset="0"/>
                <a:cs typeface="Times New Roman" panose="02020603050405020304" pitchFamily="18" charset="0"/>
              </a:rPr>
              <a:t> By watching podcast creators manually plan episodes using existing tools (Notion, </a:t>
            </a:r>
            <a:r>
              <a:rPr lang="en-GB" dirty="0" err="1">
                <a:solidFill>
                  <a:schemeClr val="tx1"/>
                </a:solidFill>
                <a:latin typeface="Times New Roman" panose="02020603050405020304" pitchFamily="18" charset="0"/>
                <a:cs typeface="Times New Roman" panose="02020603050405020304" pitchFamily="18" charset="0"/>
              </a:rPr>
              <a:t>ChatGPT</a:t>
            </a:r>
            <a:r>
              <a:rPr lang="en-GB" dirty="0">
                <a:solidFill>
                  <a:schemeClr val="tx1"/>
                </a:solidFill>
                <a:latin typeface="Times New Roman" panose="02020603050405020304" pitchFamily="18" charset="0"/>
                <a:cs typeface="Times New Roman" panose="02020603050405020304" pitchFamily="18" charset="0"/>
              </a:rPr>
              <a:t>, Google Docs, sticky notes), we identified unspoken inefficiencies such as scattered research, unstructured question preparation, and inconsistent episode flow, issues that users themselves may not articulate clearly in interviews or surveys.</a:t>
            </a:r>
          </a:p>
          <a:p>
            <a:pPr marL="457200" indent="-457200" algn="just">
              <a:buFont typeface="Arial" panose="020B0604020202020204" pitchFamily="34" charset="0"/>
              <a:buChar char="•"/>
            </a:pPr>
            <a:r>
              <a:rPr lang="en-GB" b="1" dirty="0">
                <a:solidFill>
                  <a:schemeClr val="tx1"/>
                </a:solidFill>
                <a:latin typeface="Times New Roman" panose="02020603050405020304" pitchFamily="18" charset="0"/>
                <a:cs typeface="Times New Roman" panose="02020603050405020304" pitchFamily="18" charset="0"/>
              </a:rPr>
              <a:t>Reference:</a:t>
            </a:r>
            <a:r>
              <a:rPr lang="en-GB" dirty="0">
                <a:solidFill>
                  <a:schemeClr val="tx1"/>
                </a:solidFill>
                <a:latin typeface="Times New Roman" panose="02020603050405020304" pitchFamily="18" charset="0"/>
                <a:cs typeface="Times New Roman" panose="02020603050405020304" pitchFamily="18" charset="0"/>
              </a:rPr>
              <a:t> </a:t>
            </a:r>
            <a:r>
              <a:rPr lang="en-GB" dirty="0" err="1">
                <a:solidFill>
                  <a:schemeClr val="tx1"/>
                </a:solidFill>
                <a:latin typeface="Times New Roman" panose="02020603050405020304" pitchFamily="18" charset="0"/>
                <a:cs typeface="Times New Roman" panose="02020603050405020304" pitchFamily="18" charset="0"/>
              </a:rPr>
              <a:t>Wiegers</a:t>
            </a:r>
            <a:r>
              <a:rPr lang="en-GB" dirty="0">
                <a:solidFill>
                  <a:schemeClr val="tx1"/>
                </a:solidFill>
                <a:latin typeface="Times New Roman" panose="02020603050405020304" pitchFamily="18" charset="0"/>
                <a:cs typeface="Times New Roman" panose="02020603050405020304" pitchFamily="18" charset="0"/>
              </a:rPr>
              <a:t>, K. E., &amp; Beatty, J. (2013). </a:t>
            </a:r>
            <a:r>
              <a:rPr lang="en-GB" i="1" dirty="0">
                <a:solidFill>
                  <a:schemeClr val="tx1"/>
                </a:solidFill>
                <a:latin typeface="Times New Roman" panose="02020603050405020304" pitchFamily="18" charset="0"/>
                <a:cs typeface="Times New Roman" panose="02020603050405020304" pitchFamily="18" charset="0"/>
              </a:rPr>
              <a:t>Software Requirements</a:t>
            </a:r>
            <a:r>
              <a:rPr lang="en-GB" dirty="0">
                <a:solidFill>
                  <a:schemeClr val="tx1"/>
                </a:solidFill>
                <a:latin typeface="Times New Roman" panose="02020603050405020304" pitchFamily="18" charset="0"/>
                <a:cs typeface="Times New Roman" panose="02020603050405020304" pitchFamily="18" charset="0"/>
              </a:rPr>
              <a:t> (3rd ed.). Microsoft Press, pp. 89-91.</a:t>
            </a:r>
          </a:p>
        </p:txBody>
      </p:sp>
    </p:spTree>
    <p:extLst>
      <p:ext uri="{BB962C8B-B14F-4D97-AF65-F5344CB8AC3E}">
        <p14:creationId xmlns:p14="http://schemas.microsoft.com/office/powerpoint/2010/main" val="32943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6600" b="1" u="sng" dirty="0">
                <a:latin typeface="Times New Roman" panose="02020603050405020304" pitchFamily="18" charset="0"/>
                <a:cs typeface="Times New Roman" panose="02020603050405020304" pitchFamily="18" charset="0"/>
              </a:rPr>
              <a:t>Use Case Diagram</a:t>
            </a:r>
            <a:br>
              <a:rPr lang="en-US" sz="6600" b="1" u="sng" dirty="0">
                <a:latin typeface="Times New Roman" panose="02020603050405020304" pitchFamily="18" charset="0"/>
                <a:cs typeface="Times New Roman" panose="02020603050405020304" pitchFamily="18" charset="0"/>
              </a:rPr>
            </a:br>
            <a:r>
              <a:rPr lang="en-US" sz="6600" b="1" u="sng" dirty="0">
                <a:latin typeface="Times New Roman" panose="02020603050405020304" pitchFamily="18" charset="0"/>
                <a:cs typeface="Times New Roman" panose="02020603050405020304" pitchFamily="18" charset="0"/>
              </a:rPr>
              <a:t/>
            </a:r>
            <a:br>
              <a:rPr lang="en-US" sz="6600" b="1" u="sng" dirty="0">
                <a:latin typeface="Times New Roman" panose="02020603050405020304" pitchFamily="18" charset="0"/>
                <a:cs typeface="Times New Roman" panose="02020603050405020304" pitchFamily="18" charset="0"/>
              </a:rPr>
            </a:br>
            <a:endParaRPr lang="en-US" sz="6600" b="1" u="sng" dirty="0">
              <a:latin typeface="Times New Roman" panose="02020603050405020304" pitchFamily="18" charset="0"/>
              <a:cs typeface="Times New Roman" panose="02020603050405020304" pitchFamily="18" charset="0"/>
            </a:endParaRPr>
          </a:p>
        </p:txBody>
      </p:sp>
      <p:sp>
        <p:nvSpPr>
          <p:cNvPr id="3" name="Content Placeholder 2"/>
          <p:cNvSpPr txBox="1">
            <a:spLocks/>
          </p:cNvSpPr>
          <p:nvPr/>
        </p:nvSpPr>
        <p:spPr>
          <a:xfrm>
            <a:off x="355600" y="2129081"/>
            <a:ext cx="155448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000" b="0"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mn-ea"/>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2800" y="1981200"/>
            <a:ext cx="7010399" cy="6858000"/>
          </a:xfrm>
          <a:prstGeom prst="rect">
            <a:avLst/>
          </a:prstGeom>
        </p:spPr>
      </p:pic>
    </p:spTree>
    <p:extLst>
      <p:ext uri="{BB962C8B-B14F-4D97-AF65-F5344CB8AC3E}">
        <p14:creationId xmlns:p14="http://schemas.microsoft.com/office/powerpoint/2010/main" val="31296780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65400" y="304800"/>
            <a:ext cx="12374880" cy="1143000"/>
          </a:xfrm>
        </p:spPr>
        <p:txBody>
          <a:bodyPr/>
          <a:lstStyle/>
          <a:p>
            <a:r>
              <a:rPr lang="en-US" sz="3600" b="1" u="sng" dirty="0" err="1">
                <a:latin typeface="Times New Roman" panose="02020603050405020304" pitchFamily="18" charset="0"/>
                <a:cs typeface="Times New Roman" panose="02020603050405020304" pitchFamily="18" charset="0"/>
              </a:rPr>
              <a:t>Usecase</a:t>
            </a:r>
            <a:r>
              <a:rPr lang="en-US" sz="3600" b="1" u="sng" dirty="0">
                <a:latin typeface="Times New Roman" panose="02020603050405020304" pitchFamily="18" charset="0"/>
                <a:cs typeface="Times New Roman" panose="02020603050405020304" pitchFamily="18" charset="0"/>
              </a:rPr>
              <a:t> Lists (module wise)</a:t>
            </a:r>
            <a:br>
              <a:rPr lang="en-US" sz="3600" b="1" u="sng" dirty="0">
                <a:latin typeface="Times New Roman" panose="02020603050405020304" pitchFamily="18" charset="0"/>
                <a:cs typeface="Times New Roman" panose="02020603050405020304" pitchFamily="18" charset="0"/>
              </a:rPr>
            </a:br>
            <a:r>
              <a:rPr lang="en-US" sz="3600" b="1" u="sng" dirty="0">
                <a:latin typeface="Times New Roman" panose="02020603050405020304" pitchFamily="18" charset="0"/>
                <a:cs typeface="Times New Roman" panose="02020603050405020304" pitchFamily="18" charset="0"/>
              </a:rPr>
              <a:t>Module 1: User Authentication &amp; Profile Management (Web)</a:t>
            </a:r>
            <a:br>
              <a:rPr lang="en-US" sz="3600" b="1" u="sng" dirty="0">
                <a:latin typeface="Times New Roman" panose="02020603050405020304" pitchFamily="18" charset="0"/>
                <a:cs typeface="Times New Roman" panose="02020603050405020304" pitchFamily="18" charset="0"/>
              </a:rPr>
            </a:br>
            <a:r>
              <a:rPr lang="en-US" sz="3600" b="1" u="sng" dirty="0">
                <a:latin typeface="Times New Roman" panose="02020603050405020304" pitchFamily="18" charset="0"/>
                <a:cs typeface="Times New Roman" panose="02020603050405020304" pitchFamily="18" charset="0"/>
              </a:rPr>
              <a:t/>
            </a:r>
            <a:br>
              <a:rPr lang="en-US" sz="3600" b="1" u="sng" dirty="0">
                <a:latin typeface="Times New Roman" panose="02020603050405020304" pitchFamily="18" charset="0"/>
                <a:cs typeface="Times New Roman" panose="02020603050405020304" pitchFamily="18" charset="0"/>
              </a:rPr>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endParaRPr lang="en-US" sz="4500" b="1" u="sng"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A833BA2B-16F3-434A-A0D4-81BDC2A4FF3E}"/>
              </a:ext>
            </a:extLst>
          </p:cNvPr>
          <p:cNvGraphicFramePr>
            <a:graphicFrameLocks noGrp="1"/>
          </p:cNvGraphicFramePr>
          <p:nvPr>
            <p:extLst>
              <p:ext uri="{D42A27DB-BD31-4B8C-83A1-F6EECF244321}">
                <p14:modId xmlns:p14="http://schemas.microsoft.com/office/powerpoint/2010/main" val="484623202"/>
              </p:ext>
            </p:extLst>
          </p:nvPr>
        </p:nvGraphicFramePr>
        <p:xfrm>
          <a:off x="431800" y="2667000"/>
          <a:ext cx="15544800" cy="5136796"/>
        </p:xfrm>
        <a:graphic>
          <a:graphicData uri="http://schemas.openxmlformats.org/drawingml/2006/table">
            <a:tbl>
              <a:tblPr firstRow="1" bandRow="1">
                <a:tableStyleId>{5C22544A-7EE6-4342-B048-85BDC9FD1C3A}</a:tableStyleId>
              </a:tblPr>
              <a:tblGrid>
                <a:gridCol w="2008053">
                  <a:extLst>
                    <a:ext uri="{9D8B030D-6E8A-4147-A177-3AD203B41FA5}">
                      <a16:colId xmlns:a16="http://schemas.microsoft.com/office/drawing/2014/main" val="20000"/>
                    </a:ext>
                  </a:extLst>
                </a:gridCol>
                <a:gridCol w="2250208">
                  <a:extLst>
                    <a:ext uri="{9D8B030D-6E8A-4147-A177-3AD203B41FA5}">
                      <a16:colId xmlns:a16="http://schemas.microsoft.com/office/drawing/2014/main" val="20001"/>
                    </a:ext>
                  </a:extLst>
                </a:gridCol>
                <a:gridCol w="7167802">
                  <a:extLst>
                    <a:ext uri="{9D8B030D-6E8A-4147-A177-3AD203B41FA5}">
                      <a16:colId xmlns:a16="http://schemas.microsoft.com/office/drawing/2014/main" val="20002"/>
                    </a:ext>
                  </a:extLst>
                </a:gridCol>
                <a:gridCol w="4118737">
                  <a:extLst>
                    <a:ext uri="{9D8B030D-6E8A-4147-A177-3AD203B41FA5}">
                      <a16:colId xmlns:a16="http://schemas.microsoft.com/office/drawing/2014/main" val="4131745611"/>
                    </a:ext>
                  </a:extLst>
                </a:gridCol>
              </a:tblGrid>
              <a:tr h="513820">
                <a:tc>
                  <a:txBody>
                    <a:bodyPr/>
                    <a:lstStyle/>
                    <a:p>
                      <a:pPr algn="l"/>
                      <a:r>
                        <a:rPr lang="en-US" dirty="0">
                          <a:effectLst/>
                          <a:latin typeface="Times New Roman" panose="02020603050405020304" pitchFamily="18" charset="0"/>
                          <a:cs typeface="Times New Roman" panose="02020603050405020304" pitchFamily="18" charset="0"/>
                        </a:rPr>
                        <a:t>Use Case Id</a:t>
                      </a:r>
                      <a:endParaRPr lang="en-US" b="0" dirty="0">
                        <a:effectLst/>
                        <a:latin typeface="Times New Roman" panose="02020603050405020304" pitchFamily="18" charset="0"/>
                        <a:cs typeface="Times New Roman" panose="02020603050405020304" pitchFamily="18" charset="0"/>
                      </a:endParaRPr>
                    </a:p>
                  </a:txBody>
                  <a:tcPr marR="101600" marT="63500" marB="63500" anchor="ctr"/>
                </a:tc>
                <a:tc>
                  <a:txBody>
                    <a:bodyPr/>
                    <a:lstStyle/>
                    <a:p>
                      <a:pPr algn="l"/>
                      <a:r>
                        <a:rPr lang="en-US" dirty="0">
                          <a:effectLst/>
                          <a:latin typeface="Times New Roman" panose="02020603050405020304" pitchFamily="18" charset="0"/>
                          <a:cs typeface="Times New Roman" panose="02020603050405020304" pitchFamily="18" charset="0"/>
                        </a:rPr>
                        <a:t>Use Case Title</a:t>
                      </a:r>
                      <a:endParaRPr lang="en-US" b="0" dirty="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pPr algn="l"/>
                      <a:r>
                        <a:rPr lang="en-US" dirty="0">
                          <a:effectLst/>
                          <a:latin typeface="Times New Roman" panose="02020603050405020304" pitchFamily="18" charset="0"/>
                          <a:cs typeface="Times New Roman" panose="02020603050405020304" pitchFamily="18" charset="0"/>
                        </a:rPr>
                        <a:t>Use Case Description</a:t>
                      </a:r>
                      <a:endParaRPr lang="en-US" b="0" dirty="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pPr algn="l"/>
                      <a:r>
                        <a:rPr lang="en-US">
                          <a:effectLst/>
                          <a:latin typeface="Times New Roman" panose="02020603050405020304" pitchFamily="18" charset="0"/>
                          <a:cs typeface="Times New Roman" panose="02020603050405020304" pitchFamily="18" charset="0"/>
                        </a:rPr>
                        <a:t>Functional Requirement</a:t>
                      </a:r>
                      <a:endParaRPr lang="en-US" b="0">
                        <a:effectLst/>
                        <a:latin typeface="Times New Roman" panose="02020603050405020304" pitchFamily="18" charset="0"/>
                        <a:cs typeface="Times New Roman" panose="02020603050405020304" pitchFamily="18" charset="0"/>
                      </a:endParaRPr>
                    </a:p>
                  </a:txBody>
                  <a:tcPr marL="101600" marR="101600" marT="63500" marB="63500" anchor="ctr"/>
                </a:tc>
                <a:extLst>
                  <a:ext uri="{0D108BD9-81ED-4DB2-BD59-A6C34878D82A}">
                    <a16:rowId xmlns:a16="http://schemas.microsoft.com/office/drawing/2014/main" val="10000"/>
                  </a:ext>
                </a:extLst>
              </a:tr>
              <a:tr h="513820">
                <a:tc>
                  <a:txBody>
                    <a:bodyPr/>
                    <a:lstStyle/>
                    <a:p>
                      <a:r>
                        <a:rPr lang="en-US" dirty="0">
                          <a:effectLst/>
                          <a:latin typeface="Times New Roman" panose="02020603050405020304" pitchFamily="18" charset="0"/>
                          <a:cs typeface="Times New Roman" panose="02020603050405020304" pitchFamily="18" charset="0"/>
                        </a:rPr>
                        <a:t>UC-Web-1.1</a:t>
                      </a:r>
                      <a:endParaRPr lang="en-US" b="0" dirty="0">
                        <a:effectLst/>
                        <a:latin typeface="Times New Roman" panose="02020603050405020304" pitchFamily="18" charset="0"/>
                        <a:cs typeface="Times New Roman" panose="02020603050405020304" pitchFamily="18" charset="0"/>
                      </a:endParaRPr>
                    </a:p>
                  </a:txBody>
                  <a:tcPr marR="101600" marT="63500" marB="63500" anchor="ctr"/>
                </a:tc>
                <a:tc>
                  <a:txBody>
                    <a:bodyPr/>
                    <a:lstStyle/>
                    <a:p>
                      <a:r>
                        <a:rPr lang="en-US" dirty="0">
                          <a:effectLst/>
                          <a:latin typeface="Times New Roman" panose="02020603050405020304" pitchFamily="18" charset="0"/>
                          <a:cs typeface="Times New Roman" panose="02020603050405020304" pitchFamily="18" charset="0"/>
                        </a:rPr>
                        <a:t>Signup</a:t>
                      </a:r>
                      <a:endParaRPr lang="en-US" b="0" dirty="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GB">
                          <a:effectLst/>
                          <a:latin typeface="Times New Roman" panose="02020603050405020304" pitchFamily="18" charset="0"/>
                          <a:cs typeface="Times New Roman" panose="02020603050405020304" pitchFamily="18" charset="0"/>
                        </a:rPr>
                        <a:t>User creates an account using email/password or Google OAuth.</a:t>
                      </a:r>
                      <a:endParaRPr lang="en-GB" b="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US">
                          <a:effectLst/>
                          <a:latin typeface="Times New Roman" panose="02020603050405020304" pitchFamily="18" charset="0"/>
                          <a:cs typeface="Times New Roman" panose="02020603050405020304" pitchFamily="18" charset="0"/>
                        </a:rPr>
                        <a:t>FR1.1</a:t>
                      </a:r>
                      <a:endParaRPr lang="en-US" b="0">
                        <a:effectLst/>
                        <a:latin typeface="Times New Roman" panose="02020603050405020304" pitchFamily="18" charset="0"/>
                        <a:cs typeface="Times New Roman" panose="02020603050405020304" pitchFamily="18" charset="0"/>
                      </a:endParaRPr>
                    </a:p>
                  </a:txBody>
                  <a:tcPr marL="101600" marT="63500" marB="63500" anchor="ctr"/>
                </a:tc>
                <a:extLst>
                  <a:ext uri="{0D108BD9-81ED-4DB2-BD59-A6C34878D82A}">
                    <a16:rowId xmlns:a16="http://schemas.microsoft.com/office/drawing/2014/main" val="2344309190"/>
                  </a:ext>
                </a:extLst>
              </a:tr>
              <a:tr h="711330">
                <a:tc>
                  <a:txBody>
                    <a:bodyPr/>
                    <a:lstStyle/>
                    <a:p>
                      <a:r>
                        <a:rPr lang="en-US">
                          <a:effectLst/>
                          <a:latin typeface="Times New Roman" panose="02020603050405020304" pitchFamily="18" charset="0"/>
                          <a:cs typeface="Times New Roman" panose="02020603050405020304" pitchFamily="18" charset="0"/>
                        </a:rPr>
                        <a:t>UC-Web-1.2</a:t>
                      </a:r>
                      <a:endParaRPr lang="en-US" b="0">
                        <a:effectLst/>
                        <a:latin typeface="Times New Roman" panose="02020603050405020304" pitchFamily="18" charset="0"/>
                        <a:cs typeface="Times New Roman" panose="02020603050405020304" pitchFamily="18" charset="0"/>
                      </a:endParaRPr>
                    </a:p>
                  </a:txBody>
                  <a:tcPr marR="101600" marT="63500" marB="63500" anchor="ctr"/>
                </a:tc>
                <a:tc>
                  <a:txBody>
                    <a:bodyPr/>
                    <a:lstStyle/>
                    <a:p>
                      <a:r>
                        <a:rPr lang="en-US" dirty="0">
                          <a:effectLst/>
                          <a:latin typeface="Times New Roman" panose="02020603050405020304" pitchFamily="18" charset="0"/>
                          <a:cs typeface="Times New Roman" panose="02020603050405020304" pitchFamily="18" charset="0"/>
                        </a:rPr>
                        <a:t>Login</a:t>
                      </a:r>
                      <a:endParaRPr lang="en-US" b="0" dirty="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GB" dirty="0">
                          <a:effectLst/>
                          <a:latin typeface="Times New Roman" panose="02020603050405020304" pitchFamily="18" charset="0"/>
                          <a:cs typeface="Times New Roman" panose="02020603050405020304" pitchFamily="18" charset="0"/>
                        </a:rPr>
                        <a:t>User provides credentials to authenticate and access dashboard.</a:t>
                      </a:r>
                      <a:endParaRPr lang="en-GB" b="0" dirty="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US">
                          <a:effectLst/>
                          <a:latin typeface="Times New Roman" panose="02020603050405020304" pitchFamily="18" charset="0"/>
                          <a:cs typeface="Times New Roman" panose="02020603050405020304" pitchFamily="18" charset="0"/>
                        </a:rPr>
                        <a:t>FR1.3</a:t>
                      </a:r>
                      <a:endParaRPr lang="en-US" b="0">
                        <a:effectLst/>
                        <a:latin typeface="Times New Roman" panose="02020603050405020304" pitchFamily="18" charset="0"/>
                        <a:cs typeface="Times New Roman" panose="02020603050405020304" pitchFamily="18" charset="0"/>
                      </a:endParaRPr>
                    </a:p>
                  </a:txBody>
                  <a:tcPr marL="101600" marT="63500" marB="63500" anchor="ctr"/>
                </a:tc>
                <a:extLst>
                  <a:ext uri="{0D108BD9-81ED-4DB2-BD59-A6C34878D82A}">
                    <a16:rowId xmlns:a16="http://schemas.microsoft.com/office/drawing/2014/main" val="10001"/>
                  </a:ext>
                </a:extLst>
              </a:tr>
              <a:tr h="597517">
                <a:tc>
                  <a:txBody>
                    <a:bodyPr/>
                    <a:lstStyle/>
                    <a:p>
                      <a:r>
                        <a:rPr lang="en-US">
                          <a:effectLst/>
                          <a:latin typeface="Times New Roman" panose="02020603050405020304" pitchFamily="18" charset="0"/>
                          <a:cs typeface="Times New Roman" panose="02020603050405020304" pitchFamily="18" charset="0"/>
                        </a:rPr>
                        <a:t>UC-Web-1.3</a:t>
                      </a:r>
                      <a:endParaRPr lang="en-US" b="0">
                        <a:effectLst/>
                        <a:latin typeface="Times New Roman" panose="02020603050405020304" pitchFamily="18" charset="0"/>
                        <a:cs typeface="Times New Roman" panose="02020603050405020304" pitchFamily="18" charset="0"/>
                      </a:endParaRPr>
                    </a:p>
                  </a:txBody>
                  <a:tcPr marR="101600" marT="63500" marB="63500" anchor="ctr"/>
                </a:tc>
                <a:tc>
                  <a:txBody>
                    <a:bodyPr/>
                    <a:lstStyle/>
                    <a:p>
                      <a:r>
                        <a:rPr lang="en-US">
                          <a:effectLst/>
                          <a:latin typeface="Times New Roman" panose="02020603050405020304" pitchFamily="18" charset="0"/>
                          <a:cs typeface="Times New Roman" panose="02020603050405020304" pitchFamily="18" charset="0"/>
                        </a:rPr>
                        <a:t>Change Password</a:t>
                      </a:r>
                      <a:endParaRPr lang="en-US" b="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GB" dirty="0">
                          <a:effectLst/>
                          <a:latin typeface="Times New Roman" panose="02020603050405020304" pitchFamily="18" charset="0"/>
                          <a:cs typeface="Times New Roman" panose="02020603050405020304" pitchFamily="18" charset="0"/>
                        </a:rPr>
                        <a:t>User changes account password after providing old password.</a:t>
                      </a:r>
                      <a:endParaRPr lang="en-GB" b="0" dirty="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US">
                          <a:effectLst/>
                          <a:latin typeface="Times New Roman" panose="02020603050405020304" pitchFamily="18" charset="0"/>
                          <a:cs typeface="Times New Roman" panose="02020603050405020304" pitchFamily="18" charset="0"/>
                        </a:rPr>
                        <a:t>FR1.7</a:t>
                      </a:r>
                      <a:endParaRPr lang="en-US" b="0">
                        <a:effectLst/>
                        <a:latin typeface="Times New Roman" panose="02020603050405020304" pitchFamily="18" charset="0"/>
                        <a:cs typeface="Times New Roman" panose="02020603050405020304" pitchFamily="18" charset="0"/>
                      </a:endParaRPr>
                    </a:p>
                  </a:txBody>
                  <a:tcPr marL="101600" marT="63500" marB="63500" anchor="ctr"/>
                </a:tc>
                <a:extLst>
                  <a:ext uri="{0D108BD9-81ED-4DB2-BD59-A6C34878D82A}">
                    <a16:rowId xmlns:a16="http://schemas.microsoft.com/office/drawing/2014/main" val="10002"/>
                  </a:ext>
                </a:extLst>
              </a:tr>
              <a:tr h="763793">
                <a:tc>
                  <a:txBody>
                    <a:bodyPr/>
                    <a:lstStyle/>
                    <a:p>
                      <a:r>
                        <a:rPr lang="en-US">
                          <a:effectLst/>
                          <a:latin typeface="Times New Roman" panose="02020603050405020304" pitchFamily="18" charset="0"/>
                          <a:cs typeface="Times New Roman" panose="02020603050405020304" pitchFamily="18" charset="0"/>
                        </a:rPr>
                        <a:t>UC-Web-1.4</a:t>
                      </a:r>
                      <a:endParaRPr lang="en-US" b="0">
                        <a:effectLst/>
                        <a:latin typeface="Times New Roman" panose="02020603050405020304" pitchFamily="18" charset="0"/>
                        <a:cs typeface="Times New Roman" panose="02020603050405020304" pitchFamily="18" charset="0"/>
                      </a:endParaRPr>
                    </a:p>
                  </a:txBody>
                  <a:tcPr marR="101600" marT="63500" marB="63500" anchor="ctr"/>
                </a:tc>
                <a:tc>
                  <a:txBody>
                    <a:bodyPr/>
                    <a:lstStyle/>
                    <a:p>
                      <a:r>
                        <a:rPr lang="en-US">
                          <a:effectLst/>
                          <a:latin typeface="Times New Roman" panose="02020603050405020304" pitchFamily="18" charset="0"/>
                          <a:cs typeface="Times New Roman" panose="02020603050405020304" pitchFamily="18" charset="0"/>
                        </a:rPr>
                        <a:t>Recover Password</a:t>
                      </a:r>
                      <a:endParaRPr lang="en-US" b="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GB" dirty="0">
                          <a:effectLst/>
                          <a:latin typeface="Times New Roman" panose="02020603050405020304" pitchFamily="18" charset="0"/>
                          <a:cs typeface="Times New Roman" panose="02020603050405020304" pitchFamily="18" charset="0"/>
                        </a:rPr>
                        <a:t>User requests password reset link via registered email.</a:t>
                      </a:r>
                      <a:endParaRPr lang="en-GB" b="0" dirty="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US" dirty="0">
                          <a:effectLst/>
                          <a:latin typeface="Times New Roman" panose="02020603050405020304" pitchFamily="18" charset="0"/>
                          <a:cs typeface="Times New Roman" panose="02020603050405020304" pitchFamily="18" charset="0"/>
                        </a:rPr>
                        <a:t>FR1.5</a:t>
                      </a:r>
                      <a:endParaRPr lang="en-US" b="0" dirty="0">
                        <a:effectLst/>
                        <a:latin typeface="Times New Roman" panose="02020603050405020304" pitchFamily="18" charset="0"/>
                        <a:cs typeface="Times New Roman" panose="02020603050405020304" pitchFamily="18" charset="0"/>
                      </a:endParaRPr>
                    </a:p>
                  </a:txBody>
                  <a:tcPr marL="101600" marT="63500" marB="63500" anchor="ctr"/>
                </a:tc>
                <a:extLst>
                  <a:ext uri="{0D108BD9-81ED-4DB2-BD59-A6C34878D82A}">
                    <a16:rowId xmlns:a16="http://schemas.microsoft.com/office/drawing/2014/main" val="10003"/>
                  </a:ext>
                </a:extLst>
              </a:tr>
              <a:tr h="634718">
                <a:tc>
                  <a:txBody>
                    <a:bodyPr/>
                    <a:lstStyle/>
                    <a:p>
                      <a:r>
                        <a:rPr lang="en-US">
                          <a:effectLst/>
                          <a:latin typeface="Times New Roman" panose="02020603050405020304" pitchFamily="18" charset="0"/>
                          <a:cs typeface="Times New Roman" panose="02020603050405020304" pitchFamily="18" charset="0"/>
                        </a:rPr>
                        <a:t>UC-Web-1.5</a:t>
                      </a:r>
                      <a:endParaRPr lang="en-US" b="0">
                        <a:effectLst/>
                        <a:latin typeface="Times New Roman" panose="02020603050405020304" pitchFamily="18" charset="0"/>
                        <a:cs typeface="Times New Roman" panose="02020603050405020304" pitchFamily="18" charset="0"/>
                      </a:endParaRPr>
                    </a:p>
                  </a:txBody>
                  <a:tcPr marR="101600" marT="63500" marB="63500" anchor="ctr"/>
                </a:tc>
                <a:tc>
                  <a:txBody>
                    <a:bodyPr/>
                    <a:lstStyle/>
                    <a:p>
                      <a:r>
                        <a:rPr lang="en-US">
                          <a:effectLst/>
                          <a:latin typeface="Times New Roman" panose="02020603050405020304" pitchFamily="18" charset="0"/>
                          <a:cs typeface="Times New Roman" panose="02020603050405020304" pitchFamily="18" charset="0"/>
                        </a:rPr>
                        <a:t>Edit Profile Details</a:t>
                      </a:r>
                      <a:endParaRPr lang="en-US" b="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GB" dirty="0">
                          <a:effectLst/>
                          <a:latin typeface="Times New Roman" panose="02020603050405020304" pitchFamily="18" charset="0"/>
                          <a:cs typeface="Times New Roman" panose="02020603050405020304" pitchFamily="18" charset="0"/>
                        </a:rPr>
                        <a:t>User updates podcast name, niche, and notification preferences.</a:t>
                      </a:r>
                      <a:endParaRPr lang="en-GB" b="0" dirty="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US" dirty="0">
                          <a:effectLst/>
                          <a:latin typeface="Times New Roman" panose="02020603050405020304" pitchFamily="18" charset="0"/>
                          <a:cs typeface="Times New Roman" panose="02020603050405020304" pitchFamily="18" charset="0"/>
                        </a:rPr>
                        <a:t>FR1.6</a:t>
                      </a:r>
                      <a:endParaRPr lang="en-US" b="0" dirty="0">
                        <a:effectLst/>
                        <a:latin typeface="Times New Roman" panose="02020603050405020304" pitchFamily="18" charset="0"/>
                        <a:cs typeface="Times New Roman" panose="02020603050405020304" pitchFamily="18" charset="0"/>
                      </a:endParaRPr>
                    </a:p>
                  </a:txBody>
                  <a:tcPr marL="101600" marT="63500" marB="63500" anchor="ctr"/>
                </a:tc>
                <a:extLst>
                  <a:ext uri="{0D108BD9-81ED-4DB2-BD59-A6C34878D82A}">
                    <a16:rowId xmlns:a16="http://schemas.microsoft.com/office/drawing/2014/main" val="10004"/>
                  </a:ext>
                </a:extLst>
              </a:tr>
              <a:tr h="634718">
                <a:tc>
                  <a:txBody>
                    <a:bodyPr/>
                    <a:lstStyle/>
                    <a:p>
                      <a:r>
                        <a:rPr lang="en-US">
                          <a:effectLst/>
                          <a:latin typeface="Times New Roman" panose="02020603050405020304" pitchFamily="18" charset="0"/>
                          <a:cs typeface="Times New Roman" panose="02020603050405020304" pitchFamily="18" charset="0"/>
                        </a:rPr>
                        <a:t>UC-Web-1.6</a:t>
                      </a:r>
                      <a:endParaRPr lang="en-US" b="0">
                        <a:effectLst/>
                        <a:latin typeface="Times New Roman" panose="02020603050405020304" pitchFamily="18" charset="0"/>
                        <a:cs typeface="Times New Roman" panose="02020603050405020304" pitchFamily="18" charset="0"/>
                      </a:endParaRPr>
                    </a:p>
                  </a:txBody>
                  <a:tcPr marR="101600" marT="63500" marB="63500" anchor="ctr"/>
                </a:tc>
                <a:tc>
                  <a:txBody>
                    <a:bodyPr/>
                    <a:lstStyle/>
                    <a:p>
                      <a:r>
                        <a:rPr lang="en-US">
                          <a:effectLst/>
                          <a:latin typeface="Times New Roman" panose="02020603050405020304" pitchFamily="18" charset="0"/>
                          <a:cs typeface="Times New Roman" panose="02020603050405020304" pitchFamily="18" charset="0"/>
                        </a:rPr>
                        <a:t>Logout</a:t>
                      </a:r>
                      <a:endParaRPr lang="en-US" b="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GB">
                          <a:effectLst/>
                          <a:latin typeface="Times New Roman" panose="02020603050405020304" pitchFamily="18" charset="0"/>
                          <a:cs typeface="Times New Roman" panose="02020603050405020304" pitchFamily="18" charset="0"/>
                        </a:rPr>
                        <a:t>User terminates active session and redirects to login screen.</a:t>
                      </a:r>
                      <a:endParaRPr lang="en-GB" b="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US" dirty="0">
                          <a:effectLst/>
                          <a:latin typeface="Times New Roman" panose="02020603050405020304" pitchFamily="18" charset="0"/>
                          <a:cs typeface="Times New Roman" panose="02020603050405020304" pitchFamily="18" charset="0"/>
                        </a:rPr>
                        <a:t>FR1.8</a:t>
                      </a:r>
                      <a:endParaRPr lang="en-US" b="0" dirty="0">
                        <a:effectLst/>
                        <a:latin typeface="Times New Roman" panose="02020603050405020304" pitchFamily="18" charset="0"/>
                        <a:cs typeface="Times New Roman" panose="02020603050405020304" pitchFamily="18" charset="0"/>
                      </a:endParaRPr>
                    </a:p>
                  </a:txBody>
                  <a:tcPr marL="101600" marT="63500" marB="63500" anchor="ctr"/>
                </a:tc>
                <a:extLst>
                  <a:ext uri="{0D108BD9-81ED-4DB2-BD59-A6C34878D82A}">
                    <a16:rowId xmlns:a16="http://schemas.microsoft.com/office/drawing/2014/main" val="10005"/>
                  </a:ext>
                </a:extLst>
              </a:tr>
              <a:tr h="634718">
                <a:tc>
                  <a:txBody>
                    <a:bodyPr/>
                    <a:lstStyle/>
                    <a:p>
                      <a:r>
                        <a:rPr lang="en-US" dirty="0">
                          <a:effectLst/>
                          <a:latin typeface="Times New Roman" panose="02020603050405020304" pitchFamily="18" charset="0"/>
                          <a:cs typeface="Times New Roman" panose="02020603050405020304" pitchFamily="18" charset="0"/>
                        </a:rPr>
                        <a:t>UC-Web-1.7</a:t>
                      </a:r>
                      <a:endParaRPr lang="en-US" b="0" dirty="0">
                        <a:effectLst/>
                        <a:latin typeface="Times New Roman" panose="02020603050405020304" pitchFamily="18" charset="0"/>
                        <a:cs typeface="Times New Roman" panose="02020603050405020304" pitchFamily="18" charset="0"/>
                      </a:endParaRPr>
                    </a:p>
                  </a:txBody>
                  <a:tcPr marR="101600" marT="63500" marB="63500" anchor="ctr"/>
                </a:tc>
                <a:tc>
                  <a:txBody>
                    <a:bodyPr/>
                    <a:lstStyle/>
                    <a:p>
                      <a:r>
                        <a:rPr lang="en-US">
                          <a:effectLst/>
                          <a:latin typeface="Times New Roman" panose="02020603050405020304" pitchFamily="18" charset="0"/>
                          <a:cs typeface="Times New Roman" panose="02020603050405020304" pitchFamily="18" charset="0"/>
                        </a:rPr>
                        <a:t>Delete Account</a:t>
                      </a:r>
                      <a:endParaRPr lang="en-US" b="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GB">
                          <a:effectLst/>
                          <a:latin typeface="Times New Roman" panose="02020603050405020304" pitchFamily="18" charset="0"/>
                          <a:cs typeface="Times New Roman" panose="02020603050405020304" pitchFamily="18" charset="0"/>
                        </a:rPr>
                        <a:t>User permanently deletes account and all associated data.</a:t>
                      </a:r>
                      <a:endParaRPr lang="en-GB" b="0">
                        <a:effectLst/>
                        <a:latin typeface="Times New Roman" panose="02020603050405020304" pitchFamily="18" charset="0"/>
                        <a:cs typeface="Times New Roman" panose="02020603050405020304" pitchFamily="18" charset="0"/>
                      </a:endParaRPr>
                    </a:p>
                  </a:txBody>
                  <a:tcPr marL="101600" marR="101600" marT="63500" marB="63500" anchor="ctr"/>
                </a:tc>
                <a:tc>
                  <a:txBody>
                    <a:bodyPr/>
                    <a:lstStyle/>
                    <a:p>
                      <a:r>
                        <a:rPr lang="en-US" dirty="0">
                          <a:effectLst/>
                          <a:latin typeface="Times New Roman" panose="02020603050405020304" pitchFamily="18" charset="0"/>
                          <a:cs typeface="Times New Roman" panose="02020603050405020304" pitchFamily="18" charset="0"/>
                        </a:rPr>
                        <a:t>FR1.7</a:t>
                      </a:r>
                      <a:endParaRPr lang="en-US" b="0" dirty="0">
                        <a:effectLst/>
                        <a:latin typeface="Times New Roman" panose="02020603050405020304" pitchFamily="18" charset="0"/>
                        <a:cs typeface="Times New Roman" panose="02020603050405020304" pitchFamily="18" charset="0"/>
                      </a:endParaRPr>
                    </a:p>
                  </a:txBody>
                  <a:tcPr marL="101600" marT="63500" marB="6350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937552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12611" y="401862"/>
            <a:ext cx="13554955" cy="1445817"/>
          </a:xfrm>
        </p:spPr>
        <p:txBody>
          <a:bodyPr/>
          <a:lstStyle/>
          <a:p>
            <a:r>
              <a:rPr lang="en-US" b="1" u="sng" dirty="0">
                <a:latin typeface="Times New Roman" panose="02020603050405020304" pitchFamily="18" charset="0"/>
                <a:cs typeface="Times New Roman" panose="02020603050405020304" pitchFamily="18" charset="0"/>
              </a:rPr>
              <a:t>Module 2: User Intent &amp; Guest Analyzer</a:t>
            </a:r>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43</a:t>
            </a:fld>
            <a:endParaRPr lang="en-US" dirty="0">
              <a:solidFill>
                <a:prstClr val="white"/>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325259057"/>
              </p:ext>
            </p:extLst>
          </p:nvPr>
        </p:nvGraphicFramePr>
        <p:xfrm>
          <a:off x="431800" y="2681344"/>
          <a:ext cx="15544800" cy="5581455"/>
        </p:xfrm>
        <a:graphic>
          <a:graphicData uri="http://schemas.openxmlformats.org/drawingml/2006/table">
            <a:tbl>
              <a:tblPr firstRow="1" bandRow="1">
                <a:tableStyleId>{5C22544A-7EE6-4342-B048-85BDC9FD1C3A}</a:tableStyleId>
              </a:tblPr>
              <a:tblGrid>
                <a:gridCol w="2008053">
                  <a:extLst>
                    <a:ext uri="{9D8B030D-6E8A-4147-A177-3AD203B41FA5}">
                      <a16:colId xmlns:a16="http://schemas.microsoft.com/office/drawing/2014/main" val="207289125"/>
                    </a:ext>
                  </a:extLst>
                </a:gridCol>
                <a:gridCol w="2250208">
                  <a:extLst>
                    <a:ext uri="{9D8B030D-6E8A-4147-A177-3AD203B41FA5}">
                      <a16:colId xmlns:a16="http://schemas.microsoft.com/office/drawing/2014/main" val="1293271514"/>
                    </a:ext>
                  </a:extLst>
                </a:gridCol>
                <a:gridCol w="7167802">
                  <a:extLst>
                    <a:ext uri="{9D8B030D-6E8A-4147-A177-3AD203B41FA5}">
                      <a16:colId xmlns:a16="http://schemas.microsoft.com/office/drawing/2014/main" val="2267956083"/>
                    </a:ext>
                  </a:extLst>
                </a:gridCol>
                <a:gridCol w="4118737">
                  <a:extLst>
                    <a:ext uri="{9D8B030D-6E8A-4147-A177-3AD203B41FA5}">
                      <a16:colId xmlns:a16="http://schemas.microsoft.com/office/drawing/2014/main" val="953573611"/>
                    </a:ext>
                  </a:extLst>
                </a:gridCol>
              </a:tblGrid>
              <a:tr h="513820">
                <a:tc>
                  <a:txBody>
                    <a:bodyPr/>
                    <a:lstStyle/>
                    <a:p>
                      <a:pPr algn="l"/>
                      <a:r>
                        <a:rPr lang="en-US" b="0" dirty="0">
                          <a:effectLst/>
                          <a:latin typeface="Times New Roman" panose="02020603050405020304" pitchFamily="18" charset="0"/>
                          <a:cs typeface="Times New Roman" panose="02020603050405020304" pitchFamily="18" charset="0"/>
                        </a:rPr>
                        <a:t>Use Case Id</a:t>
                      </a:r>
                    </a:p>
                  </a:txBody>
                  <a:tcPr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Use Case Title</a:t>
                      </a:r>
                    </a:p>
                  </a:txBody>
                  <a:tcPr marL="101600"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Use Case Description</a:t>
                      </a:r>
                    </a:p>
                  </a:txBody>
                  <a:tcPr marL="101600"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Functional Requirement</a:t>
                      </a:r>
                    </a:p>
                  </a:txBody>
                  <a:tcPr marL="101600" marR="101600" marT="63500" marB="63500" anchor="ctr"/>
                </a:tc>
                <a:extLst>
                  <a:ext uri="{0D108BD9-81ED-4DB2-BD59-A6C34878D82A}">
                    <a16:rowId xmlns:a16="http://schemas.microsoft.com/office/drawing/2014/main" val="1097638571"/>
                  </a:ext>
                </a:extLst>
              </a:tr>
              <a:tr h="513820">
                <a:tc>
                  <a:txBody>
                    <a:bodyPr/>
                    <a:lstStyle/>
                    <a:p>
                      <a:r>
                        <a:rPr lang="en-US" b="0">
                          <a:effectLst/>
                          <a:latin typeface="Times New Roman" panose="02020603050405020304" pitchFamily="18" charset="0"/>
                          <a:cs typeface="Times New Roman" panose="02020603050405020304" pitchFamily="18" charset="0"/>
                        </a:rPr>
                        <a:t>UC-Web-2.1</a:t>
                      </a:r>
                    </a:p>
                  </a:txBody>
                  <a:tcPr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Select Podcast Niche</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selects a niche from predefined categories (20+ options).</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FR2.1</a:t>
                      </a:r>
                    </a:p>
                  </a:txBody>
                  <a:tcPr marL="101600" marT="63500" marB="63500" anchor="ctr"/>
                </a:tc>
                <a:extLst>
                  <a:ext uri="{0D108BD9-81ED-4DB2-BD59-A6C34878D82A}">
                    <a16:rowId xmlns:a16="http://schemas.microsoft.com/office/drawing/2014/main" val="2651845106"/>
                  </a:ext>
                </a:extLst>
              </a:tr>
              <a:tr h="711330">
                <a:tc>
                  <a:txBody>
                    <a:bodyPr/>
                    <a:lstStyle/>
                    <a:p>
                      <a:r>
                        <a:rPr lang="en-US" b="0">
                          <a:effectLst/>
                          <a:latin typeface="Times New Roman" panose="02020603050405020304" pitchFamily="18" charset="0"/>
                          <a:cs typeface="Times New Roman" panose="02020603050405020304" pitchFamily="18" charset="0"/>
                        </a:rPr>
                        <a:t>UC-Web-2.2</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Submit Episode Topic</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enters episode topic or guest name (max 200 chars).</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FR2.2</a:t>
                      </a:r>
                    </a:p>
                  </a:txBody>
                  <a:tcPr marL="101600" marT="63500" marB="63500" anchor="ctr"/>
                </a:tc>
                <a:extLst>
                  <a:ext uri="{0D108BD9-81ED-4DB2-BD59-A6C34878D82A}">
                    <a16:rowId xmlns:a16="http://schemas.microsoft.com/office/drawing/2014/main" val="265908415"/>
                  </a:ext>
                </a:extLst>
              </a:tr>
              <a:tr h="597517">
                <a:tc>
                  <a:txBody>
                    <a:bodyPr/>
                    <a:lstStyle/>
                    <a:p>
                      <a:r>
                        <a:rPr lang="en-US" b="0">
                          <a:effectLst/>
                          <a:latin typeface="Times New Roman" panose="02020603050405020304" pitchFamily="18" charset="0"/>
                          <a:cs typeface="Times New Roman" panose="02020603050405020304" pitchFamily="18" charset="0"/>
                        </a:rPr>
                        <a:t>UC-Web-2.3</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Analyze Intent</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System interprets input and determines content direction.</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FR2.3</a:t>
                      </a:r>
                    </a:p>
                  </a:txBody>
                  <a:tcPr marL="101600" marT="63500" marB="63500" anchor="ctr"/>
                </a:tc>
                <a:extLst>
                  <a:ext uri="{0D108BD9-81ED-4DB2-BD59-A6C34878D82A}">
                    <a16:rowId xmlns:a16="http://schemas.microsoft.com/office/drawing/2014/main" val="289889400"/>
                  </a:ext>
                </a:extLst>
              </a:tr>
              <a:tr h="763793">
                <a:tc>
                  <a:txBody>
                    <a:bodyPr/>
                    <a:lstStyle/>
                    <a:p>
                      <a:r>
                        <a:rPr lang="en-US" b="0">
                          <a:effectLst/>
                          <a:latin typeface="Times New Roman" panose="02020603050405020304" pitchFamily="18" charset="0"/>
                          <a:cs typeface="Times New Roman" panose="02020603050405020304" pitchFamily="18" charset="0"/>
                        </a:rPr>
                        <a:t>UC-Web-2.4</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Save Podcast Profile</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saves current settings as a named profile for reuse.</a:t>
                      </a:r>
                    </a:p>
                  </a:txBody>
                  <a:tcPr marL="101600"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FR2.4</a:t>
                      </a:r>
                    </a:p>
                  </a:txBody>
                  <a:tcPr marL="101600" marT="63500" marB="63500" anchor="ctr"/>
                </a:tc>
                <a:extLst>
                  <a:ext uri="{0D108BD9-81ED-4DB2-BD59-A6C34878D82A}">
                    <a16:rowId xmlns:a16="http://schemas.microsoft.com/office/drawing/2014/main" val="300573103"/>
                  </a:ext>
                </a:extLst>
              </a:tr>
              <a:tr h="634718">
                <a:tc>
                  <a:txBody>
                    <a:bodyPr/>
                    <a:lstStyle/>
                    <a:p>
                      <a:r>
                        <a:rPr lang="en-US" b="0">
                          <a:effectLst/>
                          <a:latin typeface="Times New Roman" panose="02020603050405020304" pitchFamily="18" charset="0"/>
                          <a:cs typeface="Times New Roman" panose="02020603050405020304" pitchFamily="18" charset="0"/>
                        </a:rPr>
                        <a:t>UC-Web-2.5</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Select Episode Tone</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User chooses tone (Casual, Professional, Humorous, Serious).</a:t>
                      </a:r>
                    </a:p>
                  </a:txBody>
                  <a:tcPr marL="101600"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FR2.5</a:t>
                      </a:r>
                    </a:p>
                  </a:txBody>
                  <a:tcPr marL="101600" marT="63500" marB="63500" anchor="ctr"/>
                </a:tc>
                <a:extLst>
                  <a:ext uri="{0D108BD9-81ED-4DB2-BD59-A6C34878D82A}">
                    <a16:rowId xmlns:a16="http://schemas.microsoft.com/office/drawing/2014/main" val="2801862602"/>
                  </a:ext>
                </a:extLst>
              </a:tr>
              <a:tr h="634718">
                <a:tc>
                  <a:txBody>
                    <a:bodyPr/>
                    <a:lstStyle/>
                    <a:p>
                      <a:r>
                        <a:rPr lang="en-US" b="0">
                          <a:effectLst/>
                          <a:latin typeface="Times New Roman" panose="02020603050405020304" pitchFamily="18" charset="0"/>
                          <a:cs typeface="Times New Roman" panose="02020603050405020304" pitchFamily="18" charset="0"/>
                        </a:rPr>
                        <a:t>UC-Web-2.6</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Add Guest Profile</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User submits guest name, profession, and URL for analysis.</a:t>
                      </a:r>
                    </a:p>
                  </a:txBody>
                  <a:tcPr marL="101600"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FR2.7</a:t>
                      </a:r>
                    </a:p>
                  </a:txBody>
                  <a:tcPr marL="101600" marT="63500" marB="63500" anchor="ctr"/>
                </a:tc>
                <a:extLst>
                  <a:ext uri="{0D108BD9-81ED-4DB2-BD59-A6C34878D82A}">
                    <a16:rowId xmlns:a16="http://schemas.microsoft.com/office/drawing/2014/main" val="2544806971"/>
                  </a:ext>
                </a:extLst>
              </a:tr>
              <a:tr h="634718">
                <a:tc>
                  <a:txBody>
                    <a:bodyPr/>
                    <a:lstStyle/>
                    <a:p>
                      <a:r>
                        <a:rPr lang="en-US" b="0">
                          <a:effectLst/>
                          <a:latin typeface="Times New Roman" panose="02020603050405020304" pitchFamily="18" charset="0"/>
                          <a:cs typeface="Times New Roman" panose="02020603050405020304" pitchFamily="18" charset="0"/>
                        </a:rPr>
                        <a:t>UC-Web-2.7</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Enter Manual Guest Bio</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User manually types guest biography instead of URL.</a:t>
                      </a:r>
                    </a:p>
                  </a:txBody>
                  <a:tcPr marL="101600"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FR2.8</a:t>
                      </a:r>
                    </a:p>
                  </a:txBody>
                  <a:tcPr marL="101600" marT="63500" marB="63500" anchor="ctr"/>
                </a:tc>
                <a:extLst>
                  <a:ext uri="{0D108BD9-81ED-4DB2-BD59-A6C34878D82A}">
                    <a16:rowId xmlns:a16="http://schemas.microsoft.com/office/drawing/2014/main" val="2788176579"/>
                  </a:ext>
                </a:extLst>
              </a:tr>
            </a:tbl>
          </a:graphicData>
        </a:graphic>
      </p:graphicFrame>
    </p:spTree>
    <p:extLst>
      <p:ext uri="{BB962C8B-B14F-4D97-AF65-F5344CB8AC3E}">
        <p14:creationId xmlns:p14="http://schemas.microsoft.com/office/powerpoint/2010/main" val="33814980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u="sng" dirty="0">
                <a:latin typeface="Times New Roman" panose="02020603050405020304" pitchFamily="18" charset="0"/>
                <a:cs typeface="Times New Roman" panose="02020603050405020304" pitchFamily="18" charset="0"/>
              </a:rPr>
              <a:t>Module 3: Topic Research Agent</a:t>
            </a:r>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44</a:t>
            </a:fld>
            <a:endParaRPr lang="en-US" dirty="0">
              <a:solidFill>
                <a:prstClr val="white"/>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266664122"/>
              </p:ext>
            </p:extLst>
          </p:nvPr>
        </p:nvGraphicFramePr>
        <p:xfrm>
          <a:off x="355600" y="2438400"/>
          <a:ext cx="15544800" cy="5747731"/>
        </p:xfrm>
        <a:graphic>
          <a:graphicData uri="http://schemas.openxmlformats.org/drawingml/2006/table">
            <a:tbl>
              <a:tblPr firstRow="1" bandRow="1">
                <a:tableStyleId>{5C22544A-7EE6-4342-B048-85BDC9FD1C3A}</a:tableStyleId>
              </a:tblPr>
              <a:tblGrid>
                <a:gridCol w="2008053">
                  <a:extLst>
                    <a:ext uri="{9D8B030D-6E8A-4147-A177-3AD203B41FA5}">
                      <a16:colId xmlns:a16="http://schemas.microsoft.com/office/drawing/2014/main" val="1642626405"/>
                    </a:ext>
                  </a:extLst>
                </a:gridCol>
                <a:gridCol w="2250208">
                  <a:extLst>
                    <a:ext uri="{9D8B030D-6E8A-4147-A177-3AD203B41FA5}">
                      <a16:colId xmlns:a16="http://schemas.microsoft.com/office/drawing/2014/main" val="909249187"/>
                    </a:ext>
                  </a:extLst>
                </a:gridCol>
                <a:gridCol w="7167802">
                  <a:extLst>
                    <a:ext uri="{9D8B030D-6E8A-4147-A177-3AD203B41FA5}">
                      <a16:colId xmlns:a16="http://schemas.microsoft.com/office/drawing/2014/main" val="2002352781"/>
                    </a:ext>
                  </a:extLst>
                </a:gridCol>
                <a:gridCol w="4118737">
                  <a:extLst>
                    <a:ext uri="{9D8B030D-6E8A-4147-A177-3AD203B41FA5}">
                      <a16:colId xmlns:a16="http://schemas.microsoft.com/office/drawing/2014/main" val="1374861707"/>
                    </a:ext>
                  </a:extLst>
                </a:gridCol>
              </a:tblGrid>
              <a:tr h="513820">
                <a:tc>
                  <a:txBody>
                    <a:bodyPr/>
                    <a:lstStyle/>
                    <a:p>
                      <a:pPr algn="l"/>
                      <a:r>
                        <a:rPr lang="en-US" b="0" dirty="0">
                          <a:effectLst/>
                          <a:latin typeface="Times New Roman" panose="02020603050405020304" pitchFamily="18" charset="0"/>
                          <a:cs typeface="Times New Roman" panose="02020603050405020304" pitchFamily="18" charset="0"/>
                        </a:rPr>
                        <a:t>Use Case Id</a:t>
                      </a:r>
                    </a:p>
                  </a:txBody>
                  <a:tcPr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Use Case Title</a:t>
                      </a:r>
                    </a:p>
                  </a:txBody>
                  <a:tcPr marL="101600"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Use Case Description</a:t>
                      </a:r>
                    </a:p>
                  </a:txBody>
                  <a:tcPr marL="101600"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Functional Requirement</a:t>
                      </a:r>
                    </a:p>
                  </a:txBody>
                  <a:tcPr marL="101600" marR="101600" marT="63500" marB="63500" anchor="ctr"/>
                </a:tc>
                <a:extLst>
                  <a:ext uri="{0D108BD9-81ED-4DB2-BD59-A6C34878D82A}">
                    <a16:rowId xmlns:a16="http://schemas.microsoft.com/office/drawing/2014/main" val="2128957358"/>
                  </a:ext>
                </a:extLst>
              </a:tr>
              <a:tr h="513820">
                <a:tc>
                  <a:txBody>
                    <a:bodyPr/>
                    <a:lstStyle/>
                    <a:p>
                      <a:r>
                        <a:rPr lang="en-US" b="0" dirty="0">
                          <a:effectLst/>
                          <a:latin typeface="Times New Roman" panose="02020603050405020304" pitchFamily="18" charset="0"/>
                          <a:cs typeface="Times New Roman" panose="02020603050405020304" pitchFamily="18" charset="0"/>
                        </a:rPr>
                        <a:t>UC-Web-3.1</a:t>
                      </a:r>
                    </a:p>
                  </a:txBody>
                  <a:tcPr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Initiate Topic Research</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System automatically or manually triggers research agent.</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FR3.1</a:t>
                      </a:r>
                    </a:p>
                  </a:txBody>
                  <a:tcPr marL="101600" marT="63500" marB="63500" anchor="ctr"/>
                </a:tc>
                <a:extLst>
                  <a:ext uri="{0D108BD9-81ED-4DB2-BD59-A6C34878D82A}">
                    <a16:rowId xmlns:a16="http://schemas.microsoft.com/office/drawing/2014/main" val="953615783"/>
                  </a:ext>
                </a:extLst>
              </a:tr>
              <a:tr h="711330">
                <a:tc>
                  <a:txBody>
                    <a:bodyPr/>
                    <a:lstStyle/>
                    <a:p>
                      <a:r>
                        <a:rPr lang="en-US" b="0">
                          <a:effectLst/>
                          <a:latin typeface="Times New Roman" panose="02020603050405020304" pitchFamily="18" charset="0"/>
                          <a:cs typeface="Times New Roman" panose="02020603050405020304" pitchFamily="18" charset="0"/>
                        </a:rPr>
                        <a:t>UC-Web-3.2</a:t>
                      </a:r>
                    </a:p>
                  </a:txBody>
                  <a:tcPr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View Research Results</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System displays topics with title, summary, source, and date.</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FR3.2</a:t>
                      </a:r>
                    </a:p>
                  </a:txBody>
                  <a:tcPr marL="101600" marT="63500" marB="63500" anchor="ctr"/>
                </a:tc>
                <a:extLst>
                  <a:ext uri="{0D108BD9-81ED-4DB2-BD59-A6C34878D82A}">
                    <a16:rowId xmlns:a16="http://schemas.microsoft.com/office/drawing/2014/main" val="1673595861"/>
                  </a:ext>
                </a:extLst>
              </a:tr>
              <a:tr h="597517">
                <a:tc>
                  <a:txBody>
                    <a:bodyPr/>
                    <a:lstStyle/>
                    <a:p>
                      <a:r>
                        <a:rPr lang="en-US" b="0">
                          <a:effectLst/>
                          <a:latin typeface="Times New Roman" panose="02020603050405020304" pitchFamily="18" charset="0"/>
                          <a:cs typeface="Times New Roman" panose="02020603050405020304" pitchFamily="18" charset="0"/>
                        </a:rPr>
                        <a:t>UC-Web-3.3</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Filter Topics</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filters results by relevance and </a:t>
                      </a:r>
                      <a:r>
                        <a:rPr lang="en-GB" b="0" dirty="0" err="1">
                          <a:effectLst/>
                          <a:latin typeface="Times New Roman" panose="02020603050405020304" pitchFamily="18" charset="0"/>
                          <a:cs typeface="Times New Roman" panose="02020603050405020304" pitchFamily="18" charset="0"/>
                        </a:rPr>
                        <a:t>recency</a:t>
                      </a:r>
                      <a:r>
                        <a:rPr lang="en-GB" b="0" dirty="0">
                          <a:effectLst/>
                          <a:latin typeface="Times New Roman" panose="02020603050405020304" pitchFamily="18" charset="0"/>
                          <a:cs typeface="Times New Roman" panose="02020603050405020304" pitchFamily="18" charset="0"/>
                        </a:rPr>
                        <a:t> (30 days/6 months/all).</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FR3.3</a:t>
                      </a:r>
                    </a:p>
                  </a:txBody>
                  <a:tcPr marL="101600" marT="63500" marB="63500" anchor="ctr"/>
                </a:tc>
                <a:extLst>
                  <a:ext uri="{0D108BD9-81ED-4DB2-BD59-A6C34878D82A}">
                    <a16:rowId xmlns:a16="http://schemas.microsoft.com/office/drawing/2014/main" val="1075779791"/>
                  </a:ext>
                </a:extLst>
              </a:tr>
              <a:tr h="763793">
                <a:tc>
                  <a:txBody>
                    <a:bodyPr/>
                    <a:lstStyle/>
                    <a:p>
                      <a:r>
                        <a:rPr lang="en-US" b="0">
                          <a:effectLst/>
                          <a:latin typeface="Times New Roman" panose="02020603050405020304" pitchFamily="18" charset="0"/>
                          <a:cs typeface="Times New Roman" panose="02020603050405020304" pitchFamily="18" charset="0"/>
                        </a:rPr>
                        <a:t>UC-Web-3.4</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Bookmark Topic</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bookmarks preferred topic (max 10 per episode).</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FR3.4</a:t>
                      </a:r>
                    </a:p>
                  </a:txBody>
                  <a:tcPr marL="101600" marT="63500" marB="63500" anchor="ctr"/>
                </a:tc>
                <a:extLst>
                  <a:ext uri="{0D108BD9-81ED-4DB2-BD59-A6C34878D82A}">
                    <a16:rowId xmlns:a16="http://schemas.microsoft.com/office/drawing/2014/main" val="2359920309"/>
                  </a:ext>
                </a:extLst>
              </a:tr>
              <a:tr h="634718">
                <a:tc>
                  <a:txBody>
                    <a:bodyPr/>
                    <a:lstStyle/>
                    <a:p>
                      <a:r>
                        <a:rPr lang="en-US" b="0">
                          <a:effectLst/>
                          <a:latin typeface="Times New Roman" panose="02020603050405020304" pitchFamily="18" charset="0"/>
                          <a:cs typeface="Times New Roman" panose="02020603050405020304" pitchFamily="18" charset="0"/>
                        </a:rPr>
                        <a:t>UC-Web-3.5</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Reject Topic</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rejects irrelevant topic; it won't appear again.</a:t>
                      </a:r>
                    </a:p>
                  </a:txBody>
                  <a:tcPr marL="101600"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FR3.5</a:t>
                      </a:r>
                    </a:p>
                  </a:txBody>
                  <a:tcPr marL="101600" marT="63500" marB="63500" anchor="ctr"/>
                </a:tc>
                <a:extLst>
                  <a:ext uri="{0D108BD9-81ED-4DB2-BD59-A6C34878D82A}">
                    <a16:rowId xmlns:a16="http://schemas.microsoft.com/office/drawing/2014/main" val="3056740033"/>
                  </a:ext>
                </a:extLst>
              </a:tr>
              <a:tr h="634718">
                <a:tc>
                  <a:txBody>
                    <a:bodyPr/>
                    <a:lstStyle/>
                    <a:p>
                      <a:r>
                        <a:rPr lang="en-US" b="0">
                          <a:effectLst/>
                          <a:latin typeface="Times New Roman" panose="02020603050405020304" pitchFamily="18" charset="0"/>
                          <a:cs typeface="Times New Roman" panose="02020603050405020304" pitchFamily="18" charset="0"/>
                        </a:rPr>
                        <a:t>UC-Web-3.6</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View Source Reference</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User clicks to view original source URL in new tab.</a:t>
                      </a:r>
                    </a:p>
                  </a:txBody>
                  <a:tcPr marL="101600"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FR3.6</a:t>
                      </a:r>
                    </a:p>
                  </a:txBody>
                  <a:tcPr marL="101600" marT="63500" marB="63500" anchor="ctr"/>
                </a:tc>
                <a:extLst>
                  <a:ext uri="{0D108BD9-81ED-4DB2-BD59-A6C34878D82A}">
                    <a16:rowId xmlns:a16="http://schemas.microsoft.com/office/drawing/2014/main" val="156820036"/>
                  </a:ext>
                </a:extLst>
              </a:tr>
              <a:tr h="634718">
                <a:tc>
                  <a:txBody>
                    <a:bodyPr/>
                    <a:lstStyle/>
                    <a:p>
                      <a:r>
                        <a:rPr lang="en-US" b="0">
                          <a:effectLst/>
                          <a:latin typeface="Times New Roman" panose="02020603050405020304" pitchFamily="18" charset="0"/>
                          <a:cs typeface="Times New Roman" panose="02020603050405020304" pitchFamily="18" charset="0"/>
                        </a:rPr>
                        <a:t>UC-Web-3.7</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Export Research Summary</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User exports full research as PDF document.</a:t>
                      </a:r>
                    </a:p>
                  </a:txBody>
                  <a:tcPr marL="101600"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FR3.8</a:t>
                      </a:r>
                    </a:p>
                  </a:txBody>
                  <a:tcPr marL="101600" marT="63500" marB="63500" anchor="ctr"/>
                </a:tc>
                <a:extLst>
                  <a:ext uri="{0D108BD9-81ED-4DB2-BD59-A6C34878D82A}">
                    <a16:rowId xmlns:a16="http://schemas.microsoft.com/office/drawing/2014/main" val="2862770544"/>
                  </a:ext>
                </a:extLst>
              </a:tr>
            </a:tbl>
          </a:graphicData>
        </a:graphic>
      </p:graphicFrame>
    </p:spTree>
    <p:extLst>
      <p:ext uri="{BB962C8B-B14F-4D97-AF65-F5344CB8AC3E}">
        <p14:creationId xmlns:p14="http://schemas.microsoft.com/office/powerpoint/2010/main" val="42665116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it-IT" b="1" u="sng" dirty="0">
                <a:latin typeface="Times New Roman" panose="02020603050405020304" pitchFamily="18" charset="0"/>
                <a:cs typeface="Times New Roman" panose="02020603050405020304" pitchFamily="18" charset="0"/>
              </a:rPr>
              <a:t>Module 4: Question &amp; Timestamp Generator</a:t>
            </a:r>
            <a:br>
              <a:rPr lang="it-IT" b="1" u="sng" dirty="0">
                <a:latin typeface="Times New Roman" panose="02020603050405020304" pitchFamily="18" charset="0"/>
                <a:cs typeface="Times New Roman" panose="02020603050405020304" pitchFamily="18" charset="0"/>
              </a:rPr>
            </a:br>
            <a:endParaRPr lang="en-US" u="sng"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45</a:t>
            </a:fld>
            <a:endParaRPr lang="en-US" dirty="0">
              <a:solidFill>
                <a:prstClr val="white"/>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835915761"/>
              </p:ext>
            </p:extLst>
          </p:nvPr>
        </p:nvGraphicFramePr>
        <p:xfrm>
          <a:off x="355600" y="2362200"/>
          <a:ext cx="15544800" cy="5710530"/>
        </p:xfrm>
        <a:graphic>
          <a:graphicData uri="http://schemas.openxmlformats.org/drawingml/2006/table">
            <a:tbl>
              <a:tblPr firstRow="1" bandRow="1">
                <a:tableStyleId>{5C22544A-7EE6-4342-B048-85BDC9FD1C3A}</a:tableStyleId>
              </a:tblPr>
              <a:tblGrid>
                <a:gridCol w="2008053">
                  <a:extLst>
                    <a:ext uri="{9D8B030D-6E8A-4147-A177-3AD203B41FA5}">
                      <a16:colId xmlns:a16="http://schemas.microsoft.com/office/drawing/2014/main" val="1940902912"/>
                    </a:ext>
                  </a:extLst>
                </a:gridCol>
                <a:gridCol w="2250208">
                  <a:extLst>
                    <a:ext uri="{9D8B030D-6E8A-4147-A177-3AD203B41FA5}">
                      <a16:colId xmlns:a16="http://schemas.microsoft.com/office/drawing/2014/main" val="1171216380"/>
                    </a:ext>
                  </a:extLst>
                </a:gridCol>
                <a:gridCol w="7167802">
                  <a:extLst>
                    <a:ext uri="{9D8B030D-6E8A-4147-A177-3AD203B41FA5}">
                      <a16:colId xmlns:a16="http://schemas.microsoft.com/office/drawing/2014/main" val="1353192371"/>
                    </a:ext>
                  </a:extLst>
                </a:gridCol>
                <a:gridCol w="4118737">
                  <a:extLst>
                    <a:ext uri="{9D8B030D-6E8A-4147-A177-3AD203B41FA5}">
                      <a16:colId xmlns:a16="http://schemas.microsoft.com/office/drawing/2014/main" val="3581407714"/>
                    </a:ext>
                  </a:extLst>
                </a:gridCol>
              </a:tblGrid>
              <a:tr h="513820">
                <a:tc>
                  <a:txBody>
                    <a:bodyPr/>
                    <a:lstStyle/>
                    <a:p>
                      <a:pPr algn="l"/>
                      <a:r>
                        <a:rPr lang="en-US" b="0" dirty="0">
                          <a:effectLst/>
                          <a:latin typeface="Times New Roman" panose="02020603050405020304" pitchFamily="18" charset="0"/>
                          <a:cs typeface="Times New Roman" panose="02020603050405020304" pitchFamily="18" charset="0"/>
                        </a:rPr>
                        <a:t>Use Case Id</a:t>
                      </a:r>
                    </a:p>
                  </a:txBody>
                  <a:tcPr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Use Case Title</a:t>
                      </a:r>
                    </a:p>
                  </a:txBody>
                  <a:tcPr marL="101600"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Use Case Description</a:t>
                      </a:r>
                    </a:p>
                  </a:txBody>
                  <a:tcPr marL="101600"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Functional Requirement</a:t>
                      </a:r>
                    </a:p>
                  </a:txBody>
                  <a:tcPr marL="101600" marR="101600" marT="63500" marB="63500" anchor="ctr"/>
                </a:tc>
                <a:extLst>
                  <a:ext uri="{0D108BD9-81ED-4DB2-BD59-A6C34878D82A}">
                    <a16:rowId xmlns:a16="http://schemas.microsoft.com/office/drawing/2014/main" val="3272985766"/>
                  </a:ext>
                </a:extLst>
              </a:tr>
              <a:tr h="513820">
                <a:tc>
                  <a:txBody>
                    <a:bodyPr/>
                    <a:lstStyle/>
                    <a:p>
                      <a:r>
                        <a:rPr lang="en-US" b="0">
                          <a:effectLst/>
                          <a:latin typeface="Times New Roman" panose="02020603050405020304" pitchFamily="18" charset="0"/>
                          <a:cs typeface="Times New Roman" panose="02020603050405020304" pitchFamily="18" charset="0"/>
                        </a:rPr>
                        <a:t>UC-Web-4.1</a:t>
                      </a:r>
                    </a:p>
                  </a:txBody>
                  <a:tcPr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Generate Questions</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AI generates 10–20 questions organized into Opening/Main/Closing.</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FR4.1</a:t>
                      </a:r>
                    </a:p>
                  </a:txBody>
                  <a:tcPr marL="101600" marT="63500" marB="63500" anchor="ctr"/>
                </a:tc>
                <a:extLst>
                  <a:ext uri="{0D108BD9-81ED-4DB2-BD59-A6C34878D82A}">
                    <a16:rowId xmlns:a16="http://schemas.microsoft.com/office/drawing/2014/main" val="365300835"/>
                  </a:ext>
                </a:extLst>
              </a:tr>
              <a:tr h="711330">
                <a:tc>
                  <a:txBody>
                    <a:bodyPr/>
                    <a:lstStyle/>
                    <a:p>
                      <a:r>
                        <a:rPr lang="en-US" b="0">
                          <a:effectLst/>
                          <a:latin typeface="Times New Roman" panose="02020603050405020304" pitchFamily="18" charset="0"/>
                          <a:cs typeface="Times New Roman" panose="02020603050405020304" pitchFamily="18" charset="0"/>
                        </a:rPr>
                        <a:t>UC-Web-4.2</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Customize Question Count</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specifies desired number of questions (5–30 for premium).</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FR4.2</a:t>
                      </a:r>
                    </a:p>
                  </a:txBody>
                  <a:tcPr marL="101600" marT="63500" marB="63500" anchor="ctr"/>
                </a:tc>
                <a:extLst>
                  <a:ext uri="{0D108BD9-81ED-4DB2-BD59-A6C34878D82A}">
                    <a16:rowId xmlns:a16="http://schemas.microsoft.com/office/drawing/2014/main" val="55763106"/>
                  </a:ext>
                </a:extLst>
              </a:tr>
              <a:tr h="597517">
                <a:tc>
                  <a:txBody>
                    <a:bodyPr/>
                    <a:lstStyle/>
                    <a:p>
                      <a:r>
                        <a:rPr lang="en-US" b="0">
                          <a:effectLst/>
                          <a:latin typeface="Times New Roman" panose="02020603050405020304" pitchFamily="18" charset="0"/>
                          <a:cs typeface="Times New Roman" panose="02020603050405020304" pitchFamily="18" charset="0"/>
                        </a:rPr>
                        <a:t>UC-Web-4.3</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Edit Question</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edits any generated question text inline.</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FR4.3</a:t>
                      </a:r>
                    </a:p>
                  </a:txBody>
                  <a:tcPr marL="101600" marT="63500" marB="63500" anchor="ctr"/>
                </a:tc>
                <a:extLst>
                  <a:ext uri="{0D108BD9-81ED-4DB2-BD59-A6C34878D82A}">
                    <a16:rowId xmlns:a16="http://schemas.microsoft.com/office/drawing/2014/main" val="1989170488"/>
                  </a:ext>
                </a:extLst>
              </a:tr>
              <a:tr h="763793">
                <a:tc>
                  <a:txBody>
                    <a:bodyPr/>
                    <a:lstStyle/>
                    <a:p>
                      <a:r>
                        <a:rPr lang="en-US" b="0">
                          <a:effectLst/>
                          <a:latin typeface="Times New Roman" panose="02020603050405020304" pitchFamily="18" charset="0"/>
                          <a:cs typeface="Times New Roman" panose="02020603050405020304" pitchFamily="18" charset="0"/>
                        </a:rPr>
                        <a:t>UC-Web-4.4</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Reorder Questions</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drags and drops questions within/across segments.</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FR4.4</a:t>
                      </a:r>
                    </a:p>
                  </a:txBody>
                  <a:tcPr marL="101600" marT="63500" marB="63500" anchor="ctr"/>
                </a:tc>
                <a:extLst>
                  <a:ext uri="{0D108BD9-81ED-4DB2-BD59-A6C34878D82A}">
                    <a16:rowId xmlns:a16="http://schemas.microsoft.com/office/drawing/2014/main" val="2758013977"/>
                  </a:ext>
                </a:extLst>
              </a:tr>
              <a:tr h="634718">
                <a:tc>
                  <a:txBody>
                    <a:bodyPr/>
                    <a:lstStyle/>
                    <a:p>
                      <a:r>
                        <a:rPr lang="en-US" b="0">
                          <a:effectLst/>
                          <a:latin typeface="Times New Roman" panose="02020603050405020304" pitchFamily="18" charset="0"/>
                          <a:cs typeface="Times New Roman" panose="02020603050405020304" pitchFamily="18" charset="0"/>
                        </a:rPr>
                        <a:t>UC-Web-4.5</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Auto-Generate Timestamps</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System allocates timestamps based on episode duration.</a:t>
                      </a:r>
                    </a:p>
                  </a:txBody>
                  <a:tcPr marL="101600"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FR4.5</a:t>
                      </a:r>
                    </a:p>
                  </a:txBody>
                  <a:tcPr marL="101600" marT="63500" marB="63500" anchor="ctr"/>
                </a:tc>
                <a:extLst>
                  <a:ext uri="{0D108BD9-81ED-4DB2-BD59-A6C34878D82A}">
                    <a16:rowId xmlns:a16="http://schemas.microsoft.com/office/drawing/2014/main" val="3280960617"/>
                  </a:ext>
                </a:extLst>
              </a:tr>
              <a:tr h="634718">
                <a:tc>
                  <a:txBody>
                    <a:bodyPr/>
                    <a:lstStyle/>
                    <a:p>
                      <a:r>
                        <a:rPr lang="en-US" b="0">
                          <a:effectLst/>
                          <a:latin typeface="Times New Roman" panose="02020603050405020304" pitchFamily="18" charset="0"/>
                          <a:cs typeface="Times New Roman" panose="02020603050405020304" pitchFamily="18" charset="0"/>
                        </a:rPr>
                        <a:t>UC-Web-4.6</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Edit Timestamp Manually</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User overrides auto-generated timestamps; system recalculates.</a:t>
                      </a:r>
                    </a:p>
                  </a:txBody>
                  <a:tcPr marL="101600"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FR4.6</a:t>
                      </a:r>
                    </a:p>
                  </a:txBody>
                  <a:tcPr marL="101600" marT="63500" marB="63500" anchor="ctr"/>
                </a:tc>
                <a:extLst>
                  <a:ext uri="{0D108BD9-81ED-4DB2-BD59-A6C34878D82A}">
                    <a16:rowId xmlns:a16="http://schemas.microsoft.com/office/drawing/2014/main" val="139537740"/>
                  </a:ext>
                </a:extLst>
              </a:tr>
              <a:tr h="634718">
                <a:tc>
                  <a:txBody>
                    <a:bodyPr/>
                    <a:lstStyle/>
                    <a:p>
                      <a:r>
                        <a:rPr lang="en-US" b="0">
                          <a:effectLst/>
                          <a:latin typeface="Times New Roman" panose="02020603050405020304" pitchFamily="18" charset="0"/>
                          <a:cs typeface="Times New Roman" panose="02020603050405020304" pitchFamily="18" charset="0"/>
                        </a:rPr>
                        <a:t>UC-Web-4.7</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Share Question Sheet</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User generates shareable link for guest (no account needed).</a:t>
                      </a:r>
                    </a:p>
                  </a:txBody>
                  <a:tcPr marL="101600"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FR4.7</a:t>
                      </a:r>
                    </a:p>
                  </a:txBody>
                  <a:tcPr marL="101600" marT="63500" marB="63500" anchor="ctr"/>
                </a:tc>
                <a:extLst>
                  <a:ext uri="{0D108BD9-81ED-4DB2-BD59-A6C34878D82A}">
                    <a16:rowId xmlns:a16="http://schemas.microsoft.com/office/drawing/2014/main" val="1412007253"/>
                  </a:ext>
                </a:extLst>
              </a:tr>
            </a:tbl>
          </a:graphicData>
        </a:graphic>
      </p:graphicFrame>
    </p:spTree>
    <p:extLst>
      <p:ext uri="{BB962C8B-B14F-4D97-AF65-F5344CB8AC3E}">
        <p14:creationId xmlns:p14="http://schemas.microsoft.com/office/powerpoint/2010/main" val="36864568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25311" y="336721"/>
            <a:ext cx="13554955" cy="1445817"/>
          </a:xfrm>
        </p:spPr>
        <p:txBody>
          <a:bodyPr/>
          <a:lstStyle/>
          <a:p>
            <a:r>
              <a:rPr lang="en-US" b="1" u="sng" dirty="0">
                <a:latin typeface="Times New Roman" panose="02020603050405020304" pitchFamily="18" charset="0"/>
                <a:cs typeface="Times New Roman" panose="02020603050405020304" pitchFamily="18" charset="0"/>
              </a:rPr>
              <a:t>Module 5: Hook &amp; Intro Suggestion Agent</a:t>
            </a:r>
            <a:br>
              <a:rPr lang="en-US" b="1" u="sng" dirty="0">
                <a:latin typeface="Times New Roman" panose="02020603050405020304" pitchFamily="18" charset="0"/>
                <a:cs typeface="Times New Roman" panose="02020603050405020304" pitchFamily="18" charset="0"/>
              </a:rPr>
            </a:br>
            <a:endParaRPr lang="en-US" u="sng"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46</a:t>
            </a:fld>
            <a:endParaRPr lang="en-US" dirty="0">
              <a:solidFill>
                <a:prstClr val="white"/>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867480333"/>
              </p:ext>
            </p:extLst>
          </p:nvPr>
        </p:nvGraphicFramePr>
        <p:xfrm>
          <a:off x="355600" y="2438400"/>
          <a:ext cx="15544800" cy="5430544"/>
        </p:xfrm>
        <a:graphic>
          <a:graphicData uri="http://schemas.openxmlformats.org/drawingml/2006/table">
            <a:tbl>
              <a:tblPr firstRow="1" bandRow="1">
                <a:tableStyleId>{5C22544A-7EE6-4342-B048-85BDC9FD1C3A}</a:tableStyleId>
              </a:tblPr>
              <a:tblGrid>
                <a:gridCol w="2008053">
                  <a:extLst>
                    <a:ext uri="{9D8B030D-6E8A-4147-A177-3AD203B41FA5}">
                      <a16:colId xmlns:a16="http://schemas.microsoft.com/office/drawing/2014/main" val="2571074481"/>
                    </a:ext>
                  </a:extLst>
                </a:gridCol>
                <a:gridCol w="2250208">
                  <a:extLst>
                    <a:ext uri="{9D8B030D-6E8A-4147-A177-3AD203B41FA5}">
                      <a16:colId xmlns:a16="http://schemas.microsoft.com/office/drawing/2014/main" val="1448606784"/>
                    </a:ext>
                  </a:extLst>
                </a:gridCol>
                <a:gridCol w="7167802">
                  <a:extLst>
                    <a:ext uri="{9D8B030D-6E8A-4147-A177-3AD203B41FA5}">
                      <a16:colId xmlns:a16="http://schemas.microsoft.com/office/drawing/2014/main" val="3750901019"/>
                    </a:ext>
                  </a:extLst>
                </a:gridCol>
                <a:gridCol w="4118737">
                  <a:extLst>
                    <a:ext uri="{9D8B030D-6E8A-4147-A177-3AD203B41FA5}">
                      <a16:colId xmlns:a16="http://schemas.microsoft.com/office/drawing/2014/main" val="61752446"/>
                    </a:ext>
                  </a:extLst>
                </a:gridCol>
              </a:tblGrid>
              <a:tr h="513820">
                <a:tc>
                  <a:txBody>
                    <a:bodyPr/>
                    <a:lstStyle/>
                    <a:p>
                      <a:pPr algn="l"/>
                      <a:r>
                        <a:rPr lang="en-US" b="0" dirty="0">
                          <a:effectLst/>
                          <a:latin typeface="Times New Roman" panose="02020603050405020304" pitchFamily="18" charset="0"/>
                          <a:cs typeface="Times New Roman" panose="02020603050405020304" pitchFamily="18" charset="0"/>
                        </a:rPr>
                        <a:t>Use Case Id</a:t>
                      </a:r>
                    </a:p>
                  </a:txBody>
                  <a:tcPr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Use Case Title</a:t>
                      </a:r>
                    </a:p>
                  </a:txBody>
                  <a:tcPr marL="101600"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Use Case Description</a:t>
                      </a:r>
                    </a:p>
                  </a:txBody>
                  <a:tcPr marL="101600"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Functional Requirement</a:t>
                      </a:r>
                    </a:p>
                  </a:txBody>
                  <a:tcPr marL="101600" marR="101600" marT="63500" marB="63500" anchor="ctr"/>
                </a:tc>
                <a:extLst>
                  <a:ext uri="{0D108BD9-81ED-4DB2-BD59-A6C34878D82A}">
                    <a16:rowId xmlns:a16="http://schemas.microsoft.com/office/drawing/2014/main" val="1310537866"/>
                  </a:ext>
                </a:extLst>
              </a:tr>
              <a:tr h="513820">
                <a:tc>
                  <a:txBody>
                    <a:bodyPr/>
                    <a:lstStyle/>
                    <a:p>
                      <a:r>
                        <a:rPr lang="en-US" b="0" dirty="0">
                          <a:effectLst/>
                          <a:latin typeface="Times New Roman" panose="02020603050405020304" pitchFamily="18" charset="0"/>
                          <a:cs typeface="Times New Roman" panose="02020603050405020304" pitchFamily="18" charset="0"/>
                        </a:rPr>
                        <a:t>UC-Web-5.1</a:t>
                      </a:r>
                    </a:p>
                  </a:txBody>
                  <a:tcPr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Generate Hook Variants</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AI generates 3–5 distinct hook variants with style tags.</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FR5.1</a:t>
                      </a:r>
                    </a:p>
                  </a:txBody>
                  <a:tcPr marL="101600" marT="63500" marB="63500" anchor="ctr"/>
                </a:tc>
                <a:extLst>
                  <a:ext uri="{0D108BD9-81ED-4DB2-BD59-A6C34878D82A}">
                    <a16:rowId xmlns:a16="http://schemas.microsoft.com/office/drawing/2014/main" val="801232736"/>
                  </a:ext>
                </a:extLst>
              </a:tr>
              <a:tr h="711330">
                <a:tc>
                  <a:txBody>
                    <a:bodyPr/>
                    <a:lstStyle/>
                    <a:p>
                      <a:r>
                        <a:rPr lang="en-US" b="0">
                          <a:effectLst/>
                          <a:latin typeface="Times New Roman" panose="02020603050405020304" pitchFamily="18" charset="0"/>
                          <a:cs typeface="Times New Roman" panose="02020603050405020304" pitchFamily="18" charset="0"/>
                        </a:rPr>
                        <a:t>UC-Web-5.2</a:t>
                      </a:r>
                    </a:p>
                  </a:txBody>
                  <a:tcPr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Select Hook Tone</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selects tone (Dramatic, Curious, Humorous, Inspirational).</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FR5.2</a:t>
                      </a:r>
                    </a:p>
                  </a:txBody>
                  <a:tcPr marL="101600" marT="63500" marB="63500" anchor="ctr"/>
                </a:tc>
                <a:extLst>
                  <a:ext uri="{0D108BD9-81ED-4DB2-BD59-A6C34878D82A}">
                    <a16:rowId xmlns:a16="http://schemas.microsoft.com/office/drawing/2014/main" val="907231055"/>
                  </a:ext>
                </a:extLst>
              </a:tr>
              <a:tr h="597517">
                <a:tc>
                  <a:txBody>
                    <a:bodyPr/>
                    <a:lstStyle/>
                    <a:p>
                      <a:r>
                        <a:rPr lang="en-US" b="0">
                          <a:effectLst/>
                          <a:latin typeface="Times New Roman" panose="02020603050405020304" pitchFamily="18" charset="0"/>
                          <a:cs typeface="Times New Roman" panose="02020603050405020304" pitchFamily="18" charset="0"/>
                        </a:rPr>
                        <a:t>UC-Web-5.3</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Regenerate Single Hook</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regenerates one hook variant without affecting others.</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FR5.4</a:t>
                      </a:r>
                    </a:p>
                  </a:txBody>
                  <a:tcPr marL="101600" marT="63500" marB="63500" anchor="ctr"/>
                </a:tc>
                <a:extLst>
                  <a:ext uri="{0D108BD9-81ED-4DB2-BD59-A6C34878D82A}">
                    <a16:rowId xmlns:a16="http://schemas.microsoft.com/office/drawing/2014/main" val="1847236230"/>
                  </a:ext>
                </a:extLst>
              </a:tr>
              <a:tr h="763793">
                <a:tc>
                  <a:txBody>
                    <a:bodyPr/>
                    <a:lstStyle/>
                    <a:p>
                      <a:r>
                        <a:rPr lang="en-US" b="0">
                          <a:effectLst/>
                          <a:latin typeface="Times New Roman" panose="02020603050405020304" pitchFamily="18" charset="0"/>
                          <a:cs typeface="Times New Roman" panose="02020603050405020304" pitchFamily="18" charset="0"/>
                        </a:rPr>
                        <a:t>UC-Web-5.4</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Select Preferred Hook</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selects one hook to save as episode intro.</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FR5.5</a:t>
                      </a:r>
                    </a:p>
                  </a:txBody>
                  <a:tcPr marL="101600" marT="63500" marB="63500" anchor="ctr"/>
                </a:tc>
                <a:extLst>
                  <a:ext uri="{0D108BD9-81ED-4DB2-BD59-A6C34878D82A}">
                    <a16:rowId xmlns:a16="http://schemas.microsoft.com/office/drawing/2014/main" val="280373716"/>
                  </a:ext>
                </a:extLst>
              </a:tr>
              <a:tr h="634718">
                <a:tc>
                  <a:txBody>
                    <a:bodyPr/>
                    <a:lstStyle/>
                    <a:p>
                      <a:r>
                        <a:rPr lang="en-US" b="0">
                          <a:effectLst/>
                          <a:latin typeface="Times New Roman" panose="02020603050405020304" pitchFamily="18" charset="0"/>
                          <a:cs typeface="Times New Roman" panose="02020603050405020304" pitchFamily="18" charset="0"/>
                        </a:rPr>
                        <a:t>UC-Web-5.5</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Preview Hook</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listens to read-aloud preview of selected hook.</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FR5.6</a:t>
                      </a:r>
                    </a:p>
                  </a:txBody>
                  <a:tcPr marL="101600" marT="63500" marB="63500" anchor="ctr"/>
                </a:tc>
                <a:extLst>
                  <a:ext uri="{0D108BD9-81ED-4DB2-BD59-A6C34878D82A}">
                    <a16:rowId xmlns:a16="http://schemas.microsoft.com/office/drawing/2014/main" val="3024912090"/>
                  </a:ext>
                </a:extLst>
              </a:tr>
              <a:tr h="634718">
                <a:tc>
                  <a:txBody>
                    <a:bodyPr/>
                    <a:lstStyle/>
                    <a:p>
                      <a:r>
                        <a:rPr lang="en-US" b="0">
                          <a:effectLst/>
                          <a:latin typeface="Times New Roman" panose="02020603050405020304" pitchFamily="18" charset="0"/>
                          <a:cs typeface="Times New Roman" panose="02020603050405020304" pitchFamily="18" charset="0"/>
                        </a:rPr>
                        <a:t>UC-Web-5.6</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Export Hook</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User exports selected hook as plain-text script file.</a:t>
                      </a:r>
                    </a:p>
                  </a:txBody>
                  <a:tcPr marL="101600"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FR5.7</a:t>
                      </a:r>
                    </a:p>
                  </a:txBody>
                  <a:tcPr marL="101600" marT="63500" marB="63500" anchor="ctr"/>
                </a:tc>
                <a:extLst>
                  <a:ext uri="{0D108BD9-81ED-4DB2-BD59-A6C34878D82A}">
                    <a16:rowId xmlns:a16="http://schemas.microsoft.com/office/drawing/2014/main" val="2349863265"/>
                  </a:ext>
                </a:extLst>
              </a:tr>
              <a:tr h="634718">
                <a:tc>
                  <a:txBody>
                    <a:bodyPr/>
                    <a:lstStyle/>
                    <a:p>
                      <a:pPr algn="l"/>
                      <a:r>
                        <a:rPr lang="en-US" b="0">
                          <a:effectLst/>
                          <a:latin typeface="Times New Roman" panose="02020603050405020304" pitchFamily="18" charset="0"/>
                          <a:cs typeface="Times New Roman" panose="02020603050405020304" pitchFamily="18" charset="0"/>
                        </a:rPr>
                        <a:t>Use Case Id</a:t>
                      </a:r>
                    </a:p>
                  </a:txBody>
                  <a:tcPr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Use Case Title</a:t>
                      </a:r>
                    </a:p>
                  </a:txBody>
                  <a:tcPr marL="101600"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Use Case Description</a:t>
                      </a:r>
                    </a:p>
                  </a:txBody>
                  <a:tcPr marL="101600" marR="101600" marT="63500" marB="63500" anchor="ctr"/>
                </a:tc>
                <a:tc>
                  <a:txBody>
                    <a:bodyPr/>
                    <a:lstStyle/>
                    <a:p>
                      <a:pPr algn="l"/>
                      <a:r>
                        <a:rPr lang="en-US" b="0" dirty="0">
                          <a:effectLst/>
                          <a:latin typeface="Times New Roman" panose="02020603050405020304" pitchFamily="18" charset="0"/>
                          <a:cs typeface="Times New Roman" panose="02020603050405020304" pitchFamily="18" charset="0"/>
                        </a:rPr>
                        <a:t>Functional Requirement</a:t>
                      </a:r>
                    </a:p>
                  </a:txBody>
                  <a:tcPr marL="101600" marR="101600" marT="63500" marB="63500" anchor="ctr"/>
                </a:tc>
                <a:extLst>
                  <a:ext uri="{0D108BD9-81ED-4DB2-BD59-A6C34878D82A}">
                    <a16:rowId xmlns:a16="http://schemas.microsoft.com/office/drawing/2014/main" val="2895092366"/>
                  </a:ext>
                </a:extLst>
              </a:tr>
            </a:tbl>
          </a:graphicData>
        </a:graphic>
      </p:graphicFrame>
    </p:spTree>
    <p:extLst>
      <p:ext uri="{BB962C8B-B14F-4D97-AF65-F5344CB8AC3E}">
        <p14:creationId xmlns:p14="http://schemas.microsoft.com/office/powerpoint/2010/main" val="11725454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91911" y="365192"/>
            <a:ext cx="13554955" cy="1445817"/>
          </a:xfrm>
        </p:spPr>
        <p:txBody>
          <a:bodyPr/>
          <a:lstStyle/>
          <a:p>
            <a:r>
              <a:rPr lang="en-US" b="1" u="sng" dirty="0">
                <a:latin typeface="Times New Roman" panose="02020603050405020304" pitchFamily="18" charset="0"/>
                <a:cs typeface="Times New Roman" panose="02020603050405020304" pitchFamily="18" charset="0"/>
              </a:rPr>
              <a:t>Module 6: Episode Outline Planner</a:t>
            </a:r>
          </a:p>
        </p:txBody>
      </p:sp>
      <p:sp>
        <p:nvSpPr>
          <p:cNvPr id="4" name="Slide Number Placeholder 3"/>
          <p:cNvSpPr>
            <a:spLocks noGrp="1"/>
          </p:cNvSpPr>
          <p:nvPr>
            <p:ph type="sldNum" sz="quarter" idx="12"/>
          </p:nvPr>
        </p:nvSpPr>
        <p:spPr>
          <a:xfrm>
            <a:off x="13521266" y="8674099"/>
            <a:ext cx="1625600" cy="508001"/>
          </a:xfrm>
        </p:spPr>
        <p:txBody>
          <a:bodyPr/>
          <a:lstStyle/>
          <a:p>
            <a:fld id="{A8EF9831-35B4-4843-9AA9-F06FC1EDDB89}" type="slidenum">
              <a:rPr lang="en-US" smtClean="0">
                <a:solidFill>
                  <a:prstClr val="white"/>
                </a:solidFill>
              </a:rPr>
              <a:pPr/>
              <a:t>47</a:t>
            </a:fld>
            <a:endParaRPr lang="en-US" dirty="0">
              <a:solidFill>
                <a:prstClr val="white"/>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4127785102"/>
              </p:ext>
            </p:extLst>
          </p:nvPr>
        </p:nvGraphicFramePr>
        <p:xfrm>
          <a:off x="431800" y="2612063"/>
          <a:ext cx="15544800" cy="5260981"/>
        </p:xfrm>
        <a:graphic>
          <a:graphicData uri="http://schemas.openxmlformats.org/drawingml/2006/table">
            <a:tbl>
              <a:tblPr firstRow="1" bandRow="1">
                <a:tableStyleId>{5C22544A-7EE6-4342-B048-85BDC9FD1C3A}</a:tableStyleId>
              </a:tblPr>
              <a:tblGrid>
                <a:gridCol w="2008053">
                  <a:extLst>
                    <a:ext uri="{9D8B030D-6E8A-4147-A177-3AD203B41FA5}">
                      <a16:colId xmlns:a16="http://schemas.microsoft.com/office/drawing/2014/main" val="3106911689"/>
                    </a:ext>
                  </a:extLst>
                </a:gridCol>
                <a:gridCol w="2250208">
                  <a:extLst>
                    <a:ext uri="{9D8B030D-6E8A-4147-A177-3AD203B41FA5}">
                      <a16:colId xmlns:a16="http://schemas.microsoft.com/office/drawing/2014/main" val="2792846498"/>
                    </a:ext>
                  </a:extLst>
                </a:gridCol>
                <a:gridCol w="7167802">
                  <a:extLst>
                    <a:ext uri="{9D8B030D-6E8A-4147-A177-3AD203B41FA5}">
                      <a16:colId xmlns:a16="http://schemas.microsoft.com/office/drawing/2014/main" val="2608595572"/>
                    </a:ext>
                  </a:extLst>
                </a:gridCol>
                <a:gridCol w="4118737">
                  <a:extLst>
                    <a:ext uri="{9D8B030D-6E8A-4147-A177-3AD203B41FA5}">
                      <a16:colId xmlns:a16="http://schemas.microsoft.com/office/drawing/2014/main" val="3638369775"/>
                    </a:ext>
                  </a:extLst>
                </a:gridCol>
              </a:tblGrid>
              <a:tr h="513820">
                <a:tc>
                  <a:txBody>
                    <a:bodyPr/>
                    <a:lstStyle/>
                    <a:p>
                      <a:pPr algn="l"/>
                      <a:r>
                        <a:rPr lang="en-US" b="0">
                          <a:effectLst/>
                          <a:latin typeface="Times New Roman" panose="02020603050405020304" pitchFamily="18" charset="0"/>
                          <a:cs typeface="Times New Roman" panose="02020603050405020304" pitchFamily="18" charset="0"/>
                        </a:rPr>
                        <a:t>Use Case Id</a:t>
                      </a:r>
                    </a:p>
                  </a:txBody>
                  <a:tcPr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Use Case Title</a:t>
                      </a:r>
                    </a:p>
                  </a:txBody>
                  <a:tcPr marL="101600"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Use Case Description</a:t>
                      </a:r>
                    </a:p>
                  </a:txBody>
                  <a:tcPr marL="101600"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Functional Requirement</a:t>
                      </a:r>
                    </a:p>
                  </a:txBody>
                  <a:tcPr marL="101600" marR="101600" marT="63500" marB="63500" anchor="ctr"/>
                </a:tc>
                <a:extLst>
                  <a:ext uri="{0D108BD9-81ED-4DB2-BD59-A6C34878D82A}">
                    <a16:rowId xmlns:a16="http://schemas.microsoft.com/office/drawing/2014/main" val="1524258808"/>
                  </a:ext>
                </a:extLst>
              </a:tr>
              <a:tr h="513820">
                <a:tc>
                  <a:txBody>
                    <a:bodyPr/>
                    <a:lstStyle/>
                    <a:p>
                      <a:r>
                        <a:rPr lang="en-US" b="0">
                          <a:effectLst/>
                          <a:latin typeface="Times New Roman" panose="02020603050405020304" pitchFamily="18" charset="0"/>
                          <a:cs typeface="Times New Roman" panose="02020603050405020304" pitchFamily="18" charset="0"/>
                        </a:rPr>
                        <a:t>UC-Web-6.1</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Generate Full Outline</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AI synthesizes all outputs into structured episode outline.</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FR6.1</a:t>
                      </a:r>
                    </a:p>
                  </a:txBody>
                  <a:tcPr marL="101600" marT="63500" marB="63500" anchor="ctr"/>
                </a:tc>
                <a:extLst>
                  <a:ext uri="{0D108BD9-81ED-4DB2-BD59-A6C34878D82A}">
                    <a16:rowId xmlns:a16="http://schemas.microsoft.com/office/drawing/2014/main" val="2706629878"/>
                  </a:ext>
                </a:extLst>
              </a:tr>
              <a:tr h="711330">
                <a:tc>
                  <a:txBody>
                    <a:bodyPr/>
                    <a:lstStyle/>
                    <a:p>
                      <a:r>
                        <a:rPr lang="en-US" b="0">
                          <a:effectLst/>
                          <a:latin typeface="Times New Roman" panose="02020603050405020304" pitchFamily="18" charset="0"/>
                          <a:cs typeface="Times New Roman" panose="02020603050405020304" pitchFamily="18" charset="0"/>
                        </a:rPr>
                        <a:t>UC-Web-6.2</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Edit Section</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User edits title, description, or content of any section.</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FR6.2</a:t>
                      </a:r>
                    </a:p>
                  </a:txBody>
                  <a:tcPr marL="101600" marT="63500" marB="63500" anchor="ctr"/>
                </a:tc>
                <a:extLst>
                  <a:ext uri="{0D108BD9-81ED-4DB2-BD59-A6C34878D82A}">
                    <a16:rowId xmlns:a16="http://schemas.microsoft.com/office/drawing/2014/main" val="1288553105"/>
                  </a:ext>
                </a:extLst>
              </a:tr>
              <a:tr h="597517">
                <a:tc>
                  <a:txBody>
                    <a:bodyPr/>
                    <a:lstStyle/>
                    <a:p>
                      <a:r>
                        <a:rPr lang="en-US" b="0">
                          <a:effectLst/>
                          <a:latin typeface="Times New Roman" panose="02020603050405020304" pitchFamily="18" charset="0"/>
                          <a:cs typeface="Times New Roman" panose="02020603050405020304" pitchFamily="18" charset="0"/>
                        </a:rPr>
                        <a:t>UC-Web-6.3</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Reorder Sections</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User drags and drops sections to reorganize flow.</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FR6.3</a:t>
                      </a:r>
                    </a:p>
                  </a:txBody>
                  <a:tcPr marL="101600" marT="63500" marB="63500" anchor="ctr"/>
                </a:tc>
                <a:extLst>
                  <a:ext uri="{0D108BD9-81ED-4DB2-BD59-A6C34878D82A}">
                    <a16:rowId xmlns:a16="http://schemas.microsoft.com/office/drawing/2014/main" val="4090019314"/>
                  </a:ext>
                </a:extLst>
              </a:tr>
              <a:tr h="763793">
                <a:tc>
                  <a:txBody>
                    <a:bodyPr/>
                    <a:lstStyle/>
                    <a:p>
                      <a:r>
                        <a:rPr lang="en-US" b="0">
                          <a:effectLst/>
                          <a:latin typeface="Times New Roman" panose="02020603050405020304" pitchFamily="18" charset="0"/>
                          <a:cs typeface="Times New Roman" panose="02020603050405020304" pitchFamily="18" charset="0"/>
                        </a:rPr>
                        <a:t>UC-Web-6.4</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Add Custom Section</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User inserts new section with custom title and notes.</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FR6.4</a:t>
                      </a:r>
                    </a:p>
                  </a:txBody>
                  <a:tcPr marL="101600" marT="63500" marB="63500" anchor="ctr"/>
                </a:tc>
                <a:extLst>
                  <a:ext uri="{0D108BD9-81ED-4DB2-BD59-A6C34878D82A}">
                    <a16:rowId xmlns:a16="http://schemas.microsoft.com/office/drawing/2014/main" val="2579043748"/>
                  </a:ext>
                </a:extLst>
              </a:tr>
              <a:tr h="634718">
                <a:tc>
                  <a:txBody>
                    <a:bodyPr/>
                    <a:lstStyle/>
                    <a:p>
                      <a:r>
                        <a:rPr lang="en-US" b="0">
                          <a:effectLst/>
                          <a:latin typeface="Times New Roman" panose="02020603050405020304" pitchFamily="18" charset="0"/>
                          <a:cs typeface="Times New Roman" panose="02020603050405020304" pitchFamily="18" charset="0"/>
                        </a:rPr>
                        <a:t>UC-Web-6.5</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Apply Template</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User applies Interview, Solo, or Panel Discussion template.</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FR6.5</a:t>
                      </a:r>
                    </a:p>
                  </a:txBody>
                  <a:tcPr marL="101600" marT="63500" marB="63500" anchor="ctr"/>
                </a:tc>
                <a:extLst>
                  <a:ext uri="{0D108BD9-81ED-4DB2-BD59-A6C34878D82A}">
                    <a16:rowId xmlns:a16="http://schemas.microsoft.com/office/drawing/2014/main" val="1529579988"/>
                  </a:ext>
                </a:extLst>
              </a:tr>
              <a:tr h="634718">
                <a:tc>
                  <a:txBody>
                    <a:bodyPr/>
                    <a:lstStyle/>
                    <a:p>
                      <a:r>
                        <a:rPr lang="en-US" b="0">
                          <a:effectLst/>
                          <a:latin typeface="Times New Roman" panose="02020603050405020304" pitchFamily="18" charset="0"/>
                          <a:cs typeface="Times New Roman" panose="02020603050405020304" pitchFamily="18" charset="0"/>
                        </a:rPr>
                        <a:t>UC-Web-6.6</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Export Outline</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User exports outline as PDF, DOCX, or Markdown.</a:t>
                      </a:r>
                    </a:p>
                  </a:txBody>
                  <a:tcPr marL="101600" marR="101600" marT="63500" marB="63500" anchor="ctr"/>
                </a:tc>
                <a:tc>
                  <a:txBody>
                    <a:bodyPr/>
                    <a:lstStyle/>
                    <a:p>
                      <a:r>
                        <a:rPr lang="en-US" b="0">
                          <a:effectLst/>
                          <a:latin typeface="Times New Roman" panose="02020603050405020304" pitchFamily="18" charset="0"/>
                          <a:cs typeface="Times New Roman" panose="02020603050405020304" pitchFamily="18" charset="0"/>
                        </a:rPr>
                        <a:t>FR6.6</a:t>
                      </a:r>
                    </a:p>
                  </a:txBody>
                  <a:tcPr marL="101600" marT="63500" marB="63500" anchor="ctr"/>
                </a:tc>
                <a:extLst>
                  <a:ext uri="{0D108BD9-81ED-4DB2-BD59-A6C34878D82A}">
                    <a16:rowId xmlns:a16="http://schemas.microsoft.com/office/drawing/2014/main" val="2482107674"/>
                  </a:ext>
                </a:extLst>
              </a:tr>
              <a:tr h="634718">
                <a:tc>
                  <a:txBody>
                    <a:bodyPr/>
                    <a:lstStyle/>
                    <a:p>
                      <a:r>
                        <a:rPr lang="en-US" b="0">
                          <a:effectLst/>
                          <a:latin typeface="Times New Roman" panose="02020603050405020304" pitchFamily="18" charset="0"/>
                          <a:cs typeface="Times New Roman" panose="02020603050405020304" pitchFamily="18" charset="0"/>
                        </a:rPr>
                        <a:t>UC-Web-6.7</a:t>
                      </a: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Share with Team</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User shares outline via in-app notification and link.</a:t>
                      </a:r>
                    </a:p>
                  </a:txBody>
                  <a:tcPr marL="101600"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FR6.7</a:t>
                      </a:r>
                    </a:p>
                  </a:txBody>
                  <a:tcPr marL="101600" marT="63500" marB="63500" anchor="ctr"/>
                </a:tc>
                <a:extLst>
                  <a:ext uri="{0D108BD9-81ED-4DB2-BD59-A6C34878D82A}">
                    <a16:rowId xmlns:a16="http://schemas.microsoft.com/office/drawing/2014/main" val="3136662732"/>
                  </a:ext>
                </a:extLst>
              </a:tr>
            </a:tbl>
          </a:graphicData>
        </a:graphic>
      </p:graphicFrame>
    </p:spTree>
    <p:extLst>
      <p:ext uri="{BB962C8B-B14F-4D97-AF65-F5344CB8AC3E}">
        <p14:creationId xmlns:p14="http://schemas.microsoft.com/office/powerpoint/2010/main" val="20732074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6600" b="1" u="sng" dirty="0">
                <a:latin typeface="Times New Roman" panose="02020603050405020304" pitchFamily="18" charset="0"/>
                <a:cs typeface="Times New Roman" panose="02020603050405020304" pitchFamily="18" charset="0"/>
              </a:rPr>
              <a:t>Non-Functional Requirement</a:t>
            </a:r>
            <a:br>
              <a:rPr lang="en-US" sz="6600" b="1" u="sng" dirty="0">
                <a:latin typeface="Times New Roman" panose="02020603050405020304" pitchFamily="18" charset="0"/>
                <a:cs typeface="Times New Roman" panose="02020603050405020304" pitchFamily="18" charset="0"/>
              </a:rPr>
            </a:br>
            <a:r>
              <a:rPr lang="en-US" sz="6600" b="1" u="sng" dirty="0">
                <a:latin typeface="Times New Roman" panose="02020603050405020304" pitchFamily="18" charset="0"/>
                <a:cs typeface="Times New Roman" panose="02020603050405020304" pitchFamily="18" charset="0"/>
              </a:rPr>
              <a:t/>
            </a:r>
            <a:br>
              <a:rPr lang="en-US" sz="6600" b="1" u="sng" dirty="0">
                <a:latin typeface="Times New Roman" panose="02020603050405020304" pitchFamily="18" charset="0"/>
                <a:cs typeface="Times New Roman" panose="02020603050405020304" pitchFamily="18" charset="0"/>
              </a:rPr>
            </a:br>
            <a:endParaRPr lang="en-US" sz="6600" b="1" u="sng" dirty="0">
              <a:latin typeface="Times New Roman" panose="02020603050405020304" pitchFamily="18" charset="0"/>
              <a:cs typeface="Times New Roman" panose="02020603050405020304" pitchFamily="18" charset="0"/>
            </a:endParaRPr>
          </a:p>
        </p:txBody>
      </p:sp>
      <p:sp>
        <p:nvSpPr>
          <p:cNvPr id="3" name="Content Placeholder 2"/>
          <p:cNvSpPr txBox="1">
            <a:spLocks/>
          </p:cNvSpPr>
          <p:nvPr/>
        </p:nvSpPr>
        <p:spPr>
          <a:xfrm>
            <a:off x="169160" y="1828800"/>
            <a:ext cx="155448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err="1">
                <a:ln>
                  <a:noFill/>
                </a:ln>
                <a:solidFill>
                  <a:srgbClr val="FF0000"/>
                </a:solidFill>
                <a:effectLst/>
                <a:uLnTx/>
                <a:uFillTx/>
                <a:latin typeface="Calibri"/>
                <a:ea typeface="+mn-ea"/>
                <a:cs typeface="+mn-cs"/>
              </a:rPr>
              <a:t>PodCraft</a:t>
            </a:r>
            <a:r>
              <a:rPr kumimoji="0" lang="en-US" sz="2400" b="1" i="0" u="none" strike="noStrike" kern="1200" cap="none" spc="0" normalizeH="0" baseline="0" noProof="0" dirty="0">
                <a:ln>
                  <a:noFill/>
                </a:ln>
                <a:solidFill>
                  <a:srgbClr val="FF0000"/>
                </a:solidFill>
                <a:effectLst/>
                <a:uLnTx/>
                <a:uFillTx/>
                <a:latin typeface="Calibri"/>
                <a:ea typeface="+mn-ea"/>
                <a:cs typeface="+mn-cs"/>
              </a:rPr>
              <a:t> - Non-Functional Requirements</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800" b="1" i="0" u="none" strike="noStrike" kern="1200" cap="none" spc="0" normalizeH="0" baseline="0" noProof="0" dirty="0">
              <a:ln>
                <a:noFill/>
              </a:ln>
              <a:solidFill>
                <a:srgbClr val="FF0000"/>
              </a:solidFill>
              <a:effectLst/>
              <a:uLnTx/>
              <a:uFillTx/>
              <a:latin typeface="Calibri"/>
              <a:ea typeface="+mn-ea"/>
              <a:cs typeface="+mn-cs"/>
            </a:endParaRPr>
          </a:p>
          <a:p>
            <a:pPr marL="457200" marR="0" lvl="0" indent="-4572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3000" b="0"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7" name="Content Placeholder 8">
            <a:extLst>
              <a:ext uri="{FF2B5EF4-FFF2-40B4-BE49-F238E27FC236}">
                <a16:creationId xmlns:a16="http://schemas.microsoft.com/office/drawing/2014/main" id="{21319386-CAED-4F05-8F82-28C55745031B}"/>
              </a:ext>
            </a:extLst>
          </p:cNvPr>
          <p:cNvGraphicFramePr>
            <a:graphicFrameLocks/>
          </p:cNvGraphicFramePr>
          <p:nvPr/>
        </p:nvGraphicFramePr>
        <p:xfrm>
          <a:off x="169160" y="2191932"/>
          <a:ext cx="15815907" cy="6743911"/>
        </p:xfrm>
        <a:graphic>
          <a:graphicData uri="http://schemas.openxmlformats.org/drawingml/2006/table">
            <a:tbl>
              <a:tblPr firstRow="1" bandRow="1">
                <a:tableStyleId>{5C22544A-7EE6-4342-B048-85BDC9FD1C3A}</a:tableStyleId>
              </a:tblPr>
              <a:tblGrid>
                <a:gridCol w="1471142">
                  <a:extLst>
                    <a:ext uri="{9D8B030D-6E8A-4147-A177-3AD203B41FA5}">
                      <a16:colId xmlns:a16="http://schemas.microsoft.com/office/drawing/2014/main" val="3079665425"/>
                    </a:ext>
                  </a:extLst>
                </a:gridCol>
                <a:gridCol w="14344765">
                  <a:extLst>
                    <a:ext uri="{9D8B030D-6E8A-4147-A177-3AD203B41FA5}">
                      <a16:colId xmlns:a16="http://schemas.microsoft.com/office/drawing/2014/main" val="3504073780"/>
                    </a:ext>
                  </a:extLst>
                </a:gridCol>
              </a:tblGrid>
              <a:tr h="338543">
                <a:tc>
                  <a:txBody>
                    <a:bodyPr/>
                    <a:lstStyle/>
                    <a:p>
                      <a:pPr algn="ctr">
                        <a:lnSpc>
                          <a:spcPct val="100000"/>
                        </a:lnSpc>
                        <a:spcAft>
                          <a:spcPts val="0"/>
                        </a:spcAft>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CA"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75000"/>
                      </a:schemeClr>
                    </a:solidFill>
                  </a:tcPr>
                </a:tc>
                <a:tc>
                  <a:txBody>
                    <a:bodyPr/>
                    <a:lstStyle/>
                    <a:p>
                      <a:pPr lvl="1"/>
                      <a:r>
                        <a:rPr lang="en-US" sz="1800" b="1" kern="1200" dirty="0">
                          <a:solidFill>
                            <a:schemeClr val="lt1"/>
                          </a:solidFill>
                          <a:effectLst/>
                          <a:latin typeface="Times New Roman" panose="02020603050405020304" pitchFamily="18" charset="0"/>
                          <a:ea typeface="+mn-ea"/>
                          <a:cs typeface="Times New Roman" panose="02020603050405020304" pitchFamily="18" charset="0"/>
                        </a:rPr>
                        <a:t>Performance Requirements </a:t>
                      </a:r>
                    </a:p>
                  </a:txBody>
                  <a:tcPr marL="68580" marR="68580" marT="0" marB="0">
                    <a:solidFill>
                      <a:schemeClr val="accent1">
                        <a:lumMod val="75000"/>
                      </a:schemeClr>
                    </a:solidFill>
                  </a:tcPr>
                </a:tc>
                <a:extLst>
                  <a:ext uri="{0D108BD9-81ED-4DB2-BD59-A6C34878D82A}">
                    <a16:rowId xmlns:a16="http://schemas.microsoft.com/office/drawing/2014/main" val="4185023544"/>
                  </a:ext>
                </a:extLst>
              </a:tr>
              <a:tr h="699796">
                <a:tc>
                  <a:txBody>
                    <a:bodyPr/>
                    <a:lstStyle/>
                    <a:p>
                      <a:pPr algn="ctr">
                        <a:lnSpc>
                          <a:spcPct val="100000"/>
                        </a:lnSpc>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NFR-1</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0"/>
                        </a:spcAft>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The system shall respond to user requests within 3 seconds under normal load. AI agent research tasks shall complete within 15 seconds for a given niche or guest. The platform shall support up to 500 concurrent users with no degradation in response time. API throughput shall handle at least 100 requests per minute.</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80898334"/>
                  </a:ext>
                </a:extLst>
              </a:tr>
              <a:tr h="350520">
                <a:tc>
                  <a:txBody>
                    <a:bodyPr/>
                    <a:lstStyle/>
                    <a:p>
                      <a:pPr algn="ctr">
                        <a:lnSpc>
                          <a:spcPct val="100000"/>
                        </a:lnSpc>
                        <a:spcAft>
                          <a:spcPts val="0"/>
                        </a:spcAft>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CA"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75000"/>
                      </a:schemeClr>
                    </a:solidFill>
                  </a:tcPr>
                </a:tc>
                <a:tc>
                  <a:txBody>
                    <a:bodyPr/>
                    <a:lstStyle/>
                    <a:p>
                      <a:pPr lvl="1"/>
                      <a:r>
                        <a:rPr lang="en-US" sz="1800" b="1" kern="1200" dirty="0">
                          <a:solidFill>
                            <a:schemeClr val="lt1"/>
                          </a:solidFill>
                          <a:effectLst/>
                          <a:latin typeface="Times New Roman" panose="02020603050405020304" pitchFamily="18" charset="0"/>
                          <a:ea typeface="+mn-ea"/>
                          <a:cs typeface="Times New Roman" panose="02020603050405020304" pitchFamily="18" charset="0"/>
                        </a:rPr>
                        <a:t>Reliability </a:t>
                      </a:r>
                    </a:p>
                  </a:txBody>
                  <a:tcPr marL="68580" marR="68580" marT="0" marB="0">
                    <a:solidFill>
                      <a:schemeClr val="accent1">
                        <a:lumMod val="75000"/>
                      </a:schemeClr>
                    </a:solidFill>
                  </a:tcPr>
                </a:tc>
                <a:extLst>
                  <a:ext uri="{0D108BD9-81ED-4DB2-BD59-A6C34878D82A}">
                    <a16:rowId xmlns:a16="http://schemas.microsoft.com/office/drawing/2014/main" val="777250370"/>
                  </a:ext>
                </a:extLst>
              </a:tr>
              <a:tr h="434762">
                <a:tc>
                  <a:txBody>
                    <a:bodyPr/>
                    <a:lstStyle/>
                    <a:p>
                      <a:pPr algn="ctr">
                        <a:lnSpc>
                          <a:spcPct val="100000"/>
                        </a:lnSpc>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NFR-2</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0"/>
                        </a:spcAft>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PodCraft shall maintain 99.5% uptime monthly. The system shall implement automatic failover for critical AI agent services. All episode plans shall be auto-saved every 60 seconds to prevent data loss. Recovery time objective (RTO) shall not exceed 30 minutes in the event of system failure.</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96602924"/>
                  </a:ext>
                </a:extLst>
              </a:tr>
              <a:tr h="293789">
                <a:tc>
                  <a:txBody>
                    <a:bodyPr/>
                    <a:lstStyle/>
                    <a:p>
                      <a:pPr algn="ctr">
                        <a:lnSpc>
                          <a:spcPct val="100000"/>
                        </a:lnSpc>
                        <a:spcAft>
                          <a:spcPts val="0"/>
                        </a:spcAft>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CA"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75000"/>
                      </a:schemeClr>
                    </a:solidFill>
                  </a:tcPr>
                </a:tc>
                <a:tc>
                  <a:txBody>
                    <a:bodyPr/>
                    <a:lstStyle/>
                    <a:p>
                      <a:pPr lvl="1"/>
                      <a:r>
                        <a:rPr lang="en-US" sz="1800" b="1" kern="1200" dirty="0">
                          <a:solidFill>
                            <a:schemeClr val="lt1"/>
                          </a:solidFill>
                          <a:effectLst/>
                          <a:latin typeface="Times New Roman" panose="02020603050405020304" pitchFamily="18" charset="0"/>
                          <a:ea typeface="+mn-ea"/>
                          <a:cs typeface="Times New Roman" panose="02020603050405020304" pitchFamily="18" charset="0"/>
                        </a:rPr>
                        <a:t>Usability</a:t>
                      </a:r>
                      <a:r>
                        <a:rPr lang="en-US" sz="1800" b="1" kern="1200" dirty="0">
                          <a:solidFill>
                            <a:schemeClr val="dk1"/>
                          </a:solidFill>
                          <a:effectLst/>
                          <a:latin typeface="Times New Roman" panose="02020603050405020304" pitchFamily="18" charset="0"/>
                          <a:ea typeface="+mn-ea"/>
                          <a:cs typeface="Times New Roman" panose="02020603050405020304" pitchFamily="18" charset="0"/>
                        </a:rPr>
                        <a:t> </a:t>
                      </a:r>
                    </a:p>
                  </a:txBody>
                  <a:tcPr marL="68580" marR="68580" marT="0" marB="0">
                    <a:solidFill>
                      <a:schemeClr val="accent1">
                        <a:lumMod val="75000"/>
                      </a:schemeClr>
                    </a:solidFill>
                  </a:tcPr>
                </a:tc>
                <a:extLst>
                  <a:ext uri="{0D108BD9-81ED-4DB2-BD59-A6C34878D82A}">
                    <a16:rowId xmlns:a16="http://schemas.microsoft.com/office/drawing/2014/main" val="4195653617"/>
                  </a:ext>
                </a:extLst>
              </a:tr>
              <a:tr h="457313">
                <a:tc>
                  <a:txBody>
                    <a:bodyPr/>
                    <a:lstStyle/>
                    <a:p>
                      <a:pPr algn="ctr">
                        <a:lnSpc>
                          <a:spcPct val="100000"/>
                        </a:lnSpc>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NFR-3</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0"/>
                        </a:spcAft>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A new user shall be able to generate their first episode plan within 10 minutes of registration without assistance. The interface shall comply with WCAG 2.1 Level AA accessibility standards. The mobile app UI shall support one-handed use for core features. User satisfaction rating shall target a minimum of 4.0/5.0 in usability surveys.</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85869563"/>
                  </a:ext>
                </a:extLst>
              </a:tr>
              <a:tr h="457313">
                <a:tc>
                  <a:txBody>
                    <a:bodyPr/>
                    <a:lstStyle/>
                    <a:p>
                      <a:pPr algn="ctr">
                        <a:lnSpc>
                          <a:spcPct val="100000"/>
                        </a:lnSpc>
                        <a:spcAft>
                          <a:spcPts val="0"/>
                        </a:spcAft>
                      </a:pPr>
                      <a:r>
                        <a:rPr lang="en-US" sz="1800" dirty="0">
                          <a:solidFill>
                            <a:schemeClr val="bg1">
                              <a:lumMod val="9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CA" sz="1800" dirty="0">
                        <a:solidFill>
                          <a:schemeClr val="bg1">
                            <a:lumMod val="9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75000"/>
                      </a:schemeClr>
                    </a:solidFill>
                  </a:tcPr>
                </a:tc>
                <a:tc>
                  <a:txBody>
                    <a:bodyPr/>
                    <a:lstStyle/>
                    <a:p>
                      <a:pPr lvl="1"/>
                      <a:r>
                        <a:rPr lang="en-US" sz="1800" b="1" kern="1200" dirty="0">
                          <a:solidFill>
                            <a:schemeClr val="bg1">
                              <a:lumMod val="95000"/>
                            </a:schemeClr>
                          </a:solidFill>
                          <a:effectLst/>
                          <a:latin typeface="Times New Roman" panose="02020603050405020304" pitchFamily="18" charset="0"/>
                          <a:ea typeface="+mn-ea"/>
                          <a:cs typeface="Times New Roman" panose="02020603050405020304" pitchFamily="18" charset="0"/>
                        </a:rPr>
                        <a:t>Supportability</a:t>
                      </a:r>
                    </a:p>
                  </a:txBody>
                  <a:tcPr marL="68580" marR="68580" marT="0" marB="0">
                    <a:solidFill>
                      <a:schemeClr val="accent1">
                        <a:lumMod val="75000"/>
                      </a:schemeClr>
                    </a:solidFill>
                  </a:tcPr>
                </a:tc>
                <a:extLst>
                  <a:ext uri="{0D108BD9-81ED-4DB2-BD59-A6C34878D82A}">
                    <a16:rowId xmlns:a16="http://schemas.microsoft.com/office/drawing/2014/main" val="3388860434"/>
                  </a:ext>
                </a:extLst>
              </a:tr>
              <a:tr h="457313">
                <a:tc>
                  <a:txBody>
                    <a:bodyPr/>
                    <a:lstStyle/>
                    <a:p>
                      <a:pPr algn="ctr">
                        <a:lnSpc>
                          <a:spcPct val="100000"/>
                        </a:lnSpc>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NFR-4</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0"/>
                        </a:spcAft>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All backend code shall follow PEP 8 (Python) and Airbnb (JavaScript/TypeScript) coding standards. The system shall include comprehensive API documentation using Swagger/OpenAPI. Module-level unit tests shall achieve a minimum of 80% code coverage. Log levels (INFO, WARN, ERROR) shall be consistently applied to support debugging and monitoring.</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22060403"/>
                  </a:ext>
                </a:extLst>
              </a:tr>
              <a:tr h="457313">
                <a:tc>
                  <a:txBody>
                    <a:bodyPr/>
                    <a:lstStyle/>
                    <a:p>
                      <a:pPr algn="ctr">
                        <a:lnSpc>
                          <a:spcPct val="100000"/>
                        </a:lnSpc>
                        <a:spcAft>
                          <a:spcPts val="0"/>
                        </a:spcAft>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CA"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75000"/>
                      </a:schemeClr>
                    </a:solidFill>
                  </a:tcPr>
                </a:tc>
                <a:tc>
                  <a:txBody>
                    <a:bodyPr/>
                    <a:lstStyle/>
                    <a:p>
                      <a:pPr lvl="1"/>
                      <a:r>
                        <a:rPr lang="en-US" sz="1800" b="1" kern="1200" dirty="0">
                          <a:solidFill>
                            <a:schemeClr val="lt1"/>
                          </a:solidFill>
                          <a:effectLst/>
                          <a:latin typeface="Times New Roman" panose="02020603050405020304" pitchFamily="18" charset="0"/>
                          <a:ea typeface="+mn-ea"/>
                          <a:cs typeface="Times New Roman" panose="02020603050405020304" pitchFamily="18" charset="0"/>
                        </a:rPr>
                        <a:t>Design Constraints</a:t>
                      </a:r>
                    </a:p>
                  </a:txBody>
                  <a:tcPr marL="68580" marR="68580" marT="0" marB="0">
                    <a:solidFill>
                      <a:schemeClr val="accent1">
                        <a:lumMod val="75000"/>
                      </a:schemeClr>
                    </a:solidFill>
                  </a:tcPr>
                </a:tc>
                <a:extLst>
                  <a:ext uri="{0D108BD9-81ED-4DB2-BD59-A6C34878D82A}">
                    <a16:rowId xmlns:a16="http://schemas.microsoft.com/office/drawing/2014/main" val="2372703820"/>
                  </a:ext>
                </a:extLst>
              </a:tr>
              <a:tr h="572209">
                <a:tc>
                  <a:txBody>
                    <a:bodyPr/>
                    <a:lstStyle/>
                    <a:p>
                      <a:pPr algn="ctr">
                        <a:lnSpc>
                          <a:spcPct val="100000"/>
                        </a:lnSpc>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NFR-5</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0"/>
                        </a:spcAft>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The system must be built using React JS (web) and React Native (mobile) as mandated by the project scope. All AI agent functionality must utilize the OpenAI API. The backend must follow RESTful API design principles. The system must be deployable on cloud infrastructure (AWS or equivalent) and use PostgreSQL as the primary relational database.</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07985108"/>
                  </a:ext>
                </a:extLst>
              </a:tr>
              <a:tr h="457313">
                <a:tc>
                  <a:txBody>
                    <a:bodyPr/>
                    <a:lstStyle/>
                    <a:p>
                      <a:pPr algn="ctr">
                        <a:lnSpc>
                          <a:spcPct val="100000"/>
                        </a:lnSpc>
                        <a:spcAft>
                          <a:spcPts val="0"/>
                        </a:spcAft>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CA"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75000"/>
                      </a:schemeClr>
                    </a:solidFill>
                  </a:tcPr>
                </a:tc>
                <a:tc>
                  <a:txBody>
                    <a:bodyPr/>
                    <a:lstStyle/>
                    <a:p>
                      <a:pPr lvl="1"/>
                      <a:r>
                        <a:rPr lang="en-US" sz="1800" b="1" kern="1200" dirty="0">
                          <a:solidFill>
                            <a:schemeClr val="bg1"/>
                          </a:solidFill>
                          <a:effectLst/>
                          <a:latin typeface="Times New Roman" panose="02020603050405020304" pitchFamily="18" charset="0"/>
                          <a:ea typeface="+mn-ea"/>
                          <a:cs typeface="Times New Roman" panose="02020603050405020304" pitchFamily="18" charset="0"/>
                        </a:rPr>
                        <a:t>Security </a:t>
                      </a:r>
                    </a:p>
                  </a:txBody>
                  <a:tcPr marL="68580" marR="68580" marT="0" marB="0">
                    <a:solidFill>
                      <a:schemeClr val="accent1">
                        <a:lumMod val="75000"/>
                      </a:schemeClr>
                    </a:solidFill>
                  </a:tcPr>
                </a:tc>
                <a:extLst>
                  <a:ext uri="{0D108BD9-81ED-4DB2-BD59-A6C34878D82A}">
                    <a16:rowId xmlns:a16="http://schemas.microsoft.com/office/drawing/2014/main" val="3358473827"/>
                  </a:ext>
                </a:extLst>
              </a:tr>
              <a:tr h="457313">
                <a:tc>
                  <a:txBody>
                    <a:bodyPr/>
                    <a:lstStyle/>
                    <a:p>
                      <a:pPr algn="ctr">
                        <a:lnSpc>
                          <a:spcPct val="100000"/>
                        </a:lnSpc>
                        <a:spcAft>
                          <a:spcPts val="0"/>
                        </a:spcAft>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Nfr-6</a:t>
                      </a:r>
                    </a:p>
                  </a:txBody>
                  <a:tcPr marL="68580" marR="68580" marT="0" marB="0"/>
                </a:tc>
                <a:tc>
                  <a:txBody>
                    <a:bodyPr/>
                    <a:lstStyle/>
                    <a:p>
                      <a:pPr algn="just">
                        <a:lnSpc>
                          <a:spcPct val="100000"/>
                        </a:lnSpc>
                        <a:spcAft>
                          <a:spcPts val="0"/>
                        </a:spcAft>
                      </a:pPr>
                      <a:r>
                        <a:rPr lang="en-US" sz="1800" dirty="0"/>
                        <a:t>The system shall use secure authentication (JWT/OAuth 2.0) and encrypt data using HTTPS (TLS). Role-based access control (RBAC) shall restrict unauthorized access. The system shall protect against common vulnerabilities (SQL injection, XSS, CSRF) and store passwords using secure hashing.</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44681838"/>
                  </a:ext>
                </a:extLst>
              </a:tr>
            </a:tbl>
          </a:graphicData>
        </a:graphic>
      </p:graphicFrame>
    </p:spTree>
    <p:extLst>
      <p:ext uri="{BB962C8B-B14F-4D97-AF65-F5344CB8AC3E}">
        <p14:creationId xmlns:p14="http://schemas.microsoft.com/office/powerpoint/2010/main" val="32760025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574800" y="3581400"/>
            <a:ext cx="14219757" cy="2712327"/>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buFont typeface="Arial" panose="020B0604020202020204" pitchFamily="34" charset="0"/>
              <a:buChar char="•"/>
            </a:pPr>
            <a:r>
              <a:rPr lang="en-US" sz="6000" b="1" dirty="0">
                <a:solidFill>
                  <a:schemeClr val="tx1">
                    <a:lumMod val="95000"/>
                    <a:lumOff val="5000"/>
                  </a:schemeClr>
                </a:solidFill>
                <a:latin typeface="Times New Roman" panose="02020603050405020304" pitchFamily="18" charset="0"/>
                <a:cs typeface="Times New Roman" panose="02020603050405020304" pitchFamily="18" charset="0"/>
              </a:rPr>
              <a:t>SDS</a:t>
            </a:r>
            <a:endParaRPr lang="en-US"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6000" dirty="0">
              <a:solidFill>
                <a:srgbClr val="FF0000"/>
              </a:solidFill>
              <a:latin typeface="Times New Roman" panose="02020603050405020304" pitchFamily="18" charset="0"/>
              <a:cs typeface="Times New Roman" panose="02020603050405020304" pitchFamily="18" charset="0"/>
            </a:endParaRPr>
          </a:p>
          <a:p>
            <a:endParaRPr lang="en-US" sz="6000" dirty="0">
              <a:solidFill>
                <a:srgbClr val="FF0000"/>
              </a:solidFill>
              <a:latin typeface="Calibri"/>
            </a:endParaRPr>
          </a:p>
        </p:txBody>
      </p:sp>
    </p:spTree>
    <p:extLst>
      <p:ext uri="{BB962C8B-B14F-4D97-AF65-F5344CB8AC3E}">
        <p14:creationId xmlns:p14="http://schemas.microsoft.com/office/powerpoint/2010/main" val="23990926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Architecture Diagram of Proposed Project</a:t>
            </a:r>
            <a:br>
              <a:rPr lang="en-US" sz="4500" b="1" u="sng" dirty="0">
                <a:latin typeface="Times New Roman" panose="02020603050405020304" pitchFamily="18" charset="0"/>
                <a:cs typeface="Times New Roman" panose="02020603050405020304" pitchFamily="18" charset="0"/>
              </a:rPr>
            </a:br>
            <a:endParaRPr lang="en-US" sz="4500" b="1" u="sng"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A8E15270-EB96-4AA6-B039-A067258246CB}"/>
              </a:ext>
            </a:extLst>
          </p:cNvPr>
          <p:cNvSpPr/>
          <p:nvPr/>
        </p:nvSpPr>
        <p:spPr>
          <a:xfrm>
            <a:off x="3213100" y="8229600"/>
            <a:ext cx="9829800" cy="461665"/>
          </a:xfrm>
          <a:prstGeom prst="rect">
            <a:avLst/>
          </a:prstGeom>
        </p:spPr>
        <p:txBody>
          <a:bodyPr wrap="square">
            <a:spAutoFit/>
          </a:bodyPr>
          <a:lstStyle/>
          <a:p>
            <a:pPr algn="ctr"/>
            <a:r>
              <a:rPr lang="en-US" sz="2400" b="1" u="sng" dirty="0">
                <a:latin typeface="Times New Roman" panose="02020603050405020304" pitchFamily="18" charset="0"/>
                <a:cs typeface="Times New Roman" panose="02020603050405020304" pitchFamily="18" charset="0"/>
              </a:rPr>
              <a:t>Figure-2: Layered Architecture Diagram </a:t>
            </a:r>
            <a:endParaRPr lang="en-US" sz="2400" u="sng" dirty="0"/>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6299200" y="2133600"/>
            <a:ext cx="3581400" cy="5943600"/>
          </a:xfrm>
          <a:prstGeom prst="rect">
            <a:avLst/>
          </a:prstGeom>
          <a:noFill/>
          <a:ln>
            <a:noFill/>
          </a:ln>
        </p:spPr>
      </p:pic>
    </p:spTree>
    <p:extLst>
      <p:ext uri="{BB962C8B-B14F-4D97-AF65-F5344CB8AC3E}">
        <p14:creationId xmlns:p14="http://schemas.microsoft.com/office/powerpoint/2010/main" val="19207979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000" b="1" u="sng" dirty="0">
                <a:latin typeface="Times New Roman" panose="02020603050405020304" pitchFamily="18" charset="0"/>
                <a:cs typeface="Times New Roman" panose="02020603050405020304" pitchFamily="18" charset="0"/>
              </a:rPr>
              <a:t>Activity Diagram of </a:t>
            </a:r>
            <a:r>
              <a:rPr lang="en-US" sz="4000" b="1" u="sng" dirty="0" err="1">
                <a:latin typeface="Times New Roman" panose="02020603050405020304" pitchFamily="18" charset="0"/>
                <a:cs typeface="Times New Roman" panose="02020603050405020304" pitchFamily="18" charset="0"/>
              </a:rPr>
              <a:t>Podcraft</a:t>
            </a:r>
            <a:r>
              <a:rPr lang="en-US" sz="4000" b="1" u="sng" dirty="0">
                <a:latin typeface="Times New Roman" panose="02020603050405020304" pitchFamily="18" charset="0"/>
                <a:cs typeface="Times New Roman" panose="02020603050405020304" pitchFamily="18" charset="0"/>
              </a:rPr>
              <a:t/>
            </a:r>
            <a:br>
              <a:rPr lang="en-US" sz="4000" b="1" u="sng" dirty="0">
                <a:latin typeface="Times New Roman" panose="02020603050405020304" pitchFamily="18" charset="0"/>
                <a:cs typeface="Times New Roman" panose="02020603050405020304" pitchFamily="18" charset="0"/>
              </a:rPr>
            </a:br>
            <a:r>
              <a:rPr lang="en-US" sz="4000" b="1" u="sng" dirty="0">
                <a:latin typeface="Times New Roman" panose="02020603050405020304" pitchFamily="18" charset="0"/>
                <a:cs typeface="Times New Roman" panose="02020603050405020304" pitchFamily="18" charset="0"/>
              </a:rPr>
              <a:t>Module-1: User Authentication &amp; Profile Management </a:t>
            </a:r>
            <a:br>
              <a:rPr lang="en-US" sz="4000" b="1" u="sng" dirty="0">
                <a:latin typeface="Times New Roman" panose="02020603050405020304" pitchFamily="18" charset="0"/>
                <a:cs typeface="Times New Roman" panose="02020603050405020304" pitchFamily="18" charset="0"/>
              </a:rPr>
            </a:br>
            <a:endParaRPr lang="en-US" sz="4000" b="1" u="sng" dirty="0">
              <a:latin typeface="Times New Roman" panose="02020603050405020304" pitchFamily="18" charset="0"/>
              <a:cs typeface="Times New Roman" panose="02020603050405020304" pitchFamily="18" charset="0"/>
            </a:endParaRPr>
          </a:p>
        </p:txBody>
      </p:sp>
      <p:sp>
        <p:nvSpPr>
          <p:cNvPr id="3" name="Content Placeholder 2"/>
          <p:cNvSpPr txBox="1">
            <a:spLocks/>
          </p:cNvSpPr>
          <p:nvPr/>
        </p:nvSpPr>
        <p:spPr>
          <a:xfrm>
            <a:off x="355600" y="2793155"/>
            <a:ext cx="155448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endParaRPr lang="en-US" sz="3000" b="1" dirty="0">
              <a:solidFill>
                <a:schemeClr val="tx1">
                  <a:lumMod val="95000"/>
                  <a:lumOff val="5000"/>
                </a:schemeClr>
              </a:solidFill>
              <a:highlight>
                <a:srgbClr val="FFFF00"/>
              </a:highligh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r>
              <a:rPr lang="en-US" sz="3000" dirty="0">
                <a:solidFill>
                  <a:schemeClr val="tx1">
                    <a:lumMod val="95000"/>
                    <a:lumOff val="5000"/>
                  </a:schemeClr>
                </a:solidFill>
                <a:latin typeface="Times New Roman" panose="02020603050405020304" pitchFamily="18" charset="0"/>
                <a:cs typeface="Times New Roman" panose="02020603050405020304" pitchFamily="18" charset="0"/>
              </a:rPr>
              <a:t>  </a:t>
            </a:r>
          </a:p>
        </p:txBody>
      </p:sp>
      <p:sp>
        <p:nvSpPr>
          <p:cNvPr id="12" name="Rectangle 11">
            <a:extLst>
              <a:ext uri="{FF2B5EF4-FFF2-40B4-BE49-F238E27FC236}">
                <a16:creationId xmlns:a16="http://schemas.microsoft.com/office/drawing/2014/main" id="{A8E15270-EB96-4AA6-B039-A067258246CB}"/>
              </a:ext>
            </a:extLst>
          </p:cNvPr>
          <p:cNvSpPr/>
          <p:nvPr/>
        </p:nvSpPr>
        <p:spPr>
          <a:xfrm>
            <a:off x="3098800" y="1889645"/>
            <a:ext cx="10955787" cy="830997"/>
          </a:xfrm>
          <a:prstGeom prst="rect">
            <a:avLst/>
          </a:prstGeom>
        </p:spPr>
        <p:txBody>
          <a:bodyPr wrap="square">
            <a:spAutoFit/>
          </a:bodyPr>
          <a:lstStyle/>
          <a:p>
            <a:pPr algn="ctr"/>
            <a:r>
              <a:rPr lang="en-US" sz="2400" b="1" u="sng" dirty="0">
                <a:latin typeface="Times New Roman" panose="02020603050405020304" pitchFamily="18" charset="0"/>
                <a:cs typeface="Times New Roman" panose="02020603050405020304" pitchFamily="18" charset="0"/>
              </a:rPr>
              <a:t>Activity Diagram </a:t>
            </a:r>
            <a:r>
              <a:rPr lang="en-US" sz="2400" b="1" u="sng" dirty="0" smtClean="0">
                <a:latin typeface="Times New Roman" panose="02020603050405020304" pitchFamily="18" charset="0"/>
                <a:cs typeface="Times New Roman" panose="02020603050405020304" pitchFamily="18" charset="0"/>
              </a:rPr>
              <a:t>For UC1 </a:t>
            </a:r>
            <a:r>
              <a:rPr lang="en-US" sz="2400" b="1" u="sng" dirty="0">
                <a:latin typeface="Times New Roman" panose="02020603050405020304" pitchFamily="18" charset="0"/>
                <a:cs typeface="Times New Roman" panose="02020603050405020304" pitchFamily="18" charset="0"/>
              </a:rPr>
              <a:t>User Registration:</a:t>
            </a:r>
          </a:p>
          <a:p>
            <a:pPr algn="ctr"/>
            <a:endParaRPr lang="en-US" sz="2400" u="sng"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028" y="213788"/>
            <a:ext cx="1409504" cy="1409504"/>
          </a:xfrm>
          <a:prstGeom prst="rect">
            <a:avLst/>
          </a:prstGeom>
        </p:spPr>
      </p:pic>
      <p:pic>
        <p:nvPicPr>
          <p:cNvPr id="5" name="Picture 4">
            <a:extLst>
              <a:ext uri="{FF2B5EF4-FFF2-40B4-BE49-F238E27FC236}">
                <a16:creationId xmlns:a16="http://schemas.microsoft.com/office/drawing/2014/main" id="{CCEE97CC-8855-1402-2500-8CF47F7A42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8900" y="2514600"/>
            <a:ext cx="8458200" cy="6526337"/>
          </a:xfrm>
          <a:prstGeom prst="rect">
            <a:avLst/>
          </a:prstGeom>
        </p:spPr>
      </p:pic>
    </p:spTree>
    <p:extLst>
      <p:ext uri="{BB962C8B-B14F-4D97-AF65-F5344CB8AC3E}">
        <p14:creationId xmlns:p14="http://schemas.microsoft.com/office/powerpoint/2010/main" val="1525035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9C4BE-9881-ECA5-5138-E6D567C312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EF871D-37DD-6FA5-C566-74198E91C26F}"/>
              </a:ext>
            </a:extLst>
          </p:cNvPr>
          <p:cNvSpPr>
            <a:spLocks noGrp="1"/>
          </p:cNvSpPr>
          <p:nvPr>
            <p:ph type="ctrTitle"/>
          </p:nvPr>
        </p:nvSpPr>
        <p:spPr>
          <a:xfrm>
            <a:off x="2687320" y="304800"/>
            <a:ext cx="12374880" cy="1143000"/>
          </a:xfrm>
        </p:spPr>
        <p:txBody>
          <a:bodyPr/>
          <a:lstStyle/>
          <a:p>
            <a:r>
              <a:rPr lang="en-US" sz="5400" b="1" u="sng" dirty="0">
                <a:latin typeface="Times New Roman" panose="02020603050405020304" pitchFamily="18" charset="0"/>
                <a:cs typeface="Times New Roman" panose="02020603050405020304" pitchFamily="18" charset="0"/>
              </a:rPr>
              <a:t>Module 2: User Intent &amp; Guest Analyzer</a:t>
            </a:r>
          </a:p>
        </p:txBody>
      </p:sp>
      <p:sp>
        <p:nvSpPr>
          <p:cNvPr id="3" name="Content Placeholder 2">
            <a:extLst>
              <a:ext uri="{FF2B5EF4-FFF2-40B4-BE49-F238E27FC236}">
                <a16:creationId xmlns:a16="http://schemas.microsoft.com/office/drawing/2014/main" id="{DC5F422C-061E-9C7C-2D63-0133F17F8112}"/>
              </a:ext>
            </a:extLst>
          </p:cNvPr>
          <p:cNvSpPr txBox="1">
            <a:spLocks/>
          </p:cNvSpPr>
          <p:nvPr/>
        </p:nvSpPr>
        <p:spPr>
          <a:xfrm>
            <a:off x="355600" y="2793155"/>
            <a:ext cx="155448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endParaRPr lang="en-US" sz="3000" b="1" dirty="0">
              <a:solidFill>
                <a:schemeClr val="tx1">
                  <a:lumMod val="95000"/>
                  <a:lumOff val="5000"/>
                </a:schemeClr>
              </a:solidFill>
              <a:highlight>
                <a:srgbClr val="FFFF00"/>
              </a:highligh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r>
              <a:rPr lang="en-US" sz="3000" dirty="0">
                <a:solidFill>
                  <a:schemeClr val="tx1">
                    <a:lumMod val="95000"/>
                    <a:lumOff val="5000"/>
                  </a:schemeClr>
                </a:solidFill>
                <a:latin typeface="Times New Roman" panose="02020603050405020304" pitchFamily="18" charset="0"/>
                <a:cs typeface="Times New Roman" panose="02020603050405020304" pitchFamily="18" charset="0"/>
              </a:rPr>
              <a:t>  </a:t>
            </a:r>
          </a:p>
        </p:txBody>
      </p:sp>
      <p:sp>
        <p:nvSpPr>
          <p:cNvPr id="12" name="Rectangle 11">
            <a:extLst>
              <a:ext uri="{FF2B5EF4-FFF2-40B4-BE49-F238E27FC236}">
                <a16:creationId xmlns:a16="http://schemas.microsoft.com/office/drawing/2014/main" id="{D4097DBC-1E42-1B0D-DBA9-6D7E87559C61}"/>
              </a:ext>
            </a:extLst>
          </p:cNvPr>
          <p:cNvSpPr/>
          <p:nvPr/>
        </p:nvSpPr>
        <p:spPr>
          <a:xfrm>
            <a:off x="2108200" y="1839048"/>
            <a:ext cx="12344400" cy="461665"/>
          </a:xfrm>
          <a:prstGeom prst="rect">
            <a:avLst/>
          </a:prstGeom>
        </p:spPr>
        <p:txBody>
          <a:bodyPr wrap="square">
            <a:spAutoFit/>
          </a:bodyPr>
          <a:lstStyle/>
          <a:p>
            <a:pPr algn="ctr"/>
            <a:r>
              <a:rPr lang="en-GB" sz="2400" b="1" u="sng" dirty="0">
                <a:latin typeface="Times New Roman" panose="02020603050405020304" pitchFamily="18" charset="0"/>
                <a:cs typeface="Times New Roman" panose="02020603050405020304" pitchFamily="18" charset="0"/>
              </a:rPr>
              <a:t>Activity Diagram </a:t>
            </a:r>
            <a:r>
              <a:rPr lang="en-GB" sz="2400" b="1" u="sng" dirty="0" smtClean="0">
                <a:latin typeface="Times New Roman" panose="02020603050405020304" pitchFamily="18" charset="0"/>
                <a:cs typeface="Times New Roman" panose="02020603050405020304" pitchFamily="18" charset="0"/>
              </a:rPr>
              <a:t>For </a:t>
            </a:r>
            <a:r>
              <a:rPr lang="en-US" sz="2400" b="1" u="sng" dirty="0" smtClean="0">
                <a:latin typeface="Times New Roman" panose="02020603050405020304" pitchFamily="18" charset="0"/>
                <a:cs typeface="Times New Roman" panose="02020603050405020304" pitchFamily="18" charset="0"/>
              </a:rPr>
              <a:t>UC1 </a:t>
            </a:r>
            <a:r>
              <a:rPr lang="en-US" sz="2400" b="1" u="sng" dirty="0">
                <a:latin typeface="Times New Roman" panose="02020603050405020304" pitchFamily="18" charset="0"/>
                <a:cs typeface="Times New Roman" panose="02020603050405020304" pitchFamily="18" charset="0"/>
              </a:rPr>
              <a:t>Provide Podcast Niche and Topic:</a:t>
            </a:r>
          </a:p>
        </p:txBody>
      </p:sp>
      <p:pic>
        <p:nvPicPr>
          <p:cNvPr id="10" name="Picture 9">
            <a:extLst>
              <a:ext uri="{FF2B5EF4-FFF2-40B4-BE49-F238E27FC236}">
                <a16:creationId xmlns:a16="http://schemas.microsoft.com/office/drawing/2014/main" id="{842C5682-91F3-C2F6-58B1-B436509F13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028" y="213788"/>
            <a:ext cx="1409504" cy="1409504"/>
          </a:xfrm>
          <a:prstGeom prst="rect">
            <a:avLst/>
          </a:prstGeom>
        </p:spPr>
      </p:pic>
      <p:pic>
        <p:nvPicPr>
          <p:cNvPr id="4" name="Picture 3">
            <a:extLst>
              <a:ext uri="{FF2B5EF4-FFF2-40B4-BE49-F238E27FC236}">
                <a16:creationId xmlns:a16="http://schemas.microsoft.com/office/drawing/2014/main" id="{6F5E22AB-1870-F496-09D4-1514D1816C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9993" y="2350186"/>
            <a:ext cx="8153400" cy="6464300"/>
          </a:xfrm>
          <a:prstGeom prst="rect">
            <a:avLst/>
          </a:prstGeom>
        </p:spPr>
      </p:pic>
    </p:spTree>
    <p:extLst>
      <p:ext uri="{BB962C8B-B14F-4D97-AF65-F5344CB8AC3E}">
        <p14:creationId xmlns:p14="http://schemas.microsoft.com/office/powerpoint/2010/main" val="11027529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C59D9-D796-50DA-A38E-9E799318D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5D1B5-5AB1-BCC2-0BFA-5A965CB953B7}"/>
              </a:ext>
            </a:extLst>
          </p:cNvPr>
          <p:cNvSpPr>
            <a:spLocks noGrp="1"/>
          </p:cNvSpPr>
          <p:nvPr>
            <p:ph type="ctrTitle"/>
          </p:nvPr>
        </p:nvSpPr>
        <p:spPr/>
        <p:txBody>
          <a:bodyPr/>
          <a:lstStyle/>
          <a:p>
            <a:r>
              <a:rPr lang="en-GB" b="1" u="sng" dirty="0">
                <a:latin typeface="Times New Roman" panose="02020603050405020304" pitchFamily="18" charset="0"/>
                <a:cs typeface="Times New Roman" panose="02020603050405020304" pitchFamily="18" charset="0"/>
              </a:rPr>
              <a:t>Module 3: Topic Research Agent</a:t>
            </a:r>
            <a:endParaRPr lang="en-US" u="sng"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55691FB-2D39-D7AC-F3B8-DDFA12A0850F}"/>
              </a:ext>
            </a:extLst>
          </p:cNvPr>
          <p:cNvSpPr>
            <a:spLocks noGrp="1"/>
          </p:cNvSpPr>
          <p:nvPr>
            <p:ph type="sldNum" sz="quarter" idx="12"/>
          </p:nvPr>
        </p:nvSpPr>
        <p:spPr/>
        <p:txBody>
          <a:bodyPr/>
          <a:lstStyle/>
          <a:p>
            <a:fld id="{A8EF9831-35B4-4843-9AA9-F06FC1EDDB89}" type="slidenum">
              <a:rPr lang="en-US" smtClean="0">
                <a:solidFill>
                  <a:prstClr val="white"/>
                </a:solidFill>
              </a:rPr>
              <a:pPr/>
              <a:t>53</a:t>
            </a:fld>
            <a:endParaRPr lang="en-US" dirty="0">
              <a:solidFill>
                <a:prstClr val="white"/>
              </a:solidFill>
            </a:endParaRPr>
          </a:p>
        </p:txBody>
      </p:sp>
      <p:sp>
        <p:nvSpPr>
          <p:cNvPr id="5" name="Rectangle 4">
            <a:extLst>
              <a:ext uri="{FF2B5EF4-FFF2-40B4-BE49-F238E27FC236}">
                <a16:creationId xmlns:a16="http://schemas.microsoft.com/office/drawing/2014/main" id="{BD4EF1F4-4323-3E0C-8031-8BC6BF258C2A}"/>
              </a:ext>
            </a:extLst>
          </p:cNvPr>
          <p:cNvSpPr/>
          <p:nvPr/>
        </p:nvSpPr>
        <p:spPr>
          <a:xfrm>
            <a:off x="4258596" y="1905000"/>
            <a:ext cx="6073201" cy="738664"/>
          </a:xfrm>
          <a:prstGeom prst="rect">
            <a:avLst/>
          </a:prstGeom>
        </p:spPr>
        <p:txBody>
          <a:bodyPr wrap="none">
            <a:spAutoFit/>
          </a:bodyPr>
          <a:lstStyle/>
          <a:p>
            <a:r>
              <a:rPr lang="en-GB" b="1" u="sng" dirty="0">
                <a:latin typeface="Times New Roman" panose="02020603050405020304" pitchFamily="18" charset="0"/>
                <a:cs typeface="Times New Roman" panose="02020603050405020304" pitchFamily="18" charset="0"/>
              </a:rPr>
              <a:t>Activity Diagram </a:t>
            </a:r>
            <a:r>
              <a:rPr lang="en-GB" b="1" u="sng" dirty="0" smtClean="0">
                <a:latin typeface="Times New Roman" panose="02020603050405020304" pitchFamily="18" charset="0"/>
                <a:cs typeface="Times New Roman" panose="02020603050405020304" pitchFamily="18" charset="0"/>
              </a:rPr>
              <a:t>For </a:t>
            </a:r>
            <a:r>
              <a:rPr lang="en-US" b="1" u="sng" dirty="0" smtClean="0">
                <a:latin typeface="Times New Roman" panose="02020603050405020304" pitchFamily="18" charset="0"/>
                <a:cs typeface="Times New Roman" panose="02020603050405020304" pitchFamily="18" charset="0"/>
              </a:rPr>
              <a:t>UC1 </a:t>
            </a:r>
            <a:r>
              <a:rPr lang="en-US" b="1" u="sng" dirty="0">
                <a:latin typeface="Times New Roman" panose="02020603050405020304" pitchFamily="18" charset="0"/>
                <a:cs typeface="Times New Roman" panose="02020603050405020304" pitchFamily="18" charset="0"/>
              </a:rPr>
              <a:t>Initiate Topic Research:</a:t>
            </a:r>
          </a:p>
          <a:p>
            <a:endParaRPr lang="en-US" u="sng"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1BB8756-A223-3228-4222-A17E91BA59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8596" y="2429372"/>
            <a:ext cx="7543799" cy="6362134"/>
          </a:xfrm>
          <a:prstGeom prst="rect">
            <a:avLst/>
          </a:prstGeom>
        </p:spPr>
      </p:pic>
    </p:spTree>
    <p:extLst>
      <p:ext uri="{BB962C8B-B14F-4D97-AF65-F5344CB8AC3E}">
        <p14:creationId xmlns:p14="http://schemas.microsoft.com/office/powerpoint/2010/main" val="25977697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72FF3-E5EC-E7F5-6A85-C3934DCF8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E3028-10FB-602A-74E2-9C1D107DD02B}"/>
              </a:ext>
            </a:extLst>
          </p:cNvPr>
          <p:cNvSpPr>
            <a:spLocks noGrp="1"/>
          </p:cNvSpPr>
          <p:nvPr>
            <p:ph type="ctrTitle"/>
          </p:nvPr>
        </p:nvSpPr>
        <p:spPr/>
        <p:txBody>
          <a:bodyPr/>
          <a:lstStyle/>
          <a:p>
            <a:r>
              <a:rPr lang="it-IT" b="1" u="sng" dirty="0">
                <a:latin typeface="Times New Roman" panose="02020603050405020304" pitchFamily="18" charset="0"/>
                <a:cs typeface="Times New Roman" panose="02020603050405020304" pitchFamily="18" charset="0"/>
              </a:rPr>
              <a:t>Module 4: Question &amp; Timestamp Generator</a:t>
            </a:r>
            <a:endParaRPr lang="en-US" u="sng"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9855E86-A5A4-51F0-A0A6-5E3E8115FD30}"/>
              </a:ext>
            </a:extLst>
          </p:cNvPr>
          <p:cNvSpPr>
            <a:spLocks noGrp="1"/>
          </p:cNvSpPr>
          <p:nvPr>
            <p:ph type="sldNum" sz="quarter" idx="12"/>
          </p:nvPr>
        </p:nvSpPr>
        <p:spPr/>
        <p:txBody>
          <a:bodyPr/>
          <a:lstStyle/>
          <a:p>
            <a:fld id="{A8EF9831-35B4-4843-9AA9-F06FC1EDDB89}" type="slidenum">
              <a:rPr lang="en-US" smtClean="0">
                <a:solidFill>
                  <a:prstClr val="white"/>
                </a:solidFill>
              </a:rPr>
              <a:pPr/>
              <a:t>54</a:t>
            </a:fld>
            <a:endParaRPr lang="en-US" dirty="0">
              <a:solidFill>
                <a:prstClr val="white"/>
              </a:solidFill>
            </a:endParaRPr>
          </a:p>
        </p:txBody>
      </p:sp>
      <p:sp>
        <p:nvSpPr>
          <p:cNvPr id="5" name="Rectangle 4">
            <a:extLst>
              <a:ext uri="{FF2B5EF4-FFF2-40B4-BE49-F238E27FC236}">
                <a16:creationId xmlns:a16="http://schemas.microsoft.com/office/drawing/2014/main" id="{54E46875-FF36-FEA2-E646-46AE15A9208C}"/>
              </a:ext>
            </a:extLst>
          </p:cNvPr>
          <p:cNvSpPr/>
          <p:nvPr/>
        </p:nvSpPr>
        <p:spPr>
          <a:xfrm>
            <a:off x="3784600" y="1981200"/>
            <a:ext cx="9677400" cy="1046440"/>
          </a:xfrm>
          <a:prstGeom prst="rect">
            <a:avLst/>
          </a:prstGeom>
        </p:spPr>
        <p:txBody>
          <a:bodyPr wrap="square">
            <a:spAutoFit/>
          </a:bodyPr>
          <a:lstStyle/>
          <a:p>
            <a:r>
              <a:rPr lang="en-US" b="1" u="sng" dirty="0">
                <a:solidFill>
                  <a:srgbClr val="0F1115"/>
                </a:solidFill>
                <a:latin typeface="Times New Roman" panose="02020603050405020304" pitchFamily="18" charset="0"/>
                <a:cs typeface="Times New Roman" panose="02020603050405020304" pitchFamily="18" charset="0"/>
              </a:rPr>
              <a:t>Activity Diagram For </a:t>
            </a:r>
            <a:r>
              <a:rPr lang="en-US" b="1" u="sng" dirty="0">
                <a:latin typeface="Times New Roman" panose="02020603050405020304" pitchFamily="18" charset="0"/>
                <a:cs typeface="Times New Roman" panose="02020603050405020304" pitchFamily="18" charset="0"/>
              </a:rPr>
              <a:t>UC1 Generate Episode Questions</a:t>
            </a:r>
          </a:p>
          <a:p>
            <a:endParaRPr lang="en-US" sz="2000" u="sng" dirty="0">
              <a:latin typeface="Times New Roman" panose="02020603050405020304" pitchFamily="18" charset="0"/>
              <a:cs typeface="Times New Roman" panose="02020603050405020304" pitchFamily="18" charset="0"/>
            </a:endParaRPr>
          </a:p>
          <a:p>
            <a:endParaRPr lang="en-US" u="sng"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DBBCFD4-1072-2A7D-CF7F-03DCBD6693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8000" y="2472898"/>
            <a:ext cx="7505699" cy="6556133"/>
          </a:xfrm>
          <a:prstGeom prst="rect">
            <a:avLst/>
          </a:prstGeom>
        </p:spPr>
      </p:pic>
    </p:spTree>
    <p:extLst>
      <p:ext uri="{BB962C8B-B14F-4D97-AF65-F5344CB8AC3E}">
        <p14:creationId xmlns:p14="http://schemas.microsoft.com/office/powerpoint/2010/main" val="39119596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it-IT" b="1" u="sng" dirty="0">
                <a:latin typeface="Times New Roman" panose="02020603050405020304" pitchFamily="18" charset="0"/>
                <a:cs typeface="Times New Roman" panose="02020603050405020304" pitchFamily="18" charset="0"/>
              </a:rPr>
              <a:t>Module 5</a:t>
            </a:r>
            <a:r>
              <a:rPr lang="it-IT" b="1" u="sng" dirty="0" smtClean="0">
                <a:latin typeface="Times New Roman" panose="02020603050405020304" pitchFamily="18" charset="0"/>
                <a:cs typeface="Times New Roman" panose="02020603050405020304" pitchFamily="18" charset="0"/>
              </a:rPr>
              <a:t>: Hook and Intro Suggestion Agent</a:t>
            </a:r>
            <a:endParaRPr lang="en-US" dirty="0"/>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55</a:t>
            </a:fld>
            <a:endParaRPr lang="en-US" dirty="0">
              <a:solidFill>
                <a:prstClr val="white"/>
              </a:solidFill>
            </a:endParaRPr>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6223000" y="2636451"/>
            <a:ext cx="3251835" cy="6155055"/>
          </a:xfrm>
          <a:prstGeom prst="rect">
            <a:avLst/>
          </a:prstGeom>
        </p:spPr>
      </p:pic>
      <p:sp>
        <p:nvSpPr>
          <p:cNvPr id="6" name="Rectangle 5"/>
          <p:cNvSpPr/>
          <p:nvPr/>
        </p:nvSpPr>
        <p:spPr>
          <a:xfrm>
            <a:off x="4622800" y="1998570"/>
            <a:ext cx="8915083" cy="738664"/>
          </a:xfrm>
          <a:prstGeom prst="rect">
            <a:avLst/>
          </a:prstGeom>
        </p:spPr>
        <p:txBody>
          <a:bodyPr wrap="square">
            <a:spAutoFit/>
          </a:bodyPr>
          <a:lstStyle/>
          <a:p>
            <a:r>
              <a:rPr lang="en-US" b="1" u="sng" dirty="0">
                <a:solidFill>
                  <a:srgbClr val="0F1115"/>
                </a:solidFill>
                <a:latin typeface="Times New Roman" panose="02020603050405020304" pitchFamily="18" charset="0"/>
                <a:cs typeface="Times New Roman" panose="02020603050405020304" pitchFamily="18" charset="0"/>
              </a:rPr>
              <a:t>Activity Diagram For </a:t>
            </a:r>
            <a:r>
              <a:rPr lang="en-US" b="1" u="sng" dirty="0">
                <a:latin typeface="Times New Roman" panose="02020603050405020304" pitchFamily="18" charset="0"/>
                <a:cs typeface="Times New Roman" panose="02020603050405020304" pitchFamily="18" charset="0"/>
              </a:rPr>
              <a:t>UC1 Generate Multiple Hook Variants:</a:t>
            </a:r>
          </a:p>
          <a:p>
            <a:endParaRPr lang="en-US"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70823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it-IT" b="1" u="sng" dirty="0">
                <a:latin typeface="Times New Roman" panose="02020603050405020304" pitchFamily="18" charset="0"/>
                <a:cs typeface="Times New Roman" panose="02020603050405020304" pitchFamily="18" charset="0"/>
              </a:rPr>
              <a:t>Module 6:</a:t>
            </a:r>
            <a:r>
              <a:rPr lang="en-US" sz="5400" b="1" u="sng" dirty="0">
                <a:latin typeface="Times New Roman" panose="02020603050405020304" pitchFamily="18" charset="0"/>
                <a:ea typeface="Calibri" pitchFamily="34" charset="-122"/>
                <a:cs typeface="Times New Roman" panose="02020603050405020304" pitchFamily="18" charset="0"/>
              </a:rPr>
              <a:t> Episode Outline Planner </a:t>
            </a:r>
            <a:endParaRPr lang="en-US" dirty="0"/>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56</a:t>
            </a:fld>
            <a:endParaRPr lang="en-US" dirty="0">
              <a:solidFill>
                <a:prstClr val="white"/>
              </a:solidFill>
            </a:endParaRPr>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5308600" y="2895600"/>
            <a:ext cx="5638800" cy="6019800"/>
          </a:xfrm>
          <a:prstGeom prst="rect">
            <a:avLst/>
          </a:prstGeom>
        </p:spPr>
      </p:pic>
      <p:sp>
        <p:nvSpPr>
          <p:cNvPr id="6" name="Rectangle 5"/>
          <p:cNvSpPr/>
          <p:nvPr/>
        </p:nvSpPr>
        <p:spPr>
          <a:xfrm>
            <a:off x="4089400" y="2286000"/>
            <a:ext cx="7876708" cy="461665"/>
          </a:xfrm>
          <a:prstGeom prst="rect">
            <a:avLst/>
          </a:prstGeom>
        </p:spPr>
        <p:txBody>
          <a:bodyPr wrap="none">
            <a:spAutoFit/>
          </a:bodyPr>
          <a:lstStyle/>
          <a:p>
            <a:r>
              <a:rPr lang="en-US" sz="2400" b="1" u="sng" dirty="0" smtClean="0">
                <a:latin typeface="Times New Roman" panose="02020603050405020304" pitchFamily="18" charset="0"/>
                <a:ea typeface="Times New Roman" panose="02020603050405020304" pitchFamily="18" charset="0"/>
              </a:rPr>
              <a:t>Activity Diagram For UC1 </a:t>
            </a:r>
            <a:r>
              <a:rPr lang="en-US" sz="2400" b="1" u="sng" dirty="0">
                <a:latin typeface="Times New Roman" panose="02020603050405020304" pitchFamily="18" charset="0"/>
                <a:ea typeface="Times New Roman" panose="02020603050405020304" pitchFamily="18" charset="0"/>
              </a:rPr>
              <a:t>Generate Full Episode Outline:</a:t>
            </a:r>
            <a:endParaRPr lang="en-US" b="1" u="sng" dirty="0"/>
          </a:p>
        </p:txBody>
      </p:sp>
    </p:spTree>
    <p:extLst>
      <p:ext uri="{BB962C8B-B14F-4D97-AF65-F5344CB8AC3E}">
        <p14:creationId xmlns:p14="http://schemas.microsoft.com/office/powerpoint/2010/main" val="33689341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Class </a:t>
            </a:r>
            <a:r>
              <a:rPr lang="en-US" sz="4500" b="1" u="sng" dirty="0" smtClean="0">
                <a:latin typeface="Times New Roman" panose="02020603050405020304" pitchFamily="18" charset="0"/>
                <a:cs typeface="Times New Roman" panose="02020603050405020304" pitchFamily="18" charset="0"/>
              </a:rPr>
              <a:t>Diagram</a:t>
            </a: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endParaRPr lang="en-US" sz="4500" b="1" u="sng"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5461000" y="1981200"/>
            <a:ext cx="5638800" cy="6019800"/>
          </a:xfrm>
          <a:prstGeom prst="rect">
            <a:avLst/>
          </a:prstGeom>
        </p:spPr>
      </p:pic>
      <p:sp>
        <p:nvSpPr>
          <p:cNvPr id="5" name="Rectangle 4"/>
          <p:cNvSpPr/>
          <p:nvPr/>
        </p:nvSpPr>
        <p:spPr>
          <a:xfrm>
            <a:off x="5156200" y="8153400"/>
            <a:ext cx="7264400" cy="738664"/>
          </a:xfrm>
          <a:prstGeom prst="rect">
            <a:avLst/>
          </a:prstGeom>
        </p:spPr>
        <p:txBody>
          <a:bodyPr wrap="square">
            <a:spAutoFit/>
          </a:bodyPr>
          <a:lstStyle/>
          <a:p>
            <a:r>
              <a:rPr lang="en-GB" b="1" u="sng" dirty="0">
                <a:solidFill>
                  <a:srgbClr val="0F1115"/>
                </a:solidFill>
                <a:latin typeface="Times New Roman" panose="02020603050405020304" pitchFamily="18" charset="0"/>
                <a:cs typeface="Times New Roman" panose="02020603050405020304" pitchFamily="18" charset="0"/>
              </a:rPr>
              <a:t>Class Diagram – </a:t>
            </a:r>
            <a:r>
              <a:rPr lang="en-GB" b="1" u="sng" dirty="0" err="1">
                <a:solidFill>
                  <a:srgbClr val="0F1115"/>
                </a:solidFill>
                <a:latin typeface="Times New Roman" panose="02020603050405020304" pitchFamily="18" charset="0"/>
                <a:cs typeface="Times New Roman" panose="02020603050405020304" pitchFamily="18" charset="0"/>
              </a:rPr>
              <a:t>PodCraft</a:t>
            </a:r>
            <a:r>
              <a:rPr lang="en-GB" b="1" u="sng" dirty="0">
                <a:solidFill>
                  <a:srgbClr val="0F1115"/>
                </a:solidFill>
                <a:latin typeface="Times New Roman" panose="02020603050405020304" pitchFamily="18" charset="0"/>
                <a:cs typeface="Times New Roman" panose="02020603050405020304" pitchFamily="18" charset="0"/>
              </a:rPr>
              <a:t> Agentic AI Podcast Planning System (MVC Architecture)</a:t>
            </a:r>
            <a:endParaRPr lang="en-US"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70009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3500" b="1" u="sng" dirty="0">
                <a:latin typeface="Times New Roman" panose="02020603050405020304" pitchFamily="18" charset="0"/>
                <a:cs typeface="Times New Roman" panose="02020603050405020304" pitchFamily="18" charset="0"/>
              </a:rPr>
              <a:t>Sequence Diagrams of </a:t>
            </a:r>
            <a:r>
              <a:rPr lang="en-US" sz="3500" b="1" u="sng" dirty="0" err="1">
                <a:latin typeface="Times New Roman" panose="02020603050405020304" pitchFamily="18" charset="0"/>
                <a:cs typeface="Times New Roman" panose="02020603050405020304" pitchFamily="18" charset="0"/>
              </a:rPr>
              <a:t>Podcraft</a:t>
            </a:r>
            <a:r>
              <a:rPr lang="en-US" sz="3500" b="1" u="sng" dirty="0">
                <a:latin typeface="Times New Roman" panose="02020603050405020304" pitchFamily="18" charset="0"/>
                <a:cs typeface="Times New Roman" panose="02020603050405020304" pitchFamily="18" charset="0"/>
              </a:rPr>
              <a:t/>
            </a:r>
            <a:br>
              <a:rPr lang="en-US" sz="3500" b="1" u="sng" dirty="0">
                <a:latin typeface="Times New Roman" panose="02020603050405020304" pitchFamily="18" charset="0"/>
                <a:cs typeface="Times New Roman" panose="02020603050405020304" pitchFamily="18" charset="0"/>
              </a:rPr>
            </a:br>
            <a:r>
              <a:rPr lang="en-US" sz="3500" b="1" u="sng" dirty="0">
                <a:latin typeface="Times New Roman" panose="02020603050405020304" pitchFamily="18" charset="0"/>
                <a:cs typeface="Times New Roman" panose="02020603050405020304" pitchFamily="18" charset="0"/>
              </a:rPr>
              <a:t>Module 1: User Authentication &amp; Profile Management</a:t>
            </a:r>
          </a:p>
        </p:txBody>
      </p:sp>
      <p:sp>
        <p:nvSpPr>
          <p:cNvPr id="3" name="Content Placeholder 2"/>
          <p:cNvSpPr txBox="1">
            <a:spLocks/>
          </p:cNvSpPr>
          <p:nvPr/>
        </p:nvSpPr>
        <p:spPr>
          <a:xfrm>
            <a:off x="355600" y="2043509"/>
            <a:ext cx="155448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endParaRPr lang="en-US" sz="3000" b="1" dirty="0">
              <a:solidFill>
                <a:schemeClr val="tx1">
                  <a:lumMod val="95000"/>
                  <a:lumOff val="5000"/>
                </a:schemeClr>
              </a:solidFill>
              <a:highlight>
                <a:srgbClr val="FFFF00"/>
              </a:highligh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r>
              <a:rPr lang="en-US" sz="3000" dirty="0">
                <a:solidFill>
                  <a:schemeClr val="tx1">
                    <a:lumMod val="95000"/>
                    <a:lumOff val="5000"/>
                  </a:schemeClr>
                </a:solidFill>
                <a:latin typeface="Times New Roman" panose="02020603050405020304" pitchFamily="18" charset="0"/>
                <a:cs typeface="Times New Roman" panose="02020603050405020304" pitchFamily="18" charset="0"/>
              </a:rPr>
              <a:t>  </a:t>
            </a:r>
          </a:p>
        </p:txBody>
      </p:sp>
      <p:sp>
        <p:nvSpPr>
          <p:cNvPr id="9" name="Rectangle 8">
            <a:extLst>
              <a:ext uri="{FF2B5EF4-FFF2-40B4-BE49-F238E27FC236}">
                <a16:creationId xmlns:a16="http://schemas.microsoft.com/office/drawing/2014/main" id="{A8E15270-EB96-4AA6-B039-A067258246CB}"/>
              </a:ext>
            </a:extLst>
          </p:cNvPr>
          <p:cNvSpPr/>
          <p:nvPr/>
        </p:nvSpPr>
        <p:spPr>
          <a:xfrm>
            <a:off x="4013200" y="2043509"/>
            <a:ext cx="8185411" cy="415498"/>
          </a:xfrm>
          <a:prstGeom prst="rect">
            <a:avLst/>
          </a:prstGeom>
        </p:spPr>
        <p:txBody>
          <a:bodyPr wrap="square">
            <a:spAutoFit/>
          </a:bodyPr>
          <a:lstStyle/>
          <a:p>
            <a:pPr algn="ctr"/>
            <a:r>
              <a:rPr lang="en-US" b="1" u="sng" dirty="0">
                <a:latin typeface="Times New Roman" panose="02020603050405020304" pitchFamily="18" charset="0"/>
                <a:cs typeface="Times New Roman" panose="02020603050405020304" pitchFamily="18" charset="0"/>
              </a:rPr>
              <a:t>Sequence Diagram </a:t>
            </a:r>
            <a:r>
              <a:rPr lang="en-US" b="1" u="sng" dirty="0" smtClean="0">
                <a:latin typeface="Times New Roman" panose="02020603050405020304" pitchFamily="18" charset="0"/>
                <a:cs typeface="Times New Roman" panose="02020603050405020304" pitchFamily="18" charset="0"/>
              </a:rPr>
              <a:t>For UC1 </a:t>
            </a:r>
            <a:r>
              <a:rPr lang="en-US" b="1" u="sng" dirty="0">
                <a:latin typeface="Times New Roman" panose="02020603050405020304" pitchFamily="18" charset="0"/>
                <a:cs typeface="Times New Roman" panose="02020603050405020304" pitchFamily="18" charset="0"/>
              </a:rPr>
              <a:t>User </a:t>
            </a:r>
            <a:r>
              <a:rPr lang="en-US" b="1" u="sng" dirty="0" smtClean="0">
                <a:latin typeface="Times New Roman" panose="02020603050405020304" pitchFamily="18" charset="0"/>
                <a:cs typeface="Times New Roman" panose="02020603050405020304" pitchFamily="18" charset="0"/>
              </a:rPr>
              <a:t>Registration</a:t>
            </a:r>
            <a:endParaRPr lang="en-US" sz="2400" b="1" u="sng"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028" y="213788"/>
            <a:ext cx="1409504" cy="1409504"/>
          </a:xfrm>
          <a:prstGeom prst="rect">
            <a:avLst/>
          </a:prstGeom>
        </p:spPr>
      </p:pic>
      <p:pic>
        <p:nvPicPr>
          <p:cNvPr id="11" name="Picture 10"/>
          <p:cNvPicPr/>
          <p:nvPr/>
        </p:nvPicPr>
        <p:blipFill>
          <a:blip r:embed="rId3">
            <a:extLst>
              <a:ext uri="{28A0092B-C50C-407E-A947-70E740481C1C}">
                <a14:useLocalDpi xmlns:a14="http://schemas.microsoft.com/office/drawing/2010/main" val="0"/>
              </a:ext>
            </a:extLst>
          </a:blip>
          <a:stretch>
            <a:fillRect/>
          </a:stretch>
        </p:blipFill>
        <p:spPr>
          <a:xfrm>
            <a:off x="3708400" y="2609459"/>
            <a:ext cx="9372600" cy="6301421"/>
          </a:xfrm>
          <a:prstGeom prst="rect">
            <a:avLst/>
          </a:prstGeom>
        </p:spPr>
      </p:pic>
    </p:spTree>
    <p:extLst>
      <p:ext uri="{BB962C8B-B14F-4D97-AF65-F5344CB8AC3E}">
        <p14:creationId xmlns:p14="http://schemas.microsoft.com/office/powerpoint/2010/main" val="26996806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u="sng" dirty="0">
                <a:latin typeface="Times New Roman" panose="02020603050405020304" pitchFamily="18" charset="0"/>
                <a:cs typeface="Times New Roman" panose="02020603050405020304" pitchFamily="18" charset="0"/>
              </a:rPr>
              <a:t>Module 2: User Intent &amp; Guest Analyzer</a:t>
            </a:r>
            <a:endParaRPr lang="en-US" u="sng"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59</a:t>
            </a:fld>
            <a:endParaRPr lang="en-US" dirty="0">
              <a:solidFill>
                <a:prstClr val="white"/>
              </a:solidFill>
            </a:endParaRPr>
          </a:p>
        </p:txBody>
      </p:sp>
      <p:sp>
        <p:nvSpPr>
          <p:cNvPr id="5" name="Rectangle 4"/>
          <p:cNvSpPr/>
          <p:nvPr/>
        </p:nvSpPr>
        <p:spPr>
          <a:xfrm>
            <a:off x="4796829" y="1905000"/>
            <a:ext cx="7358809" cy="415498"/>
          </a:xfrm>
          <a:prstGeom prst="rect">
            <a:avLst/>
          </a:prstGeom>
        </p:spPr>
        <p:txBody>
          <a:bodyPr wrap="none">
            <a:spAutoFit/>
          </a:bodyPr>
          <a:lstStyle/>
          <a:p>
            <a:pPr algn="ctr"/>
            <a:r>
              <a:rPr lang="en-GB" b="1" u="sng" dirty="0">
                <a:latin typeface="Times New Roman" panose="02020603050405020304" pitchFamily="18" charset="0"/>
                <a:cs typeface="Times New Roman" panose="02020603050405020304" pitchFamily="18" charset="0"/>
              </a:rPr>
              <a:t>Sequence Diagram For </a:t>
            </a:r>
            <a:r>
              <a:rPr lang="en-US" b="1" u="sng" dirty="0">
                <a:latin typeface="Times New Roman" panose="02020603050405020304" pitchFamily="18" charset="0"/>
                <a:cs typeface="Times New Roman" panose="02020603050405020304" pitchFamily="18" charset="0"/>
              </a:rPr>
              <a:t>UC1 Provide Podcast Niche and Topic:</a:t>
            </a:r>
            <a:endParaRPr lang="en-US" sz="2400" b="1" u="sng"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4318000" y="2438400"/>
            <a:ext cx="8153400" cy="6477000"/>
          </a:xfrm>
          <a:prstGeom prst="rect">
            <a:avLst/>
          </a:prstGeom>
        </p:spPr>
      </p:pic>
    </p:spTree>
    <p:extLst>
      <p:ext uri="{BB962C8B-B14F-4D97-AF65-F5344CB8AC3E}">
        <p14:creationId xmlns:p14="http://schemas.microsoft.com/office/powerpoint/2010/main" val="26765620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u="sng" dirty="0">
                <a:latin typeface="Times New Roman" panose="02020603050405020304" pitchFamily="18" charset="0"/>
                <a:cs typeface="Times New Roman" panose="02020603050405020304" pitchFamily="18" charset="0"/>
              </a:rPr>
              <a:t>Module 3: Topic Research Agent</a:t>
            </a:r>
            <a:endParaRPr lang="en-US" u="sng"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60</a:t>
            </a:fld>
            <a:endParaRPr lang="en-US" dirty="0">
              <a:solidFill>
                <a:prstClr val="white"/>
              </a:solidFill>
            </a:endParaRPr>
          </a:p>
        </p:txBody>
      </p:sp>
      <p:sp>
        <p:nvSpPr>
          <p:cNvPr id="5" name="Rectangle 4"/>
          <p:cNvSpPr/>
          <p:nvPr/>
        </p:nvSpPr>
        <p:spPr>
          <a:xfrm>
            <a:off x="5003800" y="1946702"/>
            <a:ext cx="6236707" cy="415498"/>
          </a:xfrm>
          <a:prstGeom prst="rect">
            <a:avLst/>
          </a:prstGeom>
        </p:spPr>
        <p:txBody>
          <a:bodyPr wrap="none">
            <a:spAutoFit/>
          </a:bodyPr>
          <a:lstStyle/>
          <a:p>
            <a:r>
              <a:rPr lang="en-GB" b="1" u="sng" dirty="0">
                <a:latin typeface="Times New Roman" panose="02020603050405020304" pitchFamily="18" charset="0"/>
                <a:cs typeface="Times New Roman" panose="02020603050405020304" pitchFamily="18" charset="0"/>
              </a:rPr>
              <a:t>Sequence Diagram </a:t>
            </a:r>
            <a:r>
              <a:rPr lang="en-GB" b="1" u="sng" dirty="0" smtClean="0">
                <a:latin typeface="Times New Roman" panose="02020603050405020304" pitchFamily="18" charset="0"/>
                <a:cs typeface="Times New Roman" panose="02020603050405020304" pitchFamily="18" charset="0"/>
              </a:rPr>
              <a:t>For </a:t>
            </a:r>
            <a:r>
              <a:rPr lang="en-US" b="1" u="sng" dirty="0">
                <a:latin typeface="Times New Roman" panose="02020603050405020304" pitchFamily="18" charset="0"/>
                <a:cs typeface="Times New Roman" panose="02020603050405020304" pitchFamily="18" charset="0"/>
              </a:rPr>
              <a:t>UC1 Initiate Topic </a:t>
            </a:r>
            <a:r>
              <a:rPr lang="en-US" b="1" u="sng" dirty="0" smtClean="0">
                <a:latin typeface="Times New Roman" panose="02020603050405020304" pitchFamily="18" charset="0"/>
                <a:cs typeface="Times New Roman" panose="02020603050405020304" pitchFamily="18" charset="0"/>
              </a:rPr>
              <a:t>Research</a:t>
            </a:r>
            <a:endParaRPr lang="en-US" b="1" u="sng"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4089399" y="2320499"/>
            <a:ext cx="8496493" cy="6725008"/>
          </a:xfrm>
          <a:prstGeom prst="rect">
            <a:avLst/>
          </a:prstGeom>
        </p:spPr>
      </p:pic>
    </p:spTree>
    <p:extLst>
      <p:ext uri="{BB962C8B-B14F-4D97-AF65-F5344CB8AC3E}">
        <p14:creationId xmlns:p14="http://schemas.microsoft.com/office/powerpoint/2010/main" val="12917532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it-IT" b="1" u="sng" dirty="0">
                <a:latin typeface="Times New Roman" panose="02020603050405020304" pitchFamily="18" charset="0"/>
                <a:cs typeface="Times New Roman" panose="02020603050405020304" pitchFamily="18" charset="0"/>
              </a:rPr>
              <a:t>Module 4: Question &amp; Timestamp Generator</a:t>
            </a:r>
            <a:endParaRPr lang="en-US" u="sng"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61</a:t>
            </a:fld>
            <a:endParaRPr lang="en-US" dirty="0">
              <a:solidFill>
                <a:prstClr val="white"/>
              </a:solidFill>
            </a:endParaRPr>
          </a:p>
        </p:txBody>
      </p:sp>
      <p:sp>
        <p:nvSpPr>
          <p:cNvPr id="5" name="Rectangle 4"/>
          <p:cNvSpPr/>
          <p:nvPr/>
        </p:nvSpPr>
        <p:spPr>
          <a:xfrm>
            <a:off x="4699000" y="2133600"/>
            <a:ext cx="9067800" cy="415498"/>
          </a:xfrm>
          <a:prstGeom prst="rect">
            <a:avLst/>
          </a:prstGeom>
        </p:spPr>
        <p:txBody>
          <a:bodyPr wrap="square">
            <a:spAutoFit/>
          </a:bodyPr>
          <a:lstStyle/>
          <a:p>
            <a:r>
              <a:rPr lang="en-US" b="1" u="sng" dirty="0">
                <a:solidFill>
                  <a:srgbClr val="0F1115"/>
                </a:solidFill>
                <a:latin typeface="Times New Roman" panose="02020603050405020304" pitchFamily="18" charset="0"/>
                <a:cs typeface="Times New Roman" panose="02020603050405020304" pitchFamily="18" charset="0"/>
              </a:rPr>
              <a:t>Sequence Diagram </a:t>
            </a:r>
            <a:r>
              <a:rPr lang="en-US" b="1" u="sng" dirty="0" smtClean="0">
                <a:solidFill>
                  <a:srgbClr val="0F1115"/>
                </a:solidFill>
                <a:latin typeface="Times New Roman" panose="02020603050405020304" pitchFamily="18" charset="0"/>
                <a:cs typeface="Times New Roman" panose="02020603050405020304" pitchFamily="18" charset="0"/>
              </a:rPr>
              <a:t>For </a:t>
            </a:r>
            <a:r>
              <a:rPr lang="en-US" b="1" u="sng" dirty="0">
                <a:latin typeface="Times New Roman" panose="02020603050405020304" pitchFamily="18" charset="0"/>
                <a:cs typeface="Times New Roman" panose="02020603050405020304" pitchFamily="18" charset="0"/>
              </a:rPr>
              <a:t>UC1 Generate Episode Questions</a:t>
            </a:r>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4851400" y="2743200"/>
            <a:ext cx="7086600" cy="6172200"/>
          </a:xfrm>
          <a:prstGeom prst="rect">
            <a:avLst/>
          </a:prstGeom>
        </p:spPr>
      </p:pic>
    </p:spTree>
    <p:extLst>
      <p:ext uri="{BB962C8B-B14F-4D97-AF65-F5344CB8AC3E}">
        <p14:creationId xmlns:p14="http://schemas.microsoft.com/office/powerpoint/2010/main" val="39754821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it-IT" b="1" u="sng" dirty="0">
                <a:latin typeface="Times New Roman" panose="02020603050405020304" pitchFamily="18" charset="0"/>
                <a:cs typeface="Times New Roman" panose="02020603050405020304" pitchFamily="18" charset="0"/>
              </a:rPr>
              <a:t>Module 5: Hook and Intro </a:t>
            </a:r>
            <a:r>
              <a:rPr lang="it-IT" b="1" u="sng" dirty="0" smtClean="0">
                <a:latin typeface="Times New Roman" panose="02020603050405020304" pitchFamily="18" charset="0"/>
                <a:cs typeface="Times New Roman" panose="02020603050405020304" pitchFamily="18" charset="0"/>
              </a:rPr>
              <a:t>Suggestion Agent</a:t>
            </a:r>
            <a:endParaRPr lang="en-US" dirty="0"/>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62</a:t>
            </a:fld>
            <a:endParaRPr lang="en-US" dirty="0">
              <a:solidFill>
                <a:prstClr val="white"/>
              </a:solidFill>
            </a:endParaRPr>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3708400" y="2744933"/>
            <a:ext cx="9525000" cy="6019800"/>
          </a:xfrm>
          <a:prstGeom prst="rect">
            <a:avLst/>
          </a:prstGeom>
        </p:spPr>
      </p:pic>
      <p:sp>
        <p:nvSpPr>
          <p:cNvPr id="6" name="Rectangle 5"/>
          <p:cNvSpPr/>
          <p:nvPr/>
        </p:nvSpPr>
        <p:spPr>
          <a:xfrm>
            <a:off x="4240896" y="2133600"/>
            <a:ext cx="8460008" cy="461665"/>
          </a:xfrm>
          <a:prstGeom prst="rect">
            <a:avLst/>
          </a:prstGeom>
        </p:spPr>
        <p:txBody>
          <a:bodyPr wrap="none">
            <a:spAutoFit/>
          </a:bodyPr>
          <a:lstStyle/>
          <a:p>
            <a:r>
              <a:rPr lang="en-US" sz="2400" b="1" u="sng" dirty="0" smtClean="0">
                <a:latin typeface="Times New Roman" panose="02020603050405020304" pitchFamily="18" charset="0"/>
                <a:ea typeface="Times New Roman" panose="02020603050405020304" pitchFamily="18" charset="0"/>
              </a:rPr>
              <a:t>Sequence Diagram For UC1 </a:t>
            </a:r>
            <a:r>
              <a:rPr lang="en-US" sz="2400" b="1" u="sng" dirty="0">
                <a:latin typeface="Times New Roman" panose="02020603050405020304" pitchFamily="18" charset="0"/>
                <a:ea typeface="Times New Roman" panose="02020603050405020304" pitchFamily="18" charset="0"/>
              </a:rPr>
              <a:t>Generate Multiple Hook Variants:</a:t>
            </a:r>
            <a:endParaRPr lang="en-US" b="1" u="sng" dirty="0"/>
          </a:p>
        </p:txBody>
      </p:sp>
    </p:spTree>
    <p:extLst>
      <p:ext uri="{BB962C8B-B14F-4D97-AF65-F5344CB8AC3E}">
        <p14:creationId xmlns:p14="http://schemas.microsoft.com/office/powerpoint/2010/main" val="38629513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it-IT" b="1" u="sng" dirty="0">
                <a:latin typeface="Times New Roman" panose="02020603050405020304" pitchFamily="18" charset="0"/>
                <a:cs typeface="Times New Roman" panose="02020603050405020304" pitchFamily="18" charset="0"/>
              </a:rPr>
              <a:t>Module </a:t>
            </a:r>
            <a:r>
              <a:rPr lang="it-IT" b="1" u="sng" dirty="0" smtClean="0">
                <a:latin typeface="Times New Roman" panose="02020603050405020304" pitchFamily="18" charset="0"/>
                <a:cs typeface="Times New Roman" panose="02020603050405020304" pitchFamily="18" charset="0"/>
              </a:rPr>
              <a:t>6:</a:t>
            </a:r>
            <a:r>
              <a:rPr lang="en-US" sz="4800" b="1" u="sng" dirty="0">
                <a:latin typeface="Times New Roman" panose="02020603050405020304" pitchFamily="18" charset="0"/>
                <a:ea typeface="Calibri" pitchFamily="34" charset="-122"/>
                <a:cs typeface="Times New Roman" panose="02020603050405020304" pitchFamily="18" charset="0"/>
              </a:rPr>
              <a:t> Episode Outline Planner </a:t>
            </a:r>
            <a:endParaRPr lang="en-US" dirty="0"/>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63</a:t>
            </a:fld>
            <a:endParaRPr lang="en-US" dirty="0">
              <a:solidFill>
                <a:prstClr val="white"/>
              </a:solidFill>
            </a:endParaRPr>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4165600" y="2650420"/>
            <a:ext cx="8153400" cy="6141086"/>
          </a:xfrm>
          <a:prstGeom prst="rect">
            <a:avLst/>
          </a:prstGeom>
        </p:spPr>
      </p:pic>
      <p:sp>
        <p:nvSpPr>
          <p:cNvPr id="6" name="Rectangle 5"/>
          <p:cNvSpPr/>
          <p:nvPr/>
        </p:nvSpPr>
        <p:spPr>
          <a:xfrm>
            <a:off x="4281284" y="1872434"/>
            <a:ext cx="8065862" cy="579967"/>
          </a:xfrm>
          <a:prstGeom prst="rect">
            <a:avLst/>
          </a:prstGeom>
        </p:spPr>
        <p:txBody>
          <a:bodyPr wrap="none">
            <a:spAutoFit/>
          </a:bodyPr>
          <a:lstStyle/>
          <a:p>
            <a:pPr>
              <a:lnSpc>
                <a:spcPct val="150000"/>
              </a:lnSpc>
              <a:spcBef>
                <a:spcPts val="2400"/>
              </a:spcBef>
            </a:pPr>
            <a:r>
              <a:rPr lang="en-US" sz="2400" b="1" u="sng" kern="1600" dirty="0" smtClean="0">
                <a:latin typeface="Times New Roman" panose="02020603050405020304" pitchFamily="18" charset="0"/>
              </a:rPr>
              <a:t>Sequence Diagram For UC1 </a:t>
            </a:r>
            <a:r>
              <a:rPr lang="en-US" sz="2400" b="1" u="sng" kern="1600" dirty="0">
                <a:latin typeface="Times New Roman" panose="02020603050405020304" pitchFamily="18" charset="0"/>
              </a:rPr>
              <a:t>Generate Full Episode Outline:</a:t>
            </a:r>
            <a:endParaRPr lang="en-US" sz="2400" b="1" u="sng" kern="1600" dirty="0">
              <a:effectLst/>
              <a:latin typeface="Times New Roman" panose="02020603050405020304" pitchFamily="18" charset="0"/>
            </a:endParaRPr>
          </a:p>
        </p:txBody>
      </p:sp>
    </p:spTree>
    <p:extLst>
      <p:ext uri="{BB962C8B-B14F-4D97-AF65-F5344CB8AC3E}">
        <p14:creationId xmlns:p14="http://schemas.microsoft.com/office/powerpoint/2010/main" val="19604814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32000" y="304800"/>
            <a:ext cx="14020800" cy="1143000"/>
          </a:xfrm>
        </p:spPr>
        <p:txBody>
          <a:bodyPr/>
          <a:lstStyle/>
          <a:p>
            <a:r>
              <a:rPr lang="en-US" sz="4500" b="1" u="sng" dirty="0">
                <a:latin typeface="Times New Roman" panose="02020603050405020304" pitchFamily="18" charset="0"/>
                <a:cs typeface="Times New Roman" panose="02020603050405020304" pitchFamily="18" charset="0"/>
              </a:rPr>
              <a:t>Entity Relationship Diagram</a:t>
            </a: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4318000" y="2438400"/>
            <a:ext cx="7467600" cy="6134100"/>
          </a:xfrm>
          <a:prstGeom prst="rect">
            <a:avLst/>
          </a:prstGeom>
          <a:noFill/>
          <a:ln>
            <a:noFill/>
          </a:ln>
        </p:spPr>
      </p:pic>
      <p:sp>
        <p:nvSpPr>
          <p:cNvPr id="5" name="Rectangle 4"/>
          <p:cNvSpPr/>
          <p:nvPr/>
        </p:nvSpPr>
        <p:spPr>
          <a:xfrm>
            <a:off x="4318000" y="1905000"/>
            <a:ext cx="8128000" cy="415498"/>
          </a:xfrm>
          <a:prstGeom prst="rect">
            <a:avLst/>
          </a:prstGeom>
        </p:spPr>
        <p:txBody>
          <a:bodyPr>
            <a:spAutoFit/>
          </a:bodyPr>
          <a:lstStyle/>
          <a:p>
            <a:r>
              <a:rPr lang="en-US" b="1" u="sng" dirty="0">
                <a:solidFill>
                  <a:srgbClr val="0F1115"/>
                </a:solidFill>
                <a:latin typeface="Times New Roman" panose="02020603050405020304" pitchFamily="18" charset="0"/>
                <a:cs typeface="Times New Roman" panose="02020603050405020304" pitchFamily="18" charset="0"/>
              </a:rPr>
              <a:t>Entity Relationship Diagram (ERD) – </a:t>
            </a:r>
            <a:r>
              <a:rPr lang="en-US" b="1" u="sng" dirty="0" err="1">
                <a:solidFill>
                  <a:srgbClr val="0F1115"/>
                </a:solidFill>
                <a:latin typeface="Times New Roman" panose="02020603050405020304" pitchFamily="18" charset="0"/>
                <a:cs typeface="Times New Roman" panose="02020603050405020304" pitchFamily="18" charset="0"/>
              </a:rPr>
              <a:t>PodCraft</a:t>
            </a:r>
            <a:r>
              <a:rPr lang="en-US" b="1" u="sng" dirty="0">
                <a:solidFill>
                  <a:srgbClr val="0F1115"/>
                </a:solidFill>
                <a:latin typeface="Times New Roman" panose="02020603050405020304" pitchFamily="18" charset="0"/>
                <a:cs typeface="Times New Roman" panose="02020603050405020304" pitchFamily="18" charset="0"/>
              </a:rPr>
              <a:t> Database Schema</a:t>
            </a:r>
            <a:endParaRPr lang="en-US"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39411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574800" y="3581400"/>
            <a:ext cx="14219757" cy="2712327"/>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buFont typeface="Arial" panose="020B0604020202020204" pitchFamily="34" charset="0"/>
              <a:buChar char="•"/>
            </a:pPr>
            <a:r>
              <a:rPr lang="en-US" sz="6000" b="1" dirty="0">
                <a:solidFill>
                  <a:schemeClr val="tx1">
                    <a:lumMod val="95000"/>
                    <a:lumOff val="5000"/>
                  </a:schemeClr>
                </a:solidFill>
                <a:latin typeface="Times New Roman" panose="02020603050405020304" pitchFamily="18" charset="0"/>
                <a:cs typeface="Times New Roman" panose="02020603050405020304" pitchFamily="18" charset="0"/>
              </a:rPr>
              <a:t>Algorithms </a:t>
            </a:r>
            <a:endParaRPr lang="en-US"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6000" dirty="0">
              <a:solidFill>
                <a:srgbClr val="FF0000"/>
              </a:solidFill>
              <a:latin typeface="Times New Roman" panose="02020603050405020304" pitchFamily="18" charset="0"/>
              <a:cs typeface="Times New Roman" panose="02020603050405020304" pitchFamily="18" charset="0"/>
            </a:endParaRPr>
          </a:p>
          <a:p>
            <a:endParaRPr lang="en-US" sz="6000" dirty="0">
              <a:solidFill>
                <a:srgbClr val="FF0000"/>
              </a:solidFill>
              <a:latin typeface="Calibri"/>
            </a:endParaRPr>
          </a:p>
        </p:txBody>
      </p:sp>
    </p:spTree>
    <p:extLst>
      <p:ext uri="{BB962C8B-B14F-4D97-AF65-F5344CB8AC3E}">
        <p14:creationId xmlns:p14="http://schemas.microsoft.com/office/powerpoint/2010/main" val="8852170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034" y="228600"/>
            <a:ext cx="13441680" cy="1143000"/>
          </a:xfrm>
        </p:spPr>
        <p:txBody>
          <a:bodyPr/>
          <a:lstStyle/>
          <a:p>
            <a:r>
              <a:rPr lang="en-US" sz="3500" b="1" u="sng" dirty="0">
                <a:latin typeface="Times New Roman" panose="02020603050405020304" pitchFamily="18" charset="0"/>
                <a:cs typeface="Times New Roman" panose="02020603050405020304" pitchFamily="18" charset="0"/>
              </a:rPr>
              <a:t>Algorithm &amp; Implementation</a:t>
            </a:r>
            <a:br>
              <a:rPr lang="en-US" sz="3500" b="1" u="sng" dirty="0">
                <a:latin typeface="Times New Roman" panose="02020603050405020304" pitchFamily="18" charset="0"/>
                <a:cs typeface="Times New Roman" panose="02020603050405020304" pitchFamily="18" charset="0"/>
              </a:rPr>
            </a:br>
            <a:r>
              <a:rPr lang="en-GB" sz="3500" b="1" u="sng" dirty="0">
                <a:latin typeface="Times New Roman" panose="02020603050405020304" pitchFamily="18" charset="0"/>
                <a:cs typeface="Times New Roman" panose="02020603050405020304" pitchFamily="18" charset="0"/>
              </a:rPr>
              <a:t>Topic Research Agent – Research Generation Algorithm</a:t>
            </a:r>
            <a:br>
              <a:rPr lang="en-GB" sz="3500" b="1" u="sng" dirty="0">
                <a:latin typeface="Times New Roman" panose="02020603050405020304" pitchFamily="18" charset="0"/>
                <a:cs typeface="Times New Roman" panose="02020603050405020304" pitchFamily="18" charset="0"/>
              </a:rPr>
            </a:br>
            <a:endParaRPr lang="en-US" sz="3500" b="1" u="sng" dirty="0">
              <a:latin typeface="Times New Roman" panose="02020603050405020304" pitchFamily="18" charset="0"/>
              <a:cs typeface="Times New Roman" panose="02020603050405020304" pitchFamily="18" charset="0"/>
            </a:endParaRPr>
          </a:p>
        </p:txBody>
      </p:sp>
      <p:sp>
        <p:nvSpPr>
          <p:cNvPr id="7" name="Rectangle 6"/>
          <p:cNvSpPr/>
          <p:nvPr/>
        </p:nvSpPr>
        <p:spPr>
          <a:xfrm>
            <a:off x="1117600" y="2057400"/>
            <a:ext cx="14478000" cy="6924973"/>
          </a:xfrm>
          <a:prstGeom prst="rect">
            <a:avLst/>
          </a:prstGeom>
        </p:spPr>
        <p:txBody>
          <a:bodyPr wrap="square">
            <a:spAutoFit/>
          </a:bodyPr>
          <a:lstStyle/>
          <a:p>
            <a:pPr algn="just"/>
            <a:r>
              <a:rPr lang="en-GB" sz="2600" b="1" dirty="0">
                <a:solidFill>
                  <a:srgbClr val="0F1115"/>
                </a:solidFill>
                <a:latin typeface="Times New Roman" panose="02020603050405020304" pitchFamily="18" charset="0"/>
                <a:cs typeface="Times New Roman" panose="02020603050405020304" pitchFamily="18" charset="0"/>
              </a:rPr>
              <a:t>Module:</a:t>
            </a:r>
            <a:r>
              <a:rPr lang="en-GB" sz="2600" dirty="0">
                <a:solidFill>
                  <a:srgbClr val="0F1115"/>
                </a:solidFill>
                <a:latin typeface="Times New Roman" panose="02020603050405020304" pitchFamily="18" charset="0"/>
                <a:cs typeface="Times New Roman" panose="02020603050405020304" pitchFamily="18" charset="0"/>
              </a:rPr>
              <a:t> Topic Research Agent (Module 3)</a:t>
            </a:r>
          </a:p>
          <a:p>
            <a:pPr algn="just"/>
            <a:r>
              <a:rPr lang="en-GB" sz="2600" b="1" dirty="0">
                <a:solidFill>
                  <a:srgbClr val="0F1115"/>
                </a:solidFill>
                <a:latin typeface="Times New Roman" panose="02020603050405020304" pitchFamily="18" charset="0"/>
                <a:cs typeface="Times New Roman" panose="02020603050405020304" pitchFamily="18" charset="0"/>
              </a:rPr>
              <a:t>Actual Implementation:</a:t>
            </a:r>
            <a:r>
              <a:rPr lang="en-GB" sz="2600" dirty="0">
                <a:solidFill>
                  <a:srgbClr val="0F1115"/>
                </a:solidFill>
                <a:latin typeface="Times New Roman" panose="02020603050405020304" pitchFamily="18" charset="0"/>
                <a:cs typeface="Times New Roman" panose="02020603050405020304" pitchFamily="18" charset="0"/>
              </a:rPr>
              <a:t> My ResearchController.js </a:t>
            </a:r>
            <a:r>
              <a:rPr lang="en-GB" sz="2600" dirty="0">
                <a:latin typeface="Times New Roman" panose="02020603050405020304" pitchFamily="18" charset="0"/>
                <a:cs typeface="Times New Roman" panose="02020603050405020304" pitchFamily="18" charset="0"/>
              </a:rPr>
              <a:t>uses a template-based approach (not external APIs) with predefined research data per niche, relevance scoring, and subscription-based result limiting.</a:t>
            </a:r>
          </a:p>
          <a:p>
            <a:pPr algn="just"/>
            <a:r>
              <a:rPr lang="en-GB" sz="2600" b="1" dirty="0">
                <a:latin typeface="Times New Roman" panose="02020603050405020304" pitchFamily="18" charset="0"/>
                <a:cs typeface="Times New Roman" panose="02020603050405020304" pitchFamily="18" charset="0"/>
              </a:rPr>
              <a:t>Pseudocode:</a:t>
            </a:r>
          </a:p>
          <a:p>
            <a:pPr algn="just"/>
            <a:r>
              <a:rPr lang="en-GB" sz="2000" dirty="0">
                <a:solidFill>
                  <a:srgbClr val="0F1115"/>
                </a:solidFill>
                <a:latin typeface="Consolas" panose="020B0609020204030204" pitchFamily="49" charset="0"/>
                <a:cs typeface="Times New Roman" panose="02020603050405020304" pitchFamily="18" charset="0"/>
              </a:rPr>
              <a:t>Algorithm: </a:t>
            </a:r>
            <a:r>
              <a:rPr lang="en-GB" sz="2000" dirty="0" err="1">
                <a:solidFill>
                  <a:srgbClr val="0F1115"/>
                </a:solidFill>
                <a:latin typeface="Consolas" panose="020B0609020204030204" pitchFamily="49" charset="0"/>
                <a:cs typeface="Times New Roman" panose="02020603050405020304" pitchFamily="18" charset="0"/>
              </a:rPr>
              <a:t>generateResearchData</a:t>
            </a:r>
            <a:endParaRPr lang="en-GB" sz="2000" dirty="0">
              <a:solidFill>
                <a:srgbClr val="0F1115"/>
              </a:solidFill>
              <a:latin typeface="Consolas" panose="020B0609020204030204" pitchFamily="49" charset="0"/>
              <a:cs typeface="Times New Roman" panose="02020603050405020304" pitchFamily="18" charset="0"/>
            </a:endParaRPr>
          </a:p>
          <a:p>
            <a:pPr algn="just"/>
            <a:r>
              <a:rPr lang="en-GB" sz="2000" dirty="0">
                <a:solidFill>
                  <a:srgbClr val="0F1115"/>
                </a:solidFill>
                <a:latin typeface="Consolas" panose="020B0609020204030204" pitchFamily="49" charset="0"/>
                <a:cs typeface="Times New Roman" panose="02020603050405020304" pitchFamily="18" charset="0"/>
              </a:rPr>
              <a:t>Input: </a:t>
            </a:r>
            <a:r>
              <a:rPr lang="en-GB" sz="2000" dirty="0" err="1">
                <a:solidFill>
                  <a:srgbClr val="0F1115"/>
                </a:solidFill>
                <a:latin typeface="Consolas" panose="020B0609020204030204" pitchFamily="49" charset="0"/>
                <a:cs typeface="Times New Roman" panose="02020603050405020304" pitchFamily="18" charset="0"/>
              </a:rPr>
              <a:t>podcastNiche</a:t>
            </a:r>
            <a:r>
              <a:rPr lang="en-GB" sz="2000" dirty="0">
                <a:solidFill>
                  <a:srgbClr val="0F1115"/>
                </a:solidFill>
                <a:latin typeface="Consolas" panose="020B0609020204030204" pitchFamily="49" charset="0"/>
                <a:cs typeface="Times New Roman" panose="02020603050405020304" pitchFamily="18" charset="0"/>
              </a:rPr>
              <a:t>, </a:t>
            </a:r>
            <a:r>
              <a:rPr lang="en-GB" sz="2000" dirty="0" err="1">
                <a:solidFill>
                  <a:srgbClr val="0F1115"/>
                </a:solidFill>
                <a:latin typeface="Consolas" panose="020B0609020204030204" pitchFamily="49" charset="0"/>
                <a:cs typeface="Times New Roman" panose="02020603050405020304" pitchFamily="18" charset="0"/>
              </a:rPr>
              <a:t>episodeTopic</a:t>
            </a:r>
            <a:r>
              <a:rPr lang="en-GB" sz="2000" dirty="0">
                <a:solidFill>
                  <a:srgbClr val="0F1115"/>
                </a:solidFill>
                <a:latin typeface="Consolas" panose="020B0609020204030204" pitchFamily="49" charset="0"/>
                <a:cs typeface="Times New Roman" panose="02020603050405020304" pitchFamily="18" charset="0"/>
              </a:rPr>
              <a:t>, </a:t>
            </a:r>
            <a:r>
              <a:rPr lang="en-GB" sz="2000" dirty="0" err="1">
                <a:solidFill>
                  <a:srgbClr val="0F1115"/>
                </a:solidFill>
                <a:latin typeface="Consolas" panose="020B0609020204030204" pitchFamily="49" charset="0"/>
                <a:cs typeface="Times New Roman" panose="02020603050405020304" pitchFamily="18" charset="0"/>
              </a:rPr>
              <a:t>userSubscription</a:t>
            </a:r>
            <a:endParaRPr lang="en-GB" sz="2000" dirty="0">
              <a:solidFill>
                <a:srgbClr val="0F1115"/>
              </a:solidFill>
              <a:latin typeface="Consolas" panose="020B0609020204030204" pitchFamily="49" charset="0"/>
              <a:cs typeface="Times New Roman" panose="02020603050405020304" pitchFamily="18" charset="0"/>
            </a:endParaRPr>
          </a:p>
          <a:p>
            <a:pPr algn="just"/>
            <a:r>
              <a:rPr lang="en-GB" sz="2000" dirty="0">
                <a:solidFill>
                  <a:srgbClr val="0F1115"/>
                </a:solidFill>
                <a:latin typeface="Consolas" panose="020B0609020204030204" pitchFamily="49" charset="0"/>
                <a:cs typeface="Times New Roman" panose="02020603050405020304" pitchFamily="18" charset="0"/>
              </a:rPr>
              <a:t>Output: Saved research documents with relevance scores</a:t>
            </a:r>
          </a:p>
          <a:p>
            <a:pPr algn="just"/>
            <a:endParaRPr lang="en-GB" sz="2000" dirty="0">
              <a:solidFill>
                <a:srgbClr val="0F1115"/>
              </a:solidFill>
              <a:latin typeface="Consolas" panose="020B0609020204030204" pitchFamily="49" charset="0"/>
              <a:cs typeface="Times New Roman" panose="02020603050405020304" pitchFamily="18" charset="0"/>
            </a:endParaRPr>
          </a:p>
          <a:p>
            <a:pPr algn="just"/>
            <a:r>
              <a:rPr lang="en-GB" sz="2000" dirty="0">
                <a:solidFill>
                  <a:srgbClr val="0F1115"/>
                </a:solidFill>
                <a:latin typeface="Consolas" panose="020B0609020204030204" pitchFamily="49" charset="0"/>
                <a:cs typeface="Times New Roman" panose="02020603050405020304" pitchFamily="18" charset="0"/>
              </a:rPr>
              <a:t>1.  episode ← </a:t>
            </a:r>
            <a:r>
              <a:rPr lang="en-GB" sz="2000" dirty="0" err="1">
                <a:solidFill>
                  <a:srgbClr val="0F1115"/>
                </a:solidFill>
                <a:latin typeface="Consolas" panose="020B0609020204030204" pitchFamily="49" charset="0"/>
                <a:cs typeface="Times New Roman" panose="02020603050405020304" pitchFamily="18" charset="0"/>
              </a:rPr>
              <a:t>findEpisodeById</a:t>
            </a:r>
            <a:r>
              <a:rPr lang="en-GB" sz="2000" dirty="0">
                <a:solidFill>
                  <a:srgbClr val="0F1115"/>
                </a:solidFill>
                <a:latin typeface="Consolas" panose="020B0609020204030204" pitchFamily="49" charset="0"/>
                <a:cs typeface="Times New Roman" panose="02020603050405020304" pitchFamily="18" charset="0"/>
              </a:rPr>
              <a:t>(</a:t>
            </a:r>
            <a:r>
              <a:rPr lang="en-GB" sz="2000" dirty="0" err="1">
                <a:solidFill>
                  <a:srgbClr val="0F1115"/>
                </a:solidFill>
                <a:latin typeface="Consolas" panose="020B0609020204030204" pitchFamily="49" charset="0"/>
                <a:cs typeface="Times New Roman" panose="02020603050405020304" pitchFamily="18" charset="0"/>
              </a:rPr>
              <a:t>episodeId</a:t>
            </a:r>
            <a:r>
              <a:rPr lang="en-GB" sz="2000" dirty="0">
                <a:solidFill>
                  <a:srgbClr val="0F1115"/>
                </a:solidFill>
                <a:latin typeface="Consolas" panose="020B0609020204030204" pitchFamily="49" charset="0"/>
                <a:cs typeface="Times New Roman" panose="02020603050405020304" pitchFamily="18" charset="0"/>
              </a:rPr>
              <a:t>)</a:t>
            </a:r>
          </a:p>
          <a:p>
            <a:pPr algn="just"/>
            <a:r>
              <a:rPr lang="en-GB" sz="2000" dirty="0">
                <a:solidFill>
                  <a:srgbClr val="0F1115"/>
                </a:solidFill>
                <a:latin typeface="Consolas" panose="020B0609020204030204" pitchFamily="49" charset="0"/>
                <a:cs typeface="Times New Roman" panose="02020603050405020304" pitchFamily="18" charset="0"/>
              </a:rPr>
              <a:t>2.  if </a:t>
            </a:r>
            <a:r>
              <a:rPr lang="en-GB" sz="2000" dirty="0" err="1">
                <a:solidFill>
                  <a:srgbClr val="0F1115"/>
                </a:solidFill>
                <a:latin typeface="Consolas" panose="020B0609020204030204" pitchFamily="49" charset="0"/>
                <a:cs typeface="Times New Roman" panose="02020603050405020304" pitchFamily="18" charset="0"/>
              </a:rPr>
              <a:t>episode.user</a:t>
            </a:r>
            <a:r>
              <a:rPr lang="en-GB" sz="2000" dirty="0">
                <a:solidFill>
                  <a:srgbClr val="0F1115"/>
                </a:solidFill>
                <a:latin typeface="Consolas" panose="020B0609020204030204" pitchFamily="49" charset="0"/>
                <a:cs typeface="Times New Roman" panose="02020603050405020304" pitchFamily="18" charset="0"/>
              </a:rPr>
              <a:t> !== </a:t>
            </a:r>
            <a:r>
              <a:rPr lang="en-GB" sz="2000" dirty="0" err="1">
                <a:solidFill>
                  <a:srgbClr val="0F1115"/>
                </a:solidFill>
                <a:latin typeface="Consolas" panose="020B0609020204030204" pitchFamily="49" charset="0"/>
                <a:cs typeface="Times New Roman" panose="02020603050405020304" pitchFamily="18" charset="0"/>
              </a:rPr>
              <a:t>currentUser</a:t>
            </a:r>
            <a:r>
              <a:rPr lang="en-GB" sz="2000" dirty="0">
                <a:solidFill>
                  <a:srgbClr val="0F1115"/>
                </a:solidFill>
                <a:latin typeface="Consolas" panose="020B0609020204030204" pitchFamily="49" charset="0"/>
                <a:cs typeface="Times New Roman" panose="02020603050405020304" pitchFamily="18" charset="0"/>
              </a:rPr>
              <a:t> then</a:t>
            </a:r>
          </a:p>
          <a:p>
            <a:pPr algn="just"/>
            <a:r>
              <a:rPr lang="en-GB" sz="2000" dirty="0">
                <a:solidFill>
                  <a:srgbClr val="0F1115"/>
                </a:solidFill>
                <a:latin typeface="Consolas" panose="020B0609020204030204" pitchFamily="49" charset="0"/>
                <a:cs typeface="Times New Roman" panose="02020603050405020304" pitchFamily="18" charset="0"/>
              </a:rPr>
              <a:t>3.      return "Not authorized"</a:t>
            </a:r>
          </a:p>
          <a:p>
            <a:pPr algn="just"/>
            <a:r>
              <a:rPr lang="en-GB" sz="2000" dirty="0">
                <a:solidFill>
                  <a:srgbClr val="0F1115"/>
                </a:solidFill>
                <a:latin typeface="Consolas" panose="020B0609020204030204" pitchFamily="49" charset="0"/>
                <a:cs typeface="Times New Roman" panose="02020603050405020304" pitchFamily="18" charset="0"/>
              </a:rPr>
              <a:t>4.  end if</a:t>
            </a:r>
          </a:p>
          <a:p>
            <a:pPr algn="just"/>
            <a:r>
              <a:rPr lang="en-GB" sz="2000" dirty="0">
                <a:solidFill>
                  <a:srgbClr val="0F1115"/>
                </a:solidFill>
                <a:latin typeface="Consolas" panose="020B0609020204030204" pitchFamily="49" charset="0"/>
                <a:cs typeface="Times New Roman" panose="02020603050405020304" pitchFamily="18" charset="0"/>
              </a:rPr>
              <a:t>5.</a:t>
            </a:r>
          </a:p>
          <a:p>
            <a:pPr algn="just"/>
            <a:r>
              <a:rPr lang="en-GB" sz="2000" dirty="0">
                <a:solidFill>
                  <a:srgbClr val="0F1115"/>
                </a:solidFill>
                <a:latin typeface="Consolas" panose="020B0609020204030204" pitchFamily="49" charset="0"/>
                <a:cs typeface="Times New Roman" panose="02020603050405020304" pitchFamily="18" charset="0"/>
              </a:rPr>
              <a:t>6.  </a:t>
            </a:r>
            <a:r>
              <a:rPr lang="en-GB" sz="2000" dirty="0" err="1">
                <a:solidFill>
                  <a:srgbClr val="0F1115"/>
                </a:solidFill>
                <a:latin typeface="Consolas" panose="020B0609020204030204" pitchFamily="49" charset="0"/>
                <a:cs typeface="Times New Roman" panose="02020603050405020304" pitchFamily="18" charset="0"/>
              </a:rPr>
              <a:t>episode.researchStatus</a:t>
            </a:r>
            <a:r>
              <a:rPr lang="en-GB" sz="2000" dirty="0">
                <a:solidFill>
                  <a:srgbClr val="0F1115"/>
                </a:solidFill>
                <a:latin typeface="Consolas" panose="020B0609020204030204" pitchFamily="49" charset="0"/>
                <a:cs typeface="Times New Roman" panose="02020603050405020304" pitchFamily="18" charset="0"/>
              </a:rPr>
              <a:t> ← "processing"</a:t>
            </a:r>
          </a:p>
          <a:p>
            <a:pPr algn="just"/>
            <a:r>
              <a:rPr lang="en-GB" sz="2000" dirty="0">
                <a:solidFill>
                  <a:srgbClr val="0F1115"/>
                </a:solidFill>
                <a:latin typeface="Consolas" panose="020B0609020204030204" pitchFamily="49" charset="0"/>
                <a:cs typeface="Times New Roman" panose="02020603050405020304" pitchFamily="18" charset="0"/>
              </a:rPr>
              <a:t>7.  </a:t>
            </a:r>
            <a:r>
              <a:rPr lang="en-GB" sz="2000" dirty="0" err="1">
                <a:solidFill>
                  <a:srgbClr val="0F1115"/>
                </a:solidFill>
                <a:latin typeface="Consolas" panose="020B0609020204030204" pitchFamily="49" charset="0"/>
                <a:cs typeface="Times New Roman" panose="02020603050405020304" pitchFamily="18" charset="0"/>
              </a:rPr>
              <a:t>saveEpisode</a:t>
            </a:r>
            <a:r>
              <a:rPr lang="en-GB" sz="2000" dirty="0">
                <a:solidFill>
                  <a:srgbClr val="0F1115"/>
                </a:solidFill>
                <a:latin typeface="Consolas" panose="020B0609020204030204" pitchFamily="49" charset="0"/>
                <a:cs typeface="Times New Roman" panose="02020603050405020304" pitchFamily="18" charset="0"/>
              </a:rPr>
              <a:t>(episode)</a:t>
            </a:r>
          </a:p>
          <a:p>
            <a:pPr algn="just"/>
            <a:r>
              <a:rPr lang="en-GB" sz="2000" dirty="0">
                <a:solidFill>
                  <a:srgbClr val="0F1115"/>
                </a:solidFill>
                <a:latin typeface="Consolas" panose="020B0609020204030204" pitchFamily="49" charset="0"/>
                <a:cs typeface="Times New Roman" panose="02020603050405020304" pitchFamily="18" charset="0"/>
              </a:rPr>
              <a:t>8.</a:t>
            </a:r>
          </a:p>
          <a:p>
            <a:pPr algn="just"/>
            <a:r>
              <a:rPr lang="en-GB" sz="2000" dirty="0">
                <a:solidFill>
                  <a:srgbClr val="0F1115"/>
                </a:solidFill>
                <a:latin typeface="Consolas" panose="020B0609020204030204" pitchFamily="49" charset="0"/>
                <a:cs typeface="Times New Roman" panose="02020603050405020304" pitchFamily="18" charset="0"/>
              </a:rPr>
              <a:t>9.  // Delete existing research</a:t>
            </a:r>
          </a:p>
          <a:p>
            <a:pPr algn="just"/>
            <a:r>
              <a:rPr lang="en-GB" sz="2000" dirty="0">
                <a:solidFill>
                  <a:srgbClr val="0F1115"/>
                </a:solidFill>
                <a:latin typeface="Consolas" panose="020B0609020204030204" pitchFamily="49" charset="0"/>
                <a:cs typeface="Times New Roman" panose="02020603050405020304" pitchFamily="18" charset="0"/>
              </a:rPr>
              <a:t>10. </a:t>
            </a:r>
            <a:r>
              <a:rPr lang="en-GB" sz="2000" dirty="0" err="1">
                <a:solidFill>
                  <a:srgbClr val="0F1115"/>
                </a:solidFill>
                <a:latin typeface="Consolas" panose="020B0609020204030204" pitchFamily="49" charset="0"/>
                <a:cs typeface="Times New Roman" panose="02020603050405020304" pitchFamily="18" charset="0"/>
              </a:rPr>
              <a:t>deleteMany</a:t>
            </a:r>
            <a:r>
              <a:rPr lang="en-GB" sz="2000" dirty="0">
                <a:solidFill>
                  <a:srgbClr val="0F1115"/>
                </a:solidFill>
                <a:latin typeface="Consolas" panose="020B0609020204030204" pitchFamily="49" charset="0"/>
                <a:cs typeface="Times New Roman" panose="02020603050405020304" pitchFamily="18" charset="0"/>
              </a:rPr>
              <a:t>({ episode: </a:t>
            </a:r>
            <a:r>
              <a:rPr lang="en-GB" sz="2000" dirty="0" err="1">
                <a:solidFill>
                  <a:srgbClr val="0F1115"/>
                </a:solidFill>
                <a:latin typeface="Consolas" panose="020B0609020204030204" pitchFamily="49" charset="0"/>
                <a:cs typeface="Times New Roman" panose="02020603050405020304" pitchFamily="18" charset="0"/>
              </a:rPr>
              <a:t>episodeId</a:t>
            </a:r>
            <a:r>
              <a:rPr lang="en-GB" sz="2000" dirty="0">
                <a:solidFill>
                  <a:srgbClr val="0F1115"/>
                </a:solidFill>
                <a:latin typeface="Consolas" panose="020B0609020204030204" pitchFamily="49" charset="0"/>
                <a:cs typeface="Times New Roman" panose="02020603050405020304" pitchFamily="18" charset="0"/>
              </a:rPr>
              <a:t> })</a:t>
            </a:r>
          </a:p>
          <a:p>
            <a:pPr algn="just"/>
            <a:r>
              <a:rPr lang="en-GB" sz="2000" dirty="0">
                <a:solidFill>
                  <a:srgbClr val="0F1115"/>
                </a:solidFill>
                <a:latin typeface="Consolas" panose="020B0609020204030204" pitchFamily="49" charset="0"/>
                <a:cs typeface="Times New Roman" panose="02020603050405020304" pitchFamily="18" charset="0"/>
              </a:rPr>
              <a:t>11.</a:t>
            </a:r>
          </a:p>
          <a:p>
            <a:pPr algn="just"/>
            <a:r>
              <a:rPr lang="en-GB" sz="2000" dirty="0">
                <a:solidFill>
                  <a:srgbClr val="0F1115"/>
                </a:solidFill>
                <a:latin typeface="Consolas" panose="020B0609020204030204" pitchFamily="49" charset="0"/>
                <a:cs typeface="Times New Roman" panose="02020603050405020304" pitchFamily="18" charset="0"/>
              </a:rPr>
              <a:t>12. // Get template data based on niche</a:t>
            </a:r>
          </a:p>
          <a:p>
            <a:pPr algn="just"/>
            <a:r>
              <a:rPr lang="en-GB" sz="2000" dirty="0">
                <a:solidFill>
                  <a:srgbClr val="0F1115"/>
                </a:solidFill>
                <a:latin typeface="Consolas" panose="020B0609020204030204" pitchFamily="49" charset="0"/>
                <a:cs typeface="Times New Roman" panose="02020603050405020304" pitchFamily="18" charset="0"/>
              </a:rPr>
              <a:t>13. if </a:t>
            </a:r>
            <a:r>
              <a:rPr lang="en-GB" sz="2000" dirty="0" err="1">
                <a:solidFill>
                  <a:srgbClr val="0F1115"/>
                </a:solidFill>
                <a:latin typeface="Consolas" panose="020B0609020204030204" pitchFamily="49" charset="0"/>
                <a:cs typeface="Times New Roman" panose="02020603050405020304" pitchFamily="18" charset="0"/>
              </a:rPr>
              <a:t>researchTemplates</a:t>
            </a:r>
            <a:r>
              <a:rPr lang="en-GB" sz="2000" dirty="0">
                <a:solidFill>
                  <a:srgbClr val="0F1115"/>
                </a:solidFill>
                <a:latin typeface="Consolas" panose="020B0609020204030204" pitchFamily="49" charset="0"/>
                <a:cs typeface="Times New Roman" panose="02020603050405020304" pitchFamily="18" charset="0"/>
              </a:rPr>
              <a:t>[</a:t>
            </a:r>
            <a:r>
              <a:rPr lang="en-GB" sz="2000" dirty="0" err="1">
                <a:solidFill>
                  <a:srgbClr val="0F1115"/>
                </a:solidFill>
                <a:latin typeface="Consolas" panose="020B0609020204030204" pitchFamily="49" charset="0"/>
                <a:cs typeface="Times New Roman" panose="02020603050405020304" pitchFamily="18" charset="0"/>
              </a:rPr>
              <a:t>nich</a:t>
            </a:r>
            <a:endParaRPr lang="en-GB" sz="2000" b="0" i="0" dirty="0">
              <a:solidFill>
                <a:srgbClr val="0F1115"/>
              </a:solidFill>
              <a:effectLst/>
              <a:latin typeface="Consolas" panose="020B0609020204030204" pitchFamily="49" charset="0"/>
              <a:cs typeface="Times New Roman" panose="02020603050405020304" pitchFamily="18" charset="0"/>
            </a:endParaRPr>
          </a:p>
        </p:txBody>
      </p:sp>
    </p:spTree>
    <p:extLst>
      <p:ext uri="{BB962C8B-B14F-4D97-AF65-F5344CB8AC3E}">
        <p14:creationId xmlns:p14="http://schemas.microsoft.com/office/powerpoint/2010/main" val="34656130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u="sng" dirty="0">
                <a:latin typeface="Times New Roman" panose="02020603050405020304" pitchFamily="18" charset="0"/>
                <a:cs typeface="Times New Roman" panose="02020603050405020304" pitchFamily="18" charset="0"/>
              </a:rPr>
              <a:t>Episode Management - Guest Addition with Summary Generation</a:t>
            </a:r>
          </a:p>
        </p:txBody>
      </p:sp>
      <p:sp>
        <p:nvSpPr>
          <p:cNvPr id="3" name="Subtitle 2"/>
          <p:cNvSpPr>
            <a:spLocks noGrp="1"/>
          </p:cNvSpPr>
          <p:nvPr>
            <p:ph type="subTitle" idx="1"/>
          </p:nvPr>
        </p:nvSpPr>
        <p:spPr>
          <a:xfrm>
            <a:off x="736600" y="2091566"/>
            <a:ext cx="14943666" cy="6953941"/>
          </a:xfrm>
        </p:spPr>
        <p:txBody>
          <a:bodyPr/>
          <a:lstStyle/>
          <a:p>
            <a:pPr algn="l"/>
            <a:r>
              <a:rPr lang="en-US" sz="2800" b="1" dirty="0">
                <a:solidFill>
                  <a:schemeClr val="tx1"/>
                </a:solidFill>
                <a:latin typeface="Times New Roman" panose="02020603050405020304" pitchFamily="18" charset="0"/>
                <a:cs typeface="Times New Roman" panose="02020603050405020304" pitchFamily="18" charset="0"/>
              </a:rPr>
              <a:t>Module:</a:t>
            </a:r>
            <a:r>
              <a:rPr lang="en-US" sz="2800" dirty="0">
                <a:solidFill>
                  <a:schemeClr val="tx1"/>
                </a:solidFill>
                <a:latin typeface="Times New Roman" panose="02020603050405020304" pitchFamily="18" charset="0"/>
                <a:cs typeface="Times New Roman" panose="02020603050405020304" pitchFamily="18" charset="0"/>
              </a:rPr>
              <a:t> User Intent &amp; Guest Analyzer (Module 2)</a:t>
            </a:r>
          </a:p>
          <a:p>
            <a:pPr algn="l"/>
            <a:r>
              <a:rPr lang="en-US" sz="2800" b="1" dirty="0">
                <a:solidFill>
                  <a:schemeClr val="tx1"/>
                </a:solidFill>
                <a:latin typeface="Times New Roman" panose="02020603050405020304" pitchFamily="18" charset="0"/>
                <a:cs typeface="Times New Roman" panose="02020603050405020304" pitchFamily="18" charset="0"/>
              </a:rPr>
              <a:t>Actual Implementation: </a:t>
            </a:r>
            <a:r>
              <a:rPr lang="en-US" sz="2800" dirty="0">
                <a:solidFill>
                  <a:schemeClr val="tx1"/>
                </a:solidFill>
                <a:latin typeface="Times New Roman" panose="02020603050405020304" pitchFamily="18" charset="0"/>
                <a:cs typeface="Times New Roman" panose="02020603050405020304" pitchFamily="18" charset="0"/>
              </a:rPr>
              <a:t>My EpisodeController.js </a:t>
            </a:r>
            <a:r>
              <a:rPr lang="en-GB" sz="2800" dirty="0">
                <a:solidFill>
                  <a:schemeClr val="tx1"/>
                </a:solidFill>
                <a:latin typeface="Times New Roman" panose="02020603050405020304" pitchFamily="18" charset="0"/>
                <a:cs typeface="Times New Roman" panose="02020603050405020304" pitchFamily="18" charset="0"/>
              </a:rPr>
              <a:t>allows adding guests to episodes with automatic summary generation and enforces a maximum of 3 guests per episode.</a:t>
            </a:r>
          </a:p>
          <a:p>
            <a:pPr algn="l"/>
            <a:r>
              <a:rPr lang="en-GB" sz="2800" b="1" dirty="0">
                <a:solidFill>
                  <a:schemeClr val="tx1"/>
                </a:solidFill>
                <a:latin typeface="Times New Roman" panose="02020603050405020304" pitchFamily="18" charset="0"/>
                <a:cs typeface="Times New Roman" panose="02020603050405020304" pitchFamily="18" charset="0"/>
              </a:rPr>
              <a:t>Pseudocode:</a:t>
            </a:r>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67</a:t>
            </a:fld>
            <a:endParaRPr lang="en-US" dirty="0">
              <a:solidFill>
                <a:prstClr val="white"/>
              </a:solidFill>
            </a:endParaRPr>
          </a:p>
        </p:txBody>
      </p:sp>
      <p:pic>
        <p:nvPicPr>
          <p:cNvPr id="5" name="Picture 4"/>
          <p:cNvPicPr>
            <a:picLocks noChangeAspect="1"/>
          </p:cNvPicPr>
          <p:nvPr/>
        </p:nvPicPr>
        <p:blipFill>
          <a:blip r:embed="rId2"/>
          <a:stretch>
            <a:fillRect/>
          </a:stretch>
        </p:blipFill>
        <p:spPr>
          <a:xfrm>
            <a:off x="788478" y="4167254"/>
            <a:ext cx="6120322" cy="4661322"/>
          </a:xfrm>
          <a:prstGeom prst="rect">
            <a:avLst/>
          </a:prstGeom>
        </p:spPr>
      </p:pic>
      <p:pic>
        <p:nvPicPr>
          <p:cNvPr id="6" name="Picture 5"/>
          <p:cNvPicPr>
            <a:picLocks noChangeAspect="1"/>
          </p:cNvPicPr>
          <p:nvPr/>
        </p:nvPicPr>
        <p:blipFill>
          <a:blip r:embed="rId3"/>
          <a:stretch>
            <a:fillRect/>
          </a:stretch>
        </p:blipFill>
        <p:spPr>
          <a:xfrm>
            <a:off x="7509933" y="4275111"/>
            <a:ext cx="5943600" cy="4489622"/>
          </a:xfrm>
          <a:prstGeom prst="rect">
            <a:avLst/>
          </a:prstGeom>
        </p:spPr>
      </p:pic>
    </p:spTree>
    <p:extLst>
      <p:ext uri="{BB962C8B-B14F-4D97-AF65-F5344CB8AC3E}">
        <p14:creationId xmlns:p14="http://schemas.microsoft.com/office/powerpoint/2010/main" val="18734483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User Interfaces</a:t>
            </a:r>
          </a:p>
        </p:txBody>
      </p:sp>
      <p:sp>
        <p:nvSpPr>
          <p:cNvPr id="5" name="Rectangle 4"/>
          <p:cNvSpPr/>
          <p:nvPr/>
        </p:nvSpPr>
        <p:spPr>
          <a:xfrm>
            <a:off x="5384800" y="1930400"/>
            <a:ext cx="5749716" cy="415498"/>
          </a:xfrm>
          <a:prstGeom prst="rect">
            <a:avLst/>
          </a:prstGeom>
        </p:spPr>
        <p:txBody>
          <a:bodyPr wrap="none">
            <a:spAutoFit/>
          </a:bodyPr>
          <a:lstStyle/>
          <a:p>
            <a:r>
              <a:rPr lang="en-US" b="1" u="sng" dirty="0">
                <a:solidFill>
                  <a:srgbClr val="0F1115"/>
                </a:solidFill>
                <a:latin typeface="Times New Roman" panose="02020603050405020304" pitchFamily="18" charset="0"/>
                <a:cs typeface="Times New Roman" panose="02020603050405020304" pitchFamily="18" charset="0"/>
              </a:rPr>
              <a:t>Interface-1: Create Episode Intent Screen (Web)</a:t>
            </a:r>
            <a:endParaRPr lang="en-US" u="sng"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4851400" y="2345898"/>
            <a:ext cx="6934200" cy="6706102"/>
          </a:xfrm>
          <a:prstGeom prst="rect">
            <a:avLst/>
          </a:prstGeom>
        </p:spPr>
      </p:pic>
    </p:spTree>
    <p:extLst>
      <p:ext uri="{BB962C8B-B14F-4D97-AF65-F5344CB8AC3E}">
        <p14:creationId xmlns:p14="http://schemas.microsoft.com/office/powerpoint/2010/main" val="21846157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5400" b="1" u="sng" dirty="0">
                <a:latin typeface="Times New Roman" panose="02020603050405020304" pitchFamily="18" charset="0"/>
                <a:cs typeface="Times New Roman" panose="02020603050405020304" pitchFamily="18" charset="0"/>
              </a:rPr>
              <a:t>User Interfaces</a:t>
            </a:r>
            <a:endParaRPr lang="en-US" dirty="0"/>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69</a:t>
            </a:fld>
            <a:endParaRPr lang="en-US" dirty="0">
              <a:solidFill>
                <a:prstClr val="white"/>
              </a:solidFill>
            </a:endParaRPr>
          </a:p>
        </p:txBody>
      </p:sp>
      <p:pic>
        <p:nvPicPr>
          <p:cNvPr id="5" name="Picture 4"/>
          <p:cNvPicPr>
            <a:picLocks noChangeAspect="1"/>
          </p:cNvPicPr>
          <p:nvPr/>
        </p:nvPicPr>
        <p:blipFill>
          <a:blip r:embed="rId2"/>
          <a:stretch>
            <a:fillRect/>
          </a:stretch>
        </p:blipFill>
        <p:spPr>
          <a:xfrm>
            <a:off x="4851400" y="2314448"/>
            <a:ext cx="6705600" cy="6698108"/>
          </a:xfrm>
          <a:prstGeom prst="rect">
            <a:avLst/>
          </a:prstGeom>
        </p:spPr>
      </p:pic>
      <p:sp>
        <p:nvSpPr>
          <p:cNvPr id="6" name="Rectangle 5"/>
          <p:cNvSpPr/>
          <p:nvPr/>
        </p:nvSpPr>
        <p:spPr>
          <a:xfrm>
            <a:off x="5842000" y="1898950"/>
            <a:ext cx="5287601" cy="415498"/>
          </a:xfrm>
          <a:prstGeom prst="rect">
            <a:avLst/>
          </a:prstGeom>
        </p:spPr>
        <p:txBody>
          <a:bodyPr wrap="none">
            <a:spAutoFit/>
          </a:bodyPr>
          <a:lstStyle/>
          <a:p>
            <a:r>
              <a:rPr lang="en-US" b="1" u="sng" dirty="0">
                <a:solidFill>
                  <a:srgbClr val="0F1115"/>
                </a:solidFill>
                <a:latin typeface="Times New Roman" panose="02020603050405020304" pitchFamily="18" charset="0"/>
                <a:cs typeface="Times New Roman" panose="02020603050405020304" pitchFamily="18" charset="0"/>
              </a:rPr>
              <a:t>Interface-2: Add Guest Profile Screen (Web)</a:t>
            </a:r>
            <a:endParaRPr lang="en-US"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9005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5400" b="1" u="sng" dirty="0">
                <a:latin typeface="Times New Roman" panose="02020603050405020304" pitchFamily="18" charset="0"/>
                <a:cs typeface="Times New Roman" panose="02020603050405020304" pitchFamily="18" charset="0"/>
              </a:rPr>
              <a:t>User Interfaces</a:t>
            </a:r>
            <a:endParaRPr lang="en-US" dirty="0"/>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70</a:t>
            </a:fld>
            <a:endParaRPr lang="en-US" dirty="0">
              <a:solidFill>
                <a:prstClr val="white"/>
              </a:solidFill>
            </a:endParaRPr>
          </a:p>
        </p:txBody>
      </p:sp>
      <p:pic>
        <p:nvPicPr>
          <p:cNvPr id="5" name="Picture 4"/>
          <p:cNvPicPr>
            <a:picLocks noChangeAspect="1"/>
          </p:cNvPicPr>
          <p:nvPr/>
        </p:nvPicPr>
        <p:blipFill>
          <a:blip r:embed="rId2"/>
          <a:stretch>
            <a:fillRect/>
          </a:stretch>
        </p:blipFill>
        <p:spPr>
          <a:xfrm>
            <a:off x="4698999" y="2602562"/>
            <a:ext cx="7248970" cy="5928766"/>
          </a:xfrm>
          <a:prstGeom prst="rect">
            <a:avLst/>
          </a:prstGeom>
        </p:spPr>
      </p:pic>
      <p:sp>
        <p:nvSpPr>
          <p:cNvPr id="6" name="Rectangle 5"/>
          <p:cNvSpPr/>
          <p:nvPr/>
        </p:nvSpPr>
        <p:spPr>
          <a:xfrm>
            <a:off x="5516498" y="2036115"/>
            <a:ext cx="6384568" cy="415498"/>
          </a:xfrm>
          <a:prstGeom prst="rect">
            <a:avLst/>
          </a:prstGeom>
        </p:spPr>
        <p:txBody>
          <a:bodyPr wrap="none">
            <a:spAutoFit/>
          </a:bodyPr>
          <a:lstStyle/>
          <a:p>
            <a:r>
              <a:rPr lang="en-GB" b="1" u="sng" dirty="0">
                <a:solidFill>
                  <a:srgbClr val="0F1115"/>
                </a:solidFill>
                <a:latin typeface="Times New Roman" panose="02020603050405020304" pitchFamily="18" charset="0"/>
                <a:cs typeface="Times New Roman" panose="02020603050405020304" pitchFamily="18" charset="0"/>
              </a:rPr>
              <a:t>Interface-3: Guest Summary Generated Screen (Web)</a:t>
            </a:r>
            <a:endParaRPr lang="en-US"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27691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b="1" u="sng" dirty="0">
                <a:latin typeface="Times New Roman" panose="02020603050405020304" pitchFamily="18" charset="0"/>
                <a:cs typeface="Times New Roman" panose="02020603050405020304" pitchFamily="18" charset="0"/>
              </a:rPr>
              <a:t>User Interfaces</a:t>
            </a:r>
            <a:endParaRPr lang="en-US" dirty="0"/>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71</a:t>
            </a:fld>
            <a:endParaRPr lang="en-US" dirty="0">
              <a:solidFill>
                <a:prstClr val="white"/>
              </a:solidFill>
            </a:endParaRPr>
          </a:p>
        </p:txBody>
      </p:sp>
      <p:pic>
        <p:nvPicPr>
          <p:cNvPr id="5" name="Picture 4"/>
          <p:cNvPicPr>
            <a:picLocks noChangeAspect="1"/>
          </p:cNvPicPr>
          <p:nvPr/>
        </p:nvPicPr>
        <p:blipFill>
          <a:blip r:embed="rId2"/>
          <a:stretch>
            <a:fillRect/>
          </a:stretch>
        </p:blipFill>
        <p:spPr>
          <a:xfrm>
            <a:off x="5156198" y="2438400"/>
            <a:ext cx="6639511" cy="6466372"/>
          </a:xfrm>
          <a:prstGeom prst="rect">
            <a:avLst/>
          </a:prstGeom>
        </p:spPr>
      </p:pic>
      <p:sp>
        <p:nvSpPr>
          <p:cNvPr id="6" name="Rectangle 5"/>
          <p:cNvSpPr/>
          <p:nvPr/>
        </p:nvSpPr>
        <p:spPr>
          <a:xfrm>
            <a:off x="5994400" y="1905000"/>
            <a:ext cx="5684057" cy="415498"/>
          </a:xfrm>
          <a:prstGeom prst="rect">
            <a:avLst/>
          </a:prstGeom>
        </p:spPr>
        <p:txBody>
          <a:bodyPr wrap="none">
            <a:spAutoFit/>
          </a:bodyPr>
          <a:lstStyle/>
          <a:p>
            <a:r>
              <a:rPr lang="en-US" b="1" u="sng" dirty="0">
                <a:solidFill>
                  <a:srgbClr val="0F1115"/>
                </a:solidFill>
                <a:latin typeface="Times New Roman" panose="02020603050405020304" pitchFamily="18" charset="0"/>
                <a:cs typeface="Times New Roman" panose="02020603050405020304" pitchFamily="18" charset="0"/>
              </a:rPr>
              <a:t>Interface-4: Research Results Dashboard (Web)</a:t>
            </a:r>
            <a:endParaRPr lang="en-US"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1823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D9EC4-C14D-0112-0C9E-63F7EAD36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8D4A5-A461-0880-4A6F-6AB06C857CAB}"/>
              </a:ext>
            </a:extLst>
          </p:cNvPr>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User Interfaces</a:t>
            </a:r>
          </a:p>
        </p:txBody>
      </p:sp>
      <p:sp>
        <p:nvSpPr>
          <p:cNvPr id="5" name="Rectangle 4">
            <a:extLst>
              <a:ext uri="{FF2B5EF4-FFF2-40B4-BE49-F238E27FC236}">
                <a16:creationId xmlns:a16="http://schemas.microsoft.com/office/drawing/2014/main" id="{E753D6B4-C307-0D70-82F6-D1B591B9A432}"/>
              </a:ext>
            </a:extLst>
          </p:cNvPr>
          <p:cNvSpPr/>
          <p:nvPr/>
        </p:nvSpPr>
        <p:spPr>
          <a:xfrm>
            <a:off x="6141437" y="1930400"/>
            <a:ext cx="4201728" cy="415498"/>
          </a:xfrm>
          <a:prstGeom prst="rect">
            <a:avLst/>
          </a:prstGeom>
        </p:spPr>
        <p:txBody>
          <a:bodyPr wrap="none">
            <a:spAutoFit/>
          </a:bodyPr>
          <a:lstStyle/>
          <a:p>
            <a:r>
              <a:rPr lang="en-US" b="1" u="sng" dirty="0">
                <a:solidFill>
                  <a:srgbClr val="0F1115"/>
                </a:solidFill>
                <a:latin typeface="Times New Roman" panose="02020603050405020304" pitchFamily="18" charset="0"/>
                <a:cs typeface="Times New Roman" panose="02020603050405020304" pitchFamily="18" charset="0"/>
              </a:rPr>
              <a:t>Interface-1: Home Screen (Mobile)</a:t>
            </a:r>
            <a:endParaRPr lang="en-US" u="sng"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62333D2-8452-F026-8196-08D072205A14}"/>
              </a:ext>
            </a:extLst>
          </p:cNvPr>
          <p:cNvSpPr txBox="1"/>
          <p:nvPr/>
        </p:nvSpPr>
        <p:spPr>
          <a:xfrm>
            <a:off x="4037570" y="4395143"/>
            <a:ext cx="8198708" cy="415498"/>
          </a:xfrm>
          <a:prstGeom prst="rect">
            <a:avLst/>
          </a:prstGeom>
          <a:noFill/>
        </p:spPr>
        <p:txBody>
          <a:bodyPr wrap="square">
            <a:spAutoFit/>
          </a:bodyPr>
          <a:lstStyle/>
          <a:p>
            <a:endParaRPr lang="en-US" dirty="0"/>
          </a:p>
        </p:txBody>
      </p:sp>
      <p:pic>
        <p:nvPicPr>
          <p:cNvPr id="12" name="Picture 11">
            <a:extLst>
              <a:ext uri="{FF2B5EF4-FFF2-40B4-BE49-F238E27FC236}">
                <a16:creationId xmlns:a16="http://schemas.microsoft.com/office/drawing/2014/main" id="{D9239EB7-AAB1-25BA-0910-62E7DDF467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1437" y="2345898"/>
            <a:ext cx="4272563" cy="6569502"/>
          </a:xfrm>
          <a:prstGeom prst="rect">
            <a:avLst/>
          </a:prstGeom>
        </p:spPr>
      </p:pic>
    </p:spTree>
    <p:extLst>
      <p:ext uri="{BB962C8B-B14F-4D97-AF65-F5344CB8AC3E}">
        <p14:creationId xmlns:p14="http://schemas.microsoft.com/office/powerpoint/2010/main" val="38942208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4C98A-3B8A-A573-88DB-CE343EBA58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267467-6B24-F8AA-23DB-059EFDEA3925}"/>
              </a:ext>
            </a:extLst>
          </p:cNvPr>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User Interfaces</a:t>
            </a:r>
          </a:p>
        </p:txBody>
      </p:sp>
      <p:sp>
        <p:nvSpPr>
          <p:cNvPr id="5" name="Rectangle 4">
            <a:extLst>
              <a:ext uri="{FF2B5EF4-FFF2-40B4-BE49-F238E27FC236}">
                <a16:creationId xmlns:a16="http://schemas.microsoft.com/office/drawing/2014/main" id="{156C41EC-EF9F-1F5B-9408-0CBAF4F40F7B}"/>
              </a:ext>
            </a:extLst>
          </p:cNvPr>
          <p:cNvSpPr/>
          <p:nvPr/>
        </p:nvSpPr>
        <p:spPr>
          <a:xfrm>
            <a:off x="6223000" y="1905000"/>
            <a:ext cx="4477444" cy="415498"/>
          </a:xfrm>
          <a:prstGeom prst="rect">
            <a:avLst/>
          </a:prstGeom>
        </p:spPr>
        <p:txBody>
          <a:bodyPr wrap="none">
            <a:spAutoFit/>
          </a:bodyPr>
          <a:lstStyle/>
          <a:p>
            <a:r>
              <a:rPr lang="en-US" b="1" u="sng" dirty="0">
                <a:solidFill>
                  <a:srgbClr val="0F1115"/>
                </a:solidFill>
                <a:latin typeface="Times New Roman" panose="02020603050405020304" pitchFamily="18" charset="0"/>
                <a:cs typeface="Times New Roman" panose="02020603050405020304" pitchFamily="18" charset="0"/>
              </a:rPr>
              <a:t>Interface-2: Create Podcast (Mobile)</a:t>
            </a:r>
            <a:endParaRPr lang="en-US"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FEC21DA-EF68-21B4-1311-C0237814E3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4111" y="2438400"/>
            <a:ext cx="4715222" cy="6569502"/>
          </a:xfrm>
          <a:prstGeom prst="rect">
            <a:avLst/>
          </a:prstGeom>
        </p:spPr>
      </p:pic>
    </p:spTree>
    <p:extLst>
      <p:ext uri="{BB962C8B-B14F-4D97-AF65-F5344CB8AC3E}">
        <p14:creationId xmlns:p14="http://schemas.microsoft.com/office/powerpoint/2010/main" val="7797114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67EB2-7680-24D8-C714-F73D17358A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10765-2F92-A5E6-CBF1-65A89091BF7A}"/>
              </a:ext>
            </a:extLst>
          </p:cNvPr>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User Interfaces</a:t>
            </a:r>
          </a:p>
        </p:txBody>
      </p:sp>
      <p:sp>
        <p:nvSpPr>
          <p:cNvPr id="5" name="Rectangle 4">
            <a:extLst>
              <a:ext uri="{FF2B5EF4-FFF2-40B4-BE49-F238E27FC236}">
                <a16:creationId xmlns:a16="http://schemas.microsoft.com/office/drawing/2014/main" id="{85EFD21E-0015-88B1-1D22-2260C4384F5E}"/>
              </a:ext>
            </a:extLst>
          </p:cNvPr>
          <p:cNvSpPr/>
          <p:nvPr/>
        </p:nvSpPr>
        <p:spPr>
          <a:xfrm>
            <a:off x="5384800" y="1930400"/>
            <a:ext cx="5740610" cy="415498"/>
          </a:xfrm>
          <a:prstGeom prst="rect">
            <a:avLst/>
          </a:prstGeom>
        </p:spPr>
        <p:txBody>
          <a:bodyPr wrap="none">
            <a:spAutoFit/>
          </a:bodyPr>
          <a:lstStyle/>
          <a:p>
            <a:r>
              <a:rPr lang="en-US" b="1" u="sng" dirty="0">
                <a:solidFill>
                  <a:srgbClr val="0F1115"/>
                </a:solidFill>
                <a:latin typeface="Times New Roman" panose="02020603050405020304" pitchFamily="18" charset="0"/>
                <a:cs typeface="Times New Roman" panose="02020603050405020304" pitchFamily="18" charset="0"/>
              </a:rPr>
              <a:t>Interface-3: Result of Podcast Creation (Mobile)</a:t>
            </a:r>
            <a:endParaRPr lang="en-US"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210D96E-5F83-3BF4-D9A4-1CEB24A4F7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6800" y="2514600"/>
            <a:ext cx="4419600" cy="6493302"/>
          </a:xfrm>
          <a:prstGeom prst="rect">
            <a:avLst/>
          </a:prstGeom>
        </p:spPr>
      </p:pic>
    </p:spTree>
    <p:extLst>
      <p:ext uri="{BB962C8B-B14F-4D97-AF65-F5344CB8AC3E}">
        <p14:creationId xmlns:p14="http://schemas.microsoft.com/office/powerpoint/2010/main" val="208445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D1BB3-4F3D-F78E-4EFE-C6DC22688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B96CE-236B-134F-A8D4-718D95F49396}"/>
              </a:ext>
            </a:extLst>
          </p:cNvPr>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User Interfaces</a:t>
            </a:r>
          </a:p>
        </p:txBody>
      </p:sp>
      <p:sp>
        <p:nvSpPr>
          <p:cNvPr id="5" name="Rectangle 4">
            <a:extLst>
              <a:ext uri="{FF2B5EF4-FFF2-40B4-BE49-F238E27FC236}">
                <a16:creationId xmlns:a16="http://schemas.microsoft.com/office/drawing/2014/main" id="{9A52A712-51FC-F8A3-3D79-E05AA1EDD3EB}"/>
              </a:ext>
            </a:extLst>
          </p:cNvPr>
          <p:cNvSpPr/>
          <p:nvPr/>
        </p:nvSpPr>
        <p:spPr>
          <a:xfrm>
            <a:off x="5461000" y="1948935"/>
            <a:ext cx="5865645" cy="415498"/>
          </a:xfrm>
          <a:prstGeom prst="rect">
            <a:avLst/>
          </a:prstGeom>
        </p:spPr>
        <p:txBody>
          <a:bodyPr wrap="none">
            <a:spAutoFit/>
          </a:bodyPr>
          <a:lstStyle/>
          <a:p>
            <a:r>
              <a:rPr lang="en-US" b="1" u="sng" dirty="0">
                <a:solidFill>
                  <a:srgbClr val="0F1115"/>
                </a:solidFill>
                <a:latin typeface="Times New Roman" panose="02020603050405020304" pitchFamily="18" charset="0"/>
                <a:cs typeface="Times New Roman" panose="02020603050405020304" pitchFamily="18" charset="0"/>
              </a:rPr>
              <a:t>Interface-4: Research Result Dashboard (Mobile)</a:t>
            </a:r>
            <a:endParaRPr lang="en-US"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1FC55AA-EF6E-1BD9-3F77-0587C34E7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7800" y="2364433"/>
            <a:ext cx="4107465" cy="6493302"/>
          </a:xfrm>
          <a:prstGeom prst="rect">
            <a:avLst/>
          </a:prstGeom>
        </p:spPr>
      </p:pic>
    </p:spTree>
    <p:extLst>
      <p:ext uri="{BB962C8B-B14F-4D97-AF65-F5344CB8AC3E}">
        <p14:creationId xmlns:p14="http://schemas.microsoft.com/office/powerpoint/2010/main" val="8469613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574800" y="3581400"/>
            <a:ext cx="14219757" cy="2712327"/>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buFont typeface="Arial" panose="020B0604020202020204" pitchFamily="34" charset="0"/>
              <a:buChar char="•"/>
            </a:pPr>
            <a:r>
              <a:rPr lang="en-US" sz="6000" b="1" dirty="0">
                <a:solidFill>
                  <a:schemeClr val="tx1">
                    <a:lumMod val="95000"/>
                    <a:lumOff val="5000"/>
                  </a:schemeClr>
                </a:solidFill>
                <a:latin typeface="Times New Roman" panose="02020603050405020304" pitchFamily="18" charset="0"/>
                <a:cs typeface="Times New Roman" panose="02020603050405020304" pitchFamily="18" charset="0"/>
              </a:rPr>
              <a:t>Testing </a:t>
            </a:r>
            <a:endParaRPr lang="en-US" sz="6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6000" dirty="0">
              <a:solidFill>
                <a:srgbClr val="FF0000"/>
              </a:solidFill>
              <a:latin typeface="Times New Roman" panose="02020603050405020304" pitchFamily="18" charset="0"/>
              <a:cs typeface="Times New Roman" panose="02020603050405020304" pitchFamily="18" charset="0"/>
            </a:endParaRPr>
          </a:p>
          <a:p>
            <a:endParaRPr lang="en-US" sz="6000" dirty="0">
              <a:solidFill>
                <a:srgbClr val="FF0000"/>
              </a:solidFill>
              <a:latin typeface="Calibri"/>
            </a:endParaRPr>
          </a:p>
        </p:txBody>
      </p:sp>
    </p:spTree>
    <p:extLst>
      <p:ext uri="{BB962C8B-B14F-4D97-AF65-F5344CB8AC3E}">
        <p14:creationId xmlns:p14="http://schemas.microsoft.com/office/powerpoint/2010/main" val="28306029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720" y="533400"/>
            <a:ext cx="13441680" cy="1143000"/>
          </a:xfrm>
        </p:spPr>
        <p:txBody>
          <a:bodyPr/>
          <a:lstStyle/>
          <a:p>
            <a:r>
              <a:rPr lang="en-US" sz="4500" b="1" u="sng" dirty="0">
                <a:latin typeface="Times New Roman" panose="02020603050405020304" pitchFamily="18" charset="0"/>
                <a:cs typeface="Times New Roman" panose="02020603050405020304" pitchFamily="18" charset="0"/>
              </a:rPr>
              <a:t>Testing Methodology </a:t>
            </a:r>
          </a:p>
        </p:txBody>
      </p:sp>
      <p:graphicFrame>
        <p:nvGraphicFramePr>
          <p:cNvPr id="4" name="Table 3"/>
          <p:cNvGraphicFramePr>
            <a:graphicFrameLocks noGrp="1"/>
          </p:cNvGraphicFramePr>
          <p:nvPr>
            <p:extLst>
              <p:ext uri="{D42A27DB-BD31-4B8C-83A1-F6EECF244321}">
                <p14:modId xmlns:p14="http://schemas.microsoft.com/office/powerpoint/2010/main" val="380065955"/>
              </p:ext>
            </p:extLst>
          </p:nvPr>
        </p:nvGraphicFramePr>
        <p:xfrm>
          <a:off x="1193800" y="1981200"/>
          <a:ext cx="14325600" cy="6546822"/>
        </p:xfrm>
        <a:graphic>
          <a:graphicData uri="http://schemas.openxmlformats.org/drawingml/2006/table">
            <a:tbl>
              <a:tblPr firstRow="1" bandRow="1">
                <a:tableStyleId>{5C22544A-7EE6-4342-B048-85BDC9FD1C3A}</a:tableStyleId>
              </a:tblPr>
              <a:tblGrid>
                <a:gridCol w="4775200">
                  <a:extLst>
                    <a:ext uri="{9D8B030D-6E8A-4147-A177-3AD203B41FA5}">
                      <a16:colId xmlns:a16="http://schemas.microsoft.com/office/drawing/2014/main" val="3273144744"/>
                    </a:ext>
                  </a:extLst>
                </a:gridCol>
                <a:gridCol w="4775200">
                  <a:extLst>
                    <a:ext uri="{9D8B030D-6E8A-4147-A177-3AD203B41FA5}">
                      <a16:colId xmlns:a16="http://schemas.microsoft.com/office/drawing/2014/main" val="4070728499"/>
                    </a:ext>
                  </a:extLst>
                </a:gridCol>
                <a:gridCol w="4775200">
                  <a:extLst>
                    <a:ext uri="{9D8B030D-6E8A-4147-A177-3AD203B41FA5}">
                      <a16:colId xmlns:a16="http://schemas.microsoft.com/office/drawing/2014/main" val="2421002068"/>
                    </a:ext>
                  </a:extLst>
                </a:gridCol>
              </a:tblGrid>
              <a:tr h="377218">
                <a:tc>
                  <a:txBody>
                    <a:bodyPr/>
                    <a:lstStyle/>
                    <a:p>
                      <a:pPr algn="l"/>
                      <a:r>
                        <a:rPr lang="en-US" b="0" dirty="0">
                          <a:effectLst/>
                          <a:latin typeface="Times New Roman" panose="02020603050405020304" pitchFamily="18" charset="0"/>
                          <a:cs typeface="Times New Roman" panose="02020603050405020304" pitchFamily="18" charset="0"/>
                        </a:rPr>
                        <a:t>Methodology</a:t>
                      </a:r>
                    </a:p>
                  </a:txBody>
                  <a:tcPr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Purpose in PodCraft</a:t>
                      </a:r>
                    </a:p>
                  </a:txBody>
                  <a:tcPr marL="101600" marR="101600" marT="63500" marB="63500" anchor="ctr"/>
                </a:tc>
                <a:tc>
                  <a:txBody>
                    <a:bodyPr/>
                    <a:lstStyle/>
                    <a:p>
                      <a:pPr algn="l"/>
                      <a:r>
                        <a:rPr lang="en-US" b="0">
                          <a:effectLst/>
                          <a:latin typeface="Times New Roman" panose="02020603050405020304" pitchFamily="18" charset="0"/>
                          <a:cs typeface="Times New Roman" panose="02020603050405020304" pitchFamily="18" charset="0"/>
                        </a:rPr>
                        <a:t>Reason for Selection</a:t>
                      </a:r>
                    </a:p>
                  </a:txBody>
                  <a:tcPr marL="101600" marR="101600" marT="63500" marB="63500" anchor="ctr"/>
                </a:tc>
                <a:extLst>
                  <a:ext uri="{0D108BD9-81ED-4DB2-BD59-A6C34878D82A}">
                    <a16:rowId xmlns:a16="http://schemas.microsoft.com/office/drawing/2014/main" val="4066333045"/>
                  </a:ext>
                </a:extLst>
              </a:tr>
              <a:tr h="1727486">
                <a:tc>
                  <a:txBody>
                    <a:bodyPr/>
                    <a:lstStyle/>
                    <a:p>
                      <a:r>
                        <a:rPr lang="en-US" b="1">
                          <a:effectLst/>
                          <a:latin typeface="Times New Roman" panose="02020603050405020304" pitchFamily="18" charset="0"/>
                          <a:cs typeface="Times New Roman" panose="02020603050405020304" pitchFamily="18" charset="0"/>
                        </a:rPr>
                        <a:t>Unit Testing</a:t>
                      </a:r>
                      <a:endParaRPr lang="en-US" b="0">
                        <a:effectLst/>
                        <a:latin typeface="Times New Roman" panose="02020603050405020304" pitchFamily="18" charset="0"/>
                        <a:cs typeface="Times New Roman" panose="02020603050405020304" pitchFamily="18" charset="0"/>
                      </a:endParaRPr>
                    </a:p>
                  </a:txBody>
                  <a:tcPr marR="101600" marT="63500" marB="63500" anchor="ctr"/>
                </a:tc>
                <a:tc>
                  <a:txBody>
                    <a:bodyPr/>
                    <a:lstStyle/>
                    <a:p>
                      <a:r>
                        <a:rPr lang="en-US" b="0" dirty="0">
                          <a:effectLst/>
                          <a:latin typeface="Times New Roman" panose="02020603050405020304" pitchFamily="18" charset="0"/>
                          <a:cs typeface="Times New Roman" panose="02020603050405020304" pitchFamily="18" charset="0"/>
                        </a:rPr>
                        <a:t>Verify individual functions (</a:t>
                      </a:r>
                      <a:r>
                        <a:rPr lang="en-US" b="0" dirty="0" err="1">
                          <a:effectLst/>
                          <a:latin typeface="Times New Roman" panose="02020603050405020304" pitchFamily="18" charset="0"/>
                          <a:cs typeface="Times New Roman" panose="02020603050405020304" pitchFamily="18" charset="0"/>
                        </a:rPr>
                        <a:t>validateEmail</a:t>
                      </a:r>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matchPassword</a:t>
                      </a:r>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generateJWT</a:t>
                      </a:r>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hashPassword</a:t>
                      </a:r>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extractJSON</a:t>
                      </a:r>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distributeTimestamps</a:t>
                      </a:r>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rankHooks</a:t>
                      </a:r>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exportOutlineTXT</a:t>
                      </a:r>
                      <a:r>
                        <a:rPr lang="en-US" b="0" dirty="0">
                          <a:effectLst/>
                          <a:latin typeface="Times New Roman" panose="02020603050405020304" pitchFamily="18" charset="0"/>
                          <a:cs typeface="Times New Roman" panose="02020603050405020304" pitchFamily="18" charset="0"/>
                        </a:rPr>
                        <a:t>)</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Ensures each small component works correctly in isolation before integration; catches bugs early in development lifecycle</a:t>
                      </a:r>
                    </a:p>
                  </a:txBody>
                  <a:tcPr marL="101600" marT="63500" marB="63500" anchor="ctr"/>
                </a:tc>
                <a:extLst>
                  <a:ext uri="{0D108BD9-81ED-4DB2-BD59-A6C34878D82A}">
                    <a16:rowId xmlns:a16="http://schemas.microsoft.com/office/drawing/2014/main" val="2660986206"/>
                  </a:ext>
                </a:extLst>
              </a:tr>
              <a:tr h="1457432">
                <a:tc>
                  <a:txBody>
                    <a:bodyPr/>
                    <a:lstStyle/>
                    <a:p>
                      <a:r>
                        <a:rPr lang="en-US" b="1">
                          <a:effectLst/>
                          <a:latin typeface="Times New Roman" panose="02020603050405020304" pitchFamily="18" charset="0"/>
                          <a:cs typeface="Times New Roman" panose="02020603050405020304" pitchFamily="18" charset="0"/>
                        </a:rPr>
                        <a:t>Functional Testing</a:t>
                      </a:r>
                      <a:endParaRPr lang="en-US" b="0">
                        <a:effectLst/>
                        <a:latin typeface="Times New Roman" panose="02020603050405020304" pitchFamily="18" charset="0"/>
                        <a:cs typeface="Times New Roman" panose="02020603050405020304" pitchFamily="18" charset="0"/>
                      </a:endParaRPr>
                    </a:p>
                  </a:txBody>
                  <a:tcPr marR="101600" marT="63500" marB="63500" anchor="ctr"/>
                </a:tc>
                <a:tc>
                  <a:txBody>
                    <a:bodyPr/>
                    <a:lstStyle/>
                    <a:p>
                      <a:r>
                        <a:rPr lang="en-GB" b="0">
                          <a:effectLst/>
                          <a:latin typeface="Times New Roman" panose="02020603050405020304" pitchFamily="18" charset="0"/>
                          <a:cs typeface="Times New Roman" panose="02020603050405020304" pitchFamily="18" charset="0"/>
                        </a:rPr>
                        <a:t>Validate end-to-end features (User Registration, Login, Episode Creation Wizard, Results Screen Tabs, Drafts Library, Profile &amp; Sign Out)</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Tests system from user's perspective; ensures features meet requirements as specified in SRS</a:t>
                      </a:r>
                    </a:p>
                  </a:txBody>
                  <a:tcPr marL="101600" marT="63500" marB="63500" anchor="ctr"/>
                </a:tc>
                <a:extLst>
                  <a:ext uri="{0D108BD9-81ED-4DB2-BD59-A6C34878D82A}">
                    <a16:rowId xmlns:a16="http://schemas.microsoft.com/office/drawing/2014/main" val="2840009536"/>
                  </a:ext>
                </a:extLst>
              </a:tr>
              <a:tr h="1457432">
                <a:tc>
                  <a:txBody>
                    <a:bodyPr/>
                    <a:lstStyle/>
                    <a:p>
                      <a:r>
                        <a:rPr lang="en-US" b="1">
                          <a:effectLst/>
                          <a:latin typeface="Times New Roman" panose="02020603050405020304" pitchFamily="18" charset="0"/>
                          <a:cs typeface="Times New Roman" panose="02020603050405020304" pitchFamily="18" charset="0"/>
                        </a:rPr>
                        <a:t>Decision Table Testing</a:t>
                      </a:r>
                      <a:endParaRPr lang="en-US" b="0">
                        <a:effectLst/>
                        <a:latin typeface="Times New Roman" panose="02020603050405020304" pitchFamily="18" charset="0"/>
                        <a:cs typeface="Times New Roman" panose="02020603050405020304" pitchFamily="18" charset="0"/>
                      </a:endParaRPr>
                    </a:p>
                  </a:txBody>
                  <a:tcPr marR="101600" marT="63500" marB="63500" anchor="ctr"/>
                </a:tc>
                <a:tc>
                  <a:txBody>
                    <a:bodyPr/>
                    <a:lstStyle/>
                    <a:p>
                      <a:r>
                        <a:rPr lang="en-GB" b="0">
                          <a:effectLst/>
                          <a:latin typeface="Times New Roman" panose="02020603050405020304" pitchFamily="18" charset="0"/>
                          <a:cs typeface="Times New Roman" panose="02020603050405020304" pitchFamily="18" charset="0"/>
                        </a:rPr>
                        <a:t>Test business rules (BR-1 Signup Validity, BR-2 Episode Length Duration, BR-3 User-Scoped Access, BR-4 Regenerate Section Scope)</a:t>
                      </a:r>
                    </a:p>
                  </a:txBody>
                  <a:tcPr marL="101600" marR="101600" marT="63500" marB="63500" anchor="ctr"/>
                </a:tc>
                <a:tc>
                  <a:txBody>
                    <a:bodyPr/>
                    <a:lstStyle/>
                    <a:p>
                      <a:r>
                        <a:rPr lang="en-GB" b="0">
                          <a:effectLst/>
                          <a:latin typeface="Times New Roman" panose="02020603050405020304" pitchFamily="18" charset="0"/>
                          <a:cs typeface="Times New Roman" panose="02020603050405020304" pitchFamily="18" charset="0"/>
                        </a:rPr>
                        <a:t>Business rules have multiple conditions; decision tables provide systematic coverage of all input combinations</a:t>
                      </a:r>
                    </a:p>
                  </a:txBody>
                  <a:tcPr marL="101600" marT="63500" marB="63500" anchor="ctr"/>
                </a:tc>
                <a:extLst>
                  <a:ext uri="{0D108BD9-81ED-4DB2-BD59-A6C34878D82A}">
                    <a16:rowId xmlns:a16="http://schemas.microsoft.com/office/drawing/2014/main" val="606959810"/>
                  </a:ext>
                </a:extLst>
              </a:tr>
              <a:tr h="1457432">
                <a:tc>
                  <a:txBody>
                    <a:bodyPr/>
                    <a:lstStyle/>
                    <a:p>
                      <a:r>
                        <a:rPr lang="en-US" b="1">
                          <a:effectLst/>
                          <a:latin typeface="Times New Roman" panose="02020603050405020304" pitchFamily="18" charset="0"/>
                          <a:cs typeface="Times New Roman" panose="02020603050405020304" pitchFamily="18" charset="0"/>
                        </a:rPr>
                        <a:t>Integration Testing</a:t>
                      </a:r>
                      <a:endParaRPr lang="en-US" b="0">
                        <a:effectLst/>
                        <a:latin typeface="Times New Roman" panose="02020603050405020304" pitchFamily="18" charset="0"/>
                        <a:cs typeface="Times New Roman" panose="02020603050405020304" pitchFamily="18" charset="0"/>
                      </a:endParaRPr>
                    </a:p>
                  </a:txBody>
                  <a:tcPr marR="101600" marT="63500" marB="63500" anchor="ctr"/>
                </a:tc>
                <a:tc>
                  <a:txBody>
                    <a:bodyPr/>
                    <a:lstStyle/>
                    <a:p>
                      <a:r>
                        <a:rPr lang="en-US" b="0">
                          <a:effectLst/>
                          <a:latin typeface="Times New Roman" panose="02020603050405020304" pitchFamily="18" charset="0"/>
                          <a:cs typeface="Times New Roman" panose="02020603050405020304" pitchFamily="18" charset="0"/>
                        </a:rPr>
                        <a:t>Test module interfaces (Auth ↔ Episode Creation, Episode Service ↔ GPT-5.2 API, Episode Service ↔ MongoDB, Frontend ↔ Backend over HTTPS)</a:t>
                      </a:r>
                    </a:p>
                  </a:txBody>
                  <a:tcPr marL="101600" marR="101600" marT="63500" marB="63500" anchor="ctr"/>
                </a:tc>
                <a:tc>
                  <a:txBody>
                    <a:bodyPr/>
                    <a:lstStyle/>
                    <a:p>
                      <a:r>
                        <a:rPr lang="en-GB" b="0" dirty="0">
                          <a:effectLst/>
                          <a:latin typeface="Times New Roman" panose="02020603050405020304" pitchFamily="18" charset="0"/>
                          <a:cs typeface="Times New Roman" panose="02020603050405020304" pitchFamily="18" charset="0"/>
                        </a:rPr>
                        <a:t>Verifies that modules developed by different team members work together correctly; catches interface-level defects</a:t>
                      </a:r>
                    </a:p>
                  </a:txBody>
                  <a:tcPr marL="101600" marT="63500" marB="63500" anchor="ctr"/>
                </a:tc>
                <a:extLst>
                  <a:ext uri="{0D108BD9-81ED-4DB2-BD59-A6C34878D82A}">
                    <a16:rowId xmlns:a16="http://schemas.microsoft.com/office/drawing/2014/main" val="2427315903"/>
                  </a:ext>
                </a:extLst>
              </a:tr>
            </a:tbl>
          </a:graphicData>
        </a:graphic>
      </p:graphicFrame>
    </p:spTree>
    <p:extLst>
      <p:ext uri="{BB962C8B-B14F-4D97-AF65-F5344CB8AC3E}">
        <p14:creationId xmlns:p14="http://schemas.microsoft.com/office/powerpoint/2010/main" val="41234121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3200" b="1" u="sng" dirty="0">
                <a:latin typeface="Times New Roman" panose="02020603050405020304" pitchFamily="18" charset="0"/>
                <a:cs typeface="Times New Roman" panose="02020603050405020304" pitchFamily="18" charset="0"/>
              </a:rPr>
              <a:t>List of Test Case Cases Module Wise </a:t>
            </a:r>
            <a:br>
              <a:rPr lang="en-US" sz="3200" b="1" u="sng" dirty="0">
                <a:latin typeface="Times New Roman" panose="02020603050405020304" pitchFamily="18" charset="0"/>
                <a:cs typeface="Times New Roman" panose="02020603050405020304" pitchFamily="18" charset="0"/>
              </a:rPr>
            </a:br>
            <a:r>
              <a:rPr lang="en-GB" sz="3200" b="1" u="sng" dirty="0">
                <a:latin typeface="Times New Roman" panose="02020603050405020304" pitchFamily="18" charset="0"/>
                <a:cs typeface="Times New Roman" panose="02020603050405020304" pitchFamily="18" charset="0"/>
              </a:rPr>
              <a:t>Module 1: User Authentication &amp; Profile Management (Web Dashboard)</a:t>
            </a:r>
            <a:br>
              <a:rPr lang="en-GB" sz="3200" b="1" u="sng" dirty="0">
                <a:latin typeface="Times New Roman" panose="02020603050405020304" pitchFamily="18" charset="0"/>
                <a:cs typeface="Times New Roman" panose="02020603050405020304" pitchFamily="18" charset="0"/>
              </a:rPr>
            </a:br>
            <a:r>
              <a:rPr lang="en-US" sz="3200" b="1" u="sng" dirty="0">
                <a:latin typeface="Times New Roman" panose="02020603050405020304" pitchFamily="18" charset="0"/>
                <a:cs typeface="Times New Roman" panose="02020603050405020304" pitchFamily="18" charset="0"/>
              </a:rPr>
              <a:t/>
            </a:r>
            <a:br>
              <a:rPr lang="en-US" sz="3200" b="1" u="sng" dirty="0">
                <a:latin typeface="Times New Roman" panose="02020603050405020304" pitchFamily="18" charset="0"/>
                <a:cs typeface="Times New Roman" panose="02020603050405020304" pitchFamily="18" charset="0"/>
              </a:rPr>
            </a:br>
            <a:r>
              <a:rPr lang="en-US" sz="3200" b="1" u="sng" dirty="0">
                <a:latin typeface="Times New Roman" panose="02020603050405020304" pitchFamily="18" charset="0"/>
                <a:cs typeface="Times New Roman" panose="02020603050405020304" pitchFamily="18" charset="0"/>
              </a:rPr>
              <a:t/>
            </a:r>
            <a:br>
              <a:rPr lang="en-US" sz="3200" b="1" u="sng" dirty="0">
                <a:latin typeface="Times New Roman" panose="02020603050405020304" pitchFamily="18" charset="0"/>
                <a:cs typeface="Times New Roman" panose="02020603050405020304" pitchFamily="18" charset="0"/>
              </a:rPr>
            </a:br>
            <a:endParaRPr lang="en-US" sz="3200" b="1" u="sng"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88691047"/>
              </p:ext>
            </p:extLst>
          </p:nvPr>
        </p:nvGraphicFramePr>
        <p:xfrm>
          <a:off x="965200" y="2209800"/>
          <a:ext cx="14706600" cy="6246854"/>
        </p:xfrm>
        <a:graphic>
          <a:graphicData uri="http://schemas.openxmlformats.org/drawingml/2006/table">
            <a:tbl>
              <a:tblPr firstRow="1" bandRow="1">
                <a:tableStyleId>{5C22544A-7EE6-4342-B048-85BDC9FD1C3A}</a:tableStyleId>
              </a:tblPr>
              <a:tblGrid>
                <a:gridCol w="3676650">
                  <a:extLst>
                    <a:ext uri="{9D8B030D-6E8A-4147-A177-3AD203B41FA5}">
                      <a16:colId xmlns:a16="http://schemas.microsoft.com/office/drawing/2014/main" val="2051176046"/>
                    </a:ext>
                  </a:extLst>
                </a:gridCol>
                <a:gridCol w="3676650">
                  <a:extLst>
                    <a:ext uri="{9D8B030D-6E8A-4147-A177-3AD203B41FA5}">
                      <a16:colId xmlns:a16="http://schemas.microsoft.com/office/drawing/2014/main" val="1649952446"/>
                    </a:ext>
                  </a:extLst>
                </a:gridCol>
                <a:gridCol w="3676650">
                  <a:extLst>
                    <a:ext uri="{9D8B030D-6E8A-4147-A177-3AD203B41FA5}">
                      <a16:colId xmlns:a16="http://schemas.microsoft.com/office/drawing/2014/main" val="4001022283"/>
                    </a:ext>
                  </a:extLst>
                </a:gridCol>
                <a:gridCol w="3676650">
                  <a:extLst>
                    <a:ext uri="{9D8B030D-6E8A-4147-A177-3AD203B41FA5}">
                      <a16:colId xmlns:a16="http://schemas.microsoft.com/office/drawing/2014/main" val="1089068724"/>
                    </a:ext>
                  </a:extLst>
                </a:gridCol>
              </a:tblGrid>
              <a:tr h="297414">
                <a:tc>
                  <a:txBody>
                    <a:bodyPr/>
                    <a:lstStyle/>
                    <a:p>
                      <a:pPr algn="l"/>
                      <a:r>
                        <a:rPr lang="en-US" sz="1400" b="0" dirty="0">
                          <a:effectLst/>
                          <a:latin typeface="Times New Roman" panose="02020603050405020304" pitchFamily="18" charset="0"/>
                          <a:cs typeface="Times New Roman" panose="02020603050405020304" pitchFamily="18" charset="0"/>
                        </a:rPr>
                        <a:t>Test Case Id</a:t>
                      </a:r>
                    </a:p>
                  </a:txBody>
                  <a:tcPr marR="101600" marT="63500" marB="63500" anchor="ctr"/>
                </a:tc>
                <a:tc>
                  <a:txBody>
                    <a:bodyPr/>
                    <a:lstStyle/>
                    <a:p>
                      <a:pPr algn="l"/>
                      <a:r>
                        <a:rPr lang="en-US" sz="1400" b="0">
                          <a:effectLst/>
                          <a:latin typeface="Times New Roman" panose="02020603050405020304" pitchFamily="18" charset="0"/>
                          <a:cs typeface="Times New Roman" panose="02020603050405020304" pitchFamily="18" charset="0"/>
                        </a:rPr>
                        <a:t>Test Case Title</a:t>
                      </a:r>
                    </a:p>
                  </a:txBody>
                  <a:tcPr marL="101600" marR="101600" marT="63500" marB="63500" anchor="ctr"/>
                </a:tc>
                <a:tc>
                  <a:txBody>
                    <a:bodyPr/>
                    <a:lstStyle/>
                    <a:p>
                      <a:pPr algn="l"/>
                      <a:r>
                        <a:rPr lang="en-US" sz="1400" b="0">
                          <a:effectLst/>
                          <a:latin typeface="Times New Roman" panose="02020603050405020304" pitchFamily="18" charset="0"/>
                          <a:cs typeface="Times New Roman" panose="02020603050405020304" pitchFamily="18" charset="0"/>
                        </a:rPr>
                        <a:t>Test Case Description</a:t>
                      </a:r>
                    </a:p>
                  </a:txBody>
                  <a:tcPr marL="101600" marR="101600" marT="63500" marB="63500" anchor="ctr"/>
                </a:tc>
                <a:tc>
                  <a:txBody>
                    <a:bodyPr/>
                    <a:lstStyle/>
                    <a:p>
                      <a:pPr algn="l"/>
                      <a:r>
                        <a:rPr lang="en-US" sz="1400" b="0">
                          <a:effectLst/>
                          <a:latin typeface="Times New Roman" panose="02020603050405020304" pitchFamily="18" charset="0"/>
                          <a:cs typeface="Times New Roman" panose="02020603050405020304" pitchFamily="18" charset="0"/>
                        </a:rPr>
                        <a:t>Test Case Detail</a:t>
                      </a:r>
                    </a:p>
                  </a:txBody>
                  <a:tcPr marL="101600" marR="101600" marT="63500" marB="63500" anchor="ctr"/>
                </a:tc>
                <a:extLst>
                  <a:ext uri="{0D108BD9-81ED-4DB2-BD59-A6C34878D82A}">
                    <a16:rowId xmlns:a16="http://schemas.microsoft.com/office/drawing/2014/main" val="1143266943"/>
                  </a:ext>
                </a:extLst>
              </a:tr>
              <a:tr h="510336">
                <a:tc>
                  <a:txBody>
                    <a:bodyPr/>
                    <a:lstStyle/>
                    <a:p>
                      <a:r>
                        <a:rPr lang="en-US" sz="1400" b="0" dirty="0">
                          <a:effectLst/>
                          <a:latin typeface="Times New Roman" panose="02020603050405020304" pitchFamily="18" charset="0"/>
                          <a:cs typeface="Times New Roman" panose="02020603050405020304" pitchFamily="18" charset="0"/>
                        </a:rPr>
                        <a:t>TC-Web-1.1</a:t>
                      </a:r>
                    </a:p>
                  </a:txBody>
                  <a:tcPr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Verify Email Validation</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User enters email in different formats; system validates correctly.</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UT_1_1_001</a:t>
                      </a:r>
                    </a:p>
                  </a:txBody>
                  <a:tcPr marL="101600" marT="63500" marB="63500" anchor="ctr"/>
                </a:tc>
                <a:extLst>
                  <a:ext uri="{0D108BD9-81ED-4DB2-BD59-A6C34878D82A}">
                    <a16:rowId xmlns:a16="http://schemas.microsoft.com/office/drawing/2014/main" val="2645472488"/>
                  </a:ext>
                </a:extLst>
              </a:tr>
              <a:tr h="723256">
                <a:tc>
                  <a:txBody>
                    <a:bodyPr/>
                    <a:lstStyle/>
                    <a:p>
                      <a:r>
                        <a:rPr lang="en-US" sz="1400" b="0">
                          <a:effectLst/>
                          <a:latin typeface="Times New Roman" panose="02020603050405020304" pitchFamily="18" charset="0"/>
                          <a:cs typeface="Times New Roman" panose="02020603050405020304" pitchFamily="18" charset="0"/>
                        </a:rPr>
                        <a:t>TC-Web-1.2</a:t>
                      </a:r>
                    </a:p>
                  </a:txBody>
                  <a:tcPr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Verify Password Match</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User enters password and confirm password; system checks exact equality.</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UT_1_2_001</a:t>
                      </a:r>
                    </a:p>
                  </a:txBody>
                  <a:tcPr marL="101600" marT="63500" marB="63500" anchor="ctr"/>
                </a:tc>
                <a:extLst>
                  <a:ext uri="{0D108BD9-81ED-4DB2-BD59-A6C34878D82A}">
                    <a16:rowId xmlns:a16="http://schemas.microsoft.com/office/drawing/2014/main" val="2409245060"/>
                  </a:ext>
                </a:extLst>
              </a:tr>
              <a:tr h="510336">
                <a:tc>
                  <a:txBody>
                    <a:bodyPr/>
                    <a:lstStyle/>
                    <a:p>
                      <a:r>
                        <a:rPr lang="en-US" sz="1400" b="0">
                          <a:effectLst/>
                          <a:latin typeface="Times New Roman" panose="02020603050405020304" pitchFamily="18" charset="0"/>
                          <a:cs typeface="Times New Roman" panose="02020603050405020304" pitchFamily="18" charset="0"/>
                        </a:rPr>
                        <a:t>TC-Web-1.3</a:t>
                      </a:r>
                    </a:p>
                  </a:txBody>
                  <a:tcPr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Verify JWT Generation</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System generates three-part token that decodes to correct user ID.</a:t>
                      </a:r>
                    </a:p>
                  </a:txBody>
                  <a:tcPr marL="101600" marR="101600" marT="63500" marB="63500" anchor="ctr"/>
                </a:tc>
                <a:tc>
                  <a:txBody>
                    <a:bodyPr/>
                    <a:lstStyle/>
                    <a:p>
                      <a:r>
                        <a:rPr lang="en-US" sz="1400" b="0" dirty="0">
                          <a:effectLst/>
                          <a:latin typeface="Times New Roman" panose="02020603050405020304" pitchFamily="18" charset="0"/>
                          <a:cs typeface="Times New Roman" panose="02020603050405020304" pitchFamily="18" charset="0"/>
                        </a:rPr>
                        <a:t>UT_1_3_001</a:t>
                      </a:r>
                    </a:p>
                  </a:txBody>
                  <a:tcPr marL="101600" marT="63500" marB="63500" anchor="ctr"/>
                </a:tc>
                <a:extLst>
                  <a:ext uri="{0D108BD9-81ED-4DB2-BD59-A6C34878D82A}">
                    <a16:rowId xmlns:a16="http://schemas.microsoft.com/office/drawing/2014/main" val="1987346136"/>
                  </a:ext>
                </a:extLst>
              </a:tr>
              <a:tr h="510336">
                <a:tc>
                  <a:txBody>
                    <a:bodyPr/>
                    <a:lstStyle/>
                    <a:p>
                      <a:r>
                        <a:rPr lang="en-US" sz="1400" b="0">
                          <a:effectLst/>
                          <a:latin typeface="Times New Roman" panose="02020603050405020304" pitchFamily="18" charset="0"/>
                          <a:cs typeface="Times New Roman" panose="02020603050405020304" pitchFamily="18" charset="0"/>
                        </a:rPr>
                        <a:t>TC-Web-1.4</a:t>
                      </a:r>
                    </a:p>
                  </a:txBody>
                  <a:tcPr marR="101600" marT="63500" marB="63500" anchor="ctr"/>
                </a:tc>
                <a:tc>
                  <a:txBody>
                    <a:bodyPr/>
                    <a:lstStyle/>
                    <a:p>
                      <a:r>
                        <a:rPr lang="en-US" sz="1400" b="0" dirty="0">
                          <a:effectLst/>
                          <a:latin typeface="Times New Roman" panose="02020603050405020304" pitchFamily="18" charset="0"/>
                          <a:cs typeface="Times New Roman" panose="02020603050405020304" pitchFamily="18" charset="0"/>
                        </a:rPr>
                        <a:t>Verify Password Hashing</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System hashes password using bcrypt with 2b2</a:t>
                      </a:r>
                      <a:r>
                        <a:rPr lang="en-GB" sz="1400" b="0" i="1">
                          <a:effectLst/>
                          <a:latin typeface="Times New Roman" panose="02020603050405020304" pitchFamily="18" charset="0"/>
                          <a:cs typeface="Times New Roman" panose="02020603050405020304" pitchFamily="18" charset="0"/>
                        </a:rPr>
                        <a:t>b</a:t>
                      </a:r>
                      <a:r>
                        <a:rPr lang="en-GB" sz="1400" b="0">
                          <a:effectLst/>
                          <a:latin typeface="Times New Roman" panose="02020603050405020304" pitchFamily="18" charset="0"/>
                          <a:cs typeface="Times New Roman" panose="02020603050405020304" pitchFamily="18" charset="0"/>
                        </a:rPr>
                        <a:t> prefix.</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UT_1_4_001</a:t>
                      </a:r>
                    </a:p>
                  </a:txBody>
                  <a:tcPr marL="101600" marT="63500" marB="63500" anchor="ctr"/>
                </a:tc>
                <a:extLst>
                  <a:ext uri="{0D108BD9-81ED-4DB2-BD59-A6C34878D82A}">
                    <a16:rowId xmlns:a16="http://schemas.microsoft.com/office/drawing/2014/main" val="2749403731"/>
                  </a:ext>
                </a:extLst>
              </a:tr>
              <a:tr h="510336">
                <a:tc>
                  <a:txBody>
                    <a:bodyPr/>
                    <a:lstStyle/>
                    <a:p>
                      <a:r>
                        <a:rPr lang="en-US" sz="1400" b="0" dirty="0">
                          <a:effectLst/>
                          <a:latin typeface="Times New Roman" panose="02020603050405020304" pitchFamily="18" charset="0"/>
                          <a:cs typeface="Times New Roman" panose="02020603050405020304" pitchFamily="18" charset="0"/>
                        </a:rPr>
                        <a:t>TC-Web-1.5</a:t>
                      </a:r>
                    </a:p>
                  </a:txBody>
                  <a:tcPr marR="101600" marT="63500" marB="63500" anchor="ctr"/>
                </a:tc>
                <a:tc>
                  <a:txBody>
                    <a:bodyPr/>
                    <a:lstStyle/>
                    <a:p>
                      <a:r>
                        <a:rPr lang="en-US" sz="1400" b="0" dirty="0">
                          <a:effectLst/>
                          <a:latin typeface="Times New Roman" panose="02020603050405020304" pitchFamily="18" charset="0"/>
                          <a:cs typeface="Times New Roman" panose="02020603050405020304" pitchFamily="18" charset="0"/>
                        </a:rPr>
                        <a:t>Verify Login Endpoint</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User logs in with valid/invalid credentials; system returns 200/401.</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UT_1_5_001</a:t>
                      </a:r>
                    </a:p>
                  </a:txBody>
                  <a:tcPr marL="101600" marT="63500" marB="63500" anchor="ctr"/>
                </a:tc>
                <a:extLst>
                  <a:ext uri="{0D108BD9-81ED-4DB2-BD59-A6C34878D82A}">
                    <a16:rowId xmlns:a16="http://schemas.microsoft.com/office/drawing/2014/main" val="969217557"/>
                  </a:ext>
                </a:extLst>
              </a:tr>
              <a:tr h="723256">
                <a:tc>
                  <a:txBody>
                    <a:bodyPr/>
                    <a:lstStyle/>
                    <a:p>
                      <a:r>
                        <a:rPr lang="en-US" sz="1400" b="0" dirty="0">
                          <a:effectLst/>
                          <a:latin typeface="Times New Roman" panose="02020603050405020304" pitchFamily="18" charset="0"/>
                          <a:cs typeface="Times New Roman" panose="02020603050405020304" pitchFamily="18" charset="0"/>
                        </a:rPr>
                        <a:t>TC-Web-1.6</a:t>
                      </a:r>
                    </a:p>
                  </a:txBody>
                  <a:tcPr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Verify Signup Endpoint</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User signs up with unique email; system rejects duplicates and malformed emails.</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UT_1_6_001</a:t>
                      </a:r>
                    </a:p>
                  </a:txBody>
                  <a:tcPr marL="101600" marT="63500" marB="63500" anchor="ctr"/>
                </a:tc>
                <a:extLst>
                  <a:ext uri="{0D108BD9-81ED-4DB2-BD59-A6C34878D82A}">
                    <a16:rowId xmlns:a16="http://schemas.microsoft.com/office/drawing/2014/main" val="252323624"/>
                  </a:ext>
                </a:extLst>
              </a:tr>
              <a:tr h="510336">
                <a:tc>
                  <a:txBody>
                    <a:bodyPr/>
                    <a:lstStyle/>
                    <a:p>
                      <a:r>
                        <a:rPr lang="en-US" sz="1400" b="0">
                          <a:effectLst/>
                          <a:latin typeface="Times New Roman" panose="02020603050405020304" pitchFamily="18" charset="0"/>
                          <a:cs typeface="Times New Roman" panose="02020603050405020304" pitchFamily="18" charset="0"/>
                        </a:rPr>
                        <a:t>TC-Web-1.7</a:t>
                      </a:r>
                    </a:p>
                  </a:txBody>
                  <a:tcPr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Verify User Registration</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User registers with valid data; account created and JWT returned.</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FT-1 (Case 1)</a:t>
                      </a:r>
                    </a:p>
                  </a:txBody>
                  <a:tcPr marL="101600" marT="63500" marB="63500" anchor="ctr"/>
                </a:tc>
                <a:extLst>
                  <a:ext uri="{0D108BD9-81ED-4DB2-BD59-A6C34878D82A}">
                    <a16:rowId xmlns:a16="http://schemas.microsoft.com/office/drawing/2014/main" val="2143969658"/>
                  </a:ext>
                </a:extLst>
              </a:tr>
              <a:tr h="568831">
                <a:tc>
                  <a:txBody>
                    <a:bodyPr/>
                    <a:lstStyle/>
                    <a:p>
                      <a:r>
                        <a:rPr lang="en-US" sz="1400" b="0">
                          <a:effectLst/>
                          <a:latin typeface="Times New Roman" panose="02020603050405020304" pitchFamily="18" charset="0"/>
                          <a:cs typeface="Times New Roman" panose="02020603050405020304" pitchFamily="18" charset="0"/>
                        </a:rPr>
                        <a:t>TC-Web-1.8</a:t>
                      </a:r>
                    </a:p>
                  </a:txBody>
                  <a:tcPr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Verify Registration with Existing Email</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User registers with already registered email; system shows error.</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FT-1 (Case 2)</a:t>
                      </a:r>
                    </a:p>
                  </a:txBody>
                  <a:tcPr marL="101600" marT="63500" marB="63500" anchor="ctr"/>
                </a:tc>
                <a:extLst>
                  <a:ext uri="{0D108BD9-81ED-4DB2-BD59-A6C34878D82A}">
                    <a16:rowId xmlns:a16="http://schemas.microsoft.com/office/drawing/2014/main" val="1886669962"/>
                  </a:ext>
                </a:extLst>
              </a:tr>
              <a:tr h="510336">
                <a:tc>
                  <a:txBody>
                    <a:bodyPr/>
                    <a:lstStyle/>
                    <a:p>
                      <a:r>
                        <a:rPr lang="en-US" sz="1400" b="0">
                          <a:effectLst/>
                          <a:latin typeface="Times New Roman" panose="02020603050405020304" pitchFamily="18" charset="0"/>
                          <a:cs typeface="Times New Roman" panose="02020603050405020304" pitchFamily="18" charset="0"/>
                        </a:rPr>
                        <a:t>TC-Web-1.9</a:t>
                      </a:r>
                    </a:p>
                  </a:txBody>
                  <a:tcPr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Verify Login with Valid Credentials</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User logs in with seeded account; dashboard loads successfully.</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FT-2 (Case 1)</a:t>
                      </a:r>
                    </a:p>
                  </a:txBody>
                  <a:tcPr marL="101600" marT="63500" marB="63500" anchor="ctr"/>
                </a:tc>
                <a:extLst>
                  <a:ext uri="{0D108BD9-81ED-4DB2-BD59-A6C34878D82A}">
                    <a16:rowId xmlns:a16="http://schemas.microsoft.com/office/drawing/2014/main" val="473486428"/>
                  </a:ext>
                </a:extLst>
              </a:tr>
              <a:tr h="568831">
                <a:tc>
                  <a:txBody>
                    <a:bodyPr/>
                    <a:lstStyle/>
                    <a:p>
                      <a:r>
                        <a:rPr lang="en-US" sz="1400" b="0">
                          <a:effectLst/>
                          <a:latin typeface="Times New Roman" panose="02020603050405020304" pitchFamily="18" charset="0"/>
                          <a:cs typeface="Times New Roman" panose="02020603050405020304" pitchFamily="18" charset="0"/>
                        </a:rPr>
                        <a:t>TC-Web-1.10</a:t>
                      </a:r>
                    </a:p>
                  </a:txBody>
                  <a:tcPr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Verify Login with Wrong Password</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User enters incorrect password; system shows invalid credentials error.</a:t>
                      </a:r>
                    </a:p>
                  </a:txBody>
                  <a:tcPr marL="101600" marR="101600" marT="63500" marB="63500" anchor="ctr"/>
                </a:tc>
                <a:tc>
                  <a:txBody>
                    <a:bodyPr/>
                    <a:lstStyle/>
                    <a:p>
                      <a:r>
                        <a:rPr lang="en-US" sz="1400" b="0" dirty="0">
                          <a:effectLst/>
                          <a:latin typeface="Times New Roman" panose="02020603050405020304" pitchFamily="18" charset="0"/>
                          <a:cs typeface="Times New Roman" panose="02020603050405020304" pitchFamily="18" charset="0"/>
                        </a:rPr>
                        <a:t>FT-2 (Case 2)</a:t>
                      </a:r>
                    </a:p>
                  </a:txBody>
                  <a:tcPr marL="101600" marT="63500" marB="63500" anchor="ctr"/>
                </a:tc>
                <a:extLst>
                  <a:ext uri="{0D108BD9-81ED-4DB2-BD59-A6C34878D82A}">
                    <a16:rowId xmlns:a16="http://schemas.microsoft.com/office/drawing/2014/main" val="4294320912"/>
                  </a:ext>
                </a:extLst>
              </a:tr>
            </a:tbl>
          </a:graphicData>
        </a:graphic>
      </p:graphicFrame>
    </p:spTree>
    <p:extLst>
      <p:ext uri="{BB962C8B-B14F-4D97-AF65-F5344CB8AC3E}">
        <p14:creationId xmlns:p14="http://schemas.microsoft.com/office/powerpoint/2010/main" val="19028585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u="sng" dirty="0">
                <a:latin typeface="Times New Roman" panose="02020603050405020304" pitchFamily="18" charset="0"/>
                <a:cs typeface="Times New Roman" panose="02020603050405020304" pitchFamily="18" charset="0"/>
              </a:rPr>
              <a:t>Module 2: Episode Setup &amp; Guest Management (Web Dashboard)</a:t>
            </a:r>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79</a:t>
            </a:fld>
            <a:endParaRPr lang="en-US" dirty="0">
              <a:solidFill>
                <a:prstClr val="white"/>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100081480"/>
              </p:ext>
            </p:extLst>
          </p:nvPr>
        </p:nvGraphicFramePr>
        <p:xfrm>
          <a:off x="1684866" y="2019866"/>
          <a:ext cx="13182600" cy="6947296"/>
        </p:xfrm>
        <a:graphic>
          <a:graphicData uri="http://schemas.openxmlformats.org/drawingml/2006/table">
            <a:tbl>
              <a:tblPr firstRow="1" bandRow="1">
                <a:tableStyleId>{5C22544A-7EE6-4342-B048-85BDC9FD1C3A}</a:tableStyleId>
              </a:tblPr>
              <a:tblGrid>
                <a:gridCol w="3295650">
                  <a:extLst>
                    <a:ext uri="{9D8B030D-6E8A-4147-A177-3AD203B41FA5}">
                      <a16:colId xmlns:a16="http://schemas.microsoft.com/office/drawing/2014/main" val="85354893"/>
                    </a:ext>
                  </a:extLst>
                </a:gridCol>
                <a:gridCol w="3295650">
                  <a:extLst>
                    <a:ext uri="{9D8B030D-6E8A-4147-A177-3AD203B41FA5}">
                      <a16:colId xmlns:a16="http://schemas.microsoft.com/office/drawing/2014/main" val="890957094"/>
                    </a:ext>
                  </a:extLst>
                </a:gridCol>
                <a:gridCol w="3295650">
                  <a:extLst>
                    <a:ext uri="{9D8B030D-6E8A-4147-A177-3AD203B41FA5}">
                      <a16:colId xmlns:a16="http://schemas.microsoft.com/office/drawing/2014/main" val="3916698538"/>
                    </a:ext>
                  </a:extLst>
                </a:gridCol>
                <a:gridCol w="3295650">
                  <a:extLst>
                    <a:ext uri="{9D8B030D-6E8A-4147-A177-3AD203B41FA5}">
                      <a16:colId xmlns:a16="http://schemas.microsoft.com/office/drawing/2014/main" val="48896884"/>
                    </a:ext>
                  </a:extLst>
                </a:gridCol>
              </a:tblGrid>
              <a:tr h="365106">
                <a:tc>
                  <a:txBody>
                    <a:bodyPr/>
                    <a:lstStyle/>
                    <a:p>
                      <a:pPr algn="l"/>
                      <a:r>
                        <a:rPr lang="en-US" sz="1500" b="0" dirty="0">
                          <a:effectLst/>
                          <a:latin typeface="Times New Roman" panose="02020603050405020304" pitchFamily="18" charset="0"/>
                          <a:cs typeface="Times New Roman" panose="02020603050405020304" pitchFamily="18" charset="0"/>
                        </a:rPr>
                        <a:t>Time</a:t>
                      </a:r>
                    </a:p>
                    <a:p>
                      <a:pPr algn="l"/>
                      <a:endParaRPr lang="en-US" sz="1500" b="0" dirty="0">
                        <a:effectLst/>
                        <a:latin typeface="Times New Roman" panose="02020603050405020304" pitchFamily="18" charset="0"/>
                        <a:cs typeface="Times New Roman" panose="02020603050405020304" pitchFamily="18" charset="0"/>
                      </a:endParaRPr>
                    </a:p>
                  </a:txBody>
                  <a:tcPr marR="101600" marT="63500" marB="63500" anchor="ctr"/>
                </a:tc>
                <a:tc>
                  <a:txBody>
                    <a:bodyPr/>
                    <a:lstStyle/>
                    <a:p>
                      <a:pPr algn="l"/>
                      <a:r>
                        <a:rPr lang="en-US" sz="1500" b="0">
                          <a:effectLst/>
                          <a:latin typeface="Times New Roman" panose="02020603050405020304" pitchFamily="18" charset="0"/>
                          <a:cs typeface="Times New Roman" panose="02020603050405020304" pitchFamily="18" charset="0"/>
                        </a:rPr>
                        <a:t>Test Case Title</a:t>
                      </a:r>
                    </a:p>
                  </a:txBody>
                  <a:tcPr marL="101600" marR="101600" marT="63500" marB="63500" anchor="ctr"/>
                </a:tc>
                <a:tc>
                  <a:txBody>
                    <a:bodyPr/>
                    <a:lstStyle/>
                    <a:p>
                      <a:pPr algn="l"/>
                      <a:r>
                        <a:rPr lang="en-US" sz="1500" b="0">
                          <a:effectLst/>
                          <a:latin typeface="Times New Roman" panose="02020603050405020304" pitchFamily="18" charset="0"/>
                          <a:cs typeface="Times New Roman" panose="02020603050405020304" pitchFamily="18" charset="0"/>
                        </a:rPr>
                        <a:t>Test Case Description</a:t>
                      </a:r>
                    </a:p>
                  </a:txBody>
                  <a:tcPr marL="101600" marR="101600" marT="63500" marB="63500" anchor="ctr"/>
                </a:tc>
                <a:tc>
                  <a:txBody>
                    <a:bodyPr/>
                    <a:lstStyle/>
                    <a:p>
                      <a:pPr algn="l"/>
                      <a:r>
                        <a:rPr lang="en-US" sz="1500" b="0">
                          <a:effectLst/>
                          <a:latin typeface="Times New Roman" panose="02020603050405020304" pitchFamily="18" charset="0"/>
                          <a:cs typeface="Times New Roman" panose="02020603050405020304" pitchFamily="18" charset="0"/>
                        </a:rPr>
                        <a:t>Test Case Detail</a:t>
                      </a:r>
                    </a:p>
                  </a:txBody>
                  <a:tcPr marL="101600" marR="101600" marT="63500" marB="63500" anchor="ctr"/>
                </a:tc>
                <a:extLst>
                  <a:ext uri="{0D108BD9-81ED-4DB2-BD59-A6C34878D82A}">
                    <a16:rowId xmlns:a16="http://schemas.microsoft.com/office/drawing/2014/main" val="4192368994"/>
                  </a:ext>
                </a:extLst>
              </a:tr>
              <a:tr h="800232">
                <a:tc>
                  <a:txBody>
                    <a:bodyPr/>
                    <a:lstStyle/>
                    <a:p>
                      <a:r>
                        <a:rPr lang="en-US" sz="1500" b="0" dirty="0">
                          <a:effectLst/>
                          <a:latin typeface="Times New Roman" panose="02020603050405020304" pitchFamily="18" charset="0"/>
                          <a:cs typeface="Times New Roman" panose="02020603050405020304" pitchFamily="18" charset="0"/>
                        </a:rPr>
                        <a:t>TC-Web-2.1</a:t>
                      </a:r>
                    </a:p>
                  </a:txBody>
                  <a:tcPr marR="101600" marT="63500" marB="63500" anchor="ctr"/>
                </a:tc>
                <a:tc>
                  <a:txBody>
                    <a:bodyPr/>
                    <a:lstStyle/>
                    <a:p>
                      <a:r>
                        <a:rPr lang="en-US" sz="1500" b="0">
                          <a:effectLst/>
                          <a:latin typeface="Times New Roman" panose="02020603050405020304" pitchFamily="18" charset="0"/>
                          <a:cs typeface="Times New Roman" panose="02020603050405020304" pitchFamily="18" charset="0"/>
                        </a:rPr>
                        <a:t>Verify Niche Validation</a:t>
                      </a:r>
                    </a:p>
                  </a:txBody>
                  <a:tcPr marL="101600" marR="101600" marT="63500" marB="63500" anchor="ctr"/>
                </a:tc>
                <a:tc>
                  <a:txBody>
                    <a:bodyPr/>
                    <a:lstStyle/>
                    <a:p>
                      <a:r>
                        <a:rPr lang="en-GB" sz="1500" b="0">
                          <a:effectLst/>
                          <a:latin typeface="Times New Roman" panose="02020603050405020304" pitchFamily="18" charset="0"/>
                          <a:cs typeface="Times New Roman" panose="02020603050405020304" pitchFamily="18" charset="0"/>
                        </a:rPr>
                        <a:t>User enters niche/topic; system rejects empty or whitespace-only input.</a:t>
                      </a:r>
                    </a:p>
                  </a:txBody>
                  <a:tcPr marL="101600" marR="101600" marT="63500" marB="63500" anchor="ctr"/>
                </a:tc>
                <a:tc>
                  <a:txBody>
                    <a:bodyPr/>
                    <a:lstStyle/>
                    <a:p>
                      <a:r>
                        <a:rPr lang="en-US" sz="1500" b="0">
                          <a:effectLst/>
                          <a:latin typeface="Times New Roman" panose="02020603050405020304" pitchFamily="18" charset="0"/>
                          <a:cs typeface="Times New Roman" panose="02020603050405020304" pitchFamily="18" charset="0"/>
                        </a:rPr>
                        <a:t>UT_2_1_001</a:t>
                      </a:r>
                    </a:p>
                  </a:txBody>
                  <a:tcPr marL="101600" marT="63500" marB="63500" anchor="ctr"/>
                </a:tc>
                <a:extLst>
                  <a:ext uri="{0D108BD9-81ED-4DB2-BD59-A6C34878D82A}">
                    <a16:rowId xmlns:a16="http://schemas.microsoft.com/office/drawing/2014/main" val="510430520"/>
                  </a:ext>
                </a:extLst>
              </a:tr>
              <a:tr h="800232">
                <a:tc>
                  <a:txBody>
                    <a:bodyPr/>
                    <a:lstStyle/>
                    <a:p>
                      <a:r>
                        <a:rPr lang="en-US" sz="1500" b="0" dirty="0">
                          <a:effectLst/>
                          <a:latin typeface="Times New Roman" panose="02020603050405020304" pitchFamily="18" charset="0"/>
                          <a:cs typeface="Times New Roman" panose="02020603050405020304" pitchFamily="18" charset="0"/>
                        </a:rPr>
                        <a:t>TC-Web-2.2</a:t>
                      </a:r>
                    </a:p>
                  </a:txBody>
                  <a:tcPr marR="101600" marT="63500" marB="63500" anchor="ctr"/>
                </a:tc>
                <a:tc>
                  <a:txBody>
                    <a:bodyPr/>
                    <a:lstStyle/>
                    <a:p>
                      <a:r>
                        <a:rPr lang="en-US" sz="1500" b="0">
                          <a:effectLst/>
                          <a:latin typeface="Times New Roman" panose="02020603050405020304" pitchFamily="18" charset="0"/>
                          <a:cs typeface="Times New Roman" panose="02020603050405020304" pitchFamily="18" charset="0"/>
                        </a:rPr>
                        <a:t>Verify AI Prompt Builder</a:t>
                      </a:r>
                    </a:p>
                  </a:txBody>
                  <a:tcPr marL="101600" marR="101600" marT="63500" marB="63500" anchor="ctr"/>
                </a:tc>
                <a:tc>
                  <a:txBody>
                    <a:bodyPr/>
                    <a:lstStyle/>
                    <a:p>
                      <a:r>
                        <a:rPr lang="en-GB" sz="1500" b="0">
                          <a:effectLst/>
                          <a:latin typeface="Times New Roman" panose="02020603050405020304" pitchFamily="18" charset="0"/>
                          <a:cs typeface="Times New Roman" panose="02020603050405020304" pitchFamily="18" charset="0"/>
                        </a:rPr>
                        <a:t>System builds prompt embedding all wizard fields (niche, guest, goal, tone, length, format).</a:t>
                      </a:r>
                    </a:p>
                  </a:txBody>
                  <a:tcPr marL="101600" marR="101600" marT="63500" marB="63500" anchor="ctr"/>
                </a:tc>
                <a:tc>
                  <a:txBody>
                    <a:bodyPr/>
                    <a:lstStyle/>
                    <a:p>
                      <a:r>
                        <a:rPr lang="en-US" sz="1500" b="0" dirty="0">
                          <a:effectLst/>
                          <a:latin typeface="Times New Roman" panose="02020603050405020304" pitchFamily="18" charset="0"/>
                          <a:cs typeface="Times New Roman" panose="02020603050405020304" pitchFamily="18" charset="0"/>
                        </a:rPr>
                        <a:t>UT_2_2_001</a:t>
                      </a:r>
                    </a:p>
                  </a:txBody>
                  <a:tcPr marL="101600" marT="63500" marB="63500" anchor="ctr"/>
                </a:tc>
                <a:extLst>
                  <a:ext uri="{0D108BD9-81ED-4DB2-BD59-A6C34878D82A}">
                    <a16:rowId xmlns:a16="http://schemas.microsoft.com/office/drawing/2014/main" val="19662908"/>
                  </a:ext>
                </a:extLst>
              </a:tr>
              <a:tr h="575167">
                <a:tc>
                  <a:txBody>
                    <a:bodyPr/>
                    <a:lstStyle/>
                    <a:p>
                      <a:r>
                        <a:rPr lang="en-US" sz="1500" b="0" dirty="0">
                          <a:effectLst/>
                          <a:latin typeface="Times New Roman" panose="02020603050405020304" pitchFamily="18" charset="0"/>
                          <a:cs typeface="Times New Roman" panose="02020603050405020304" pitchFamily="18" charset="0"/>
                        </a:rPr>
                        <a:t>TC-Web-2.3</a:t>
                      </a:r>
                    </a:p>
                  </a:txBody>
                  <a:tcPr marR="101600" marT="63500" marB="63500" anchor="ctr"/>
                </a:tc>
                <a:tc>
                  <a:txBody>
                    <a:bodyPr/>
                    <a:lstStyle/>
                    <a:p>
                      <a:r>
                        <a:rPr lang="en-GB" sz="1500" b="0">
                          <a:effectLst/>
                          <a:latin typeface="Times New Roman" panose="02020603050405020304" pitchFamily="18" charset="0"/>
                          <a:cs typeface="Times New Roman" panose="02020603050405020304" pitchFamily="18" charset="0"/>
                        </a:rPr>
                        <a:t>Verify Episode Creation Step 1</a:t>
                      </a:r>
                    </a:p>
                  </a:txBody>
                  <a:tcPr marL="101600" marR="101600" marT="63500" marB="63500" anchor="ctr"/>
                </a:tc>
                <a:tc>
                  <a:txBody>
                    <a:bodyPr/>
                    <a:lstStyle/>
                    <a:p>
                      <a:r>
                        <a:rPr lang="en-GB" sz="1500" b="0">
                          <a:effectLst/>
                          <a:latin typeface="Times New Roman" panose="02020603050405020304" pitchFamily="18" charset="0"/>
                          <a:cs typeface="Times New Roman" panose="02020603050405020304" pitchFamily="18" charset="0"/>
                        </a:rPr>
                        <a:t>User enters niche and selects goal; system advances to step 2.</a:t>
                      </a:r>
                    </a:p>
                  </a:txBody>
                  <a:tcPr marL="101600" marR="101600" marT="63500" marB="63500" anchor="ctr"/>
                </a:tc>
                <a:tc>
                  <a:txBody>
                    <a:bodyPr/>
                    <a:lstStyle/>
                    <a:p>
                      <a:r>
                        <a:rPr lang="en-US" sz="1500" b="0">
                          <a:effectLst/>
                          <a:latin typeface="Times New Roman" panose="02020603050405020304" pitchFamily="18" charset="0"/>
                          <a:cs typeface="Times New Roman" panose="02020603050405020304" pitchFamily="18" charset="0"/>
                        </a:rPr>
                        <a:t>FT-3 (Case 1)</a:t>
                      </a:r>
                    </a:p>
                  </a:txBody>
                  <a:tcPr marL="101600" marT="63500" marB="63500" anchor="ctr"/>
                </a:tc>
                <a:extLst>
                  <a:ext uri="{0D108BD9-81ED-4DB2-BD59-A6C34878D82A}">
                    <a16:rowId xmlns:a16="http://schemas.microsoft.com/office/drawing/2014/main" val="3677525097"/>
                  </a:ext>
                </a:extLst>
              </a:tr>
              <a:tr h="575167">
                <a:tc>
                  <a:txBody>
                    <a:bodyPr/>
                    <a:lstStyle/>
                    <a:p>
                      <a:r>
                        <a:rPr lang="en-US" sz="1500" b="0">
                          <a:effectLst/>
                          <a:latin typeface="Times New Roman" panose="02020603050405020304" pitchFamily="18" charset="0"/>
                          <a:cs typeface="Times New Roman" panose="02020603050405020304" pitchFamily="18" charset="0"/>
                        </a:rPr>
                        <a:t>TC-Web-2.4</a:t>
                      </a:r>
                    </a:p>
                  </a:txBody>
                  <a:tcPr marR="101600" marT="63500" marB="63500" anchor="ctr"/>
                </a:tc>
                <a:tc>
                  <a:txBody>
                    <a:bodyPr/>
                    <a:lstStyle/>
                    <a:p>
                      <a:r>
                        <a:rPr lang="en-GB" sz="1500" b="0">
                          <a:effectLst/>
                          <a:latin typeface="Times New Roman" panose="02020603050405020304" pitchFamily="18" charset="0"/>
                          <a:cs typeface="Times New Roman" panose="02020603050405020304" pitchFamily="18" charset="0"/>
                        </a:rPr>
                        <a:t>Verify Episode Creation with Empty Niche</a:t>
                      </a:r>
                    </a:p>
                  </a:txBody>
                  <a:tcPr marL="101600" marR="101600" marT="63500" marB="63500" anchor="ctr"/>
                </a:tc>
                <a:tc>
                  <a:txBody>
                    <a:bodyPr/>
                    <a:lstStyle/>
                    <a:p>
                      <a:r>
                        <a:rPr lang="en-GB" sz="1500" b="0">
                          <a:effectLst/>
                          <a:latin typeface="Times New Roman" panose="02020603050405020304" pitchFamily="18" charset="0"/>
                          <a:cs typeface="Times New Roman" panose="02020603050405020304" pitchFamily="18" charset="0"/>
                        </a:rPr>
                        <a:t>User leaves niche empty; system shows validation alert.</a:t>
                      </a:r>
                    </a:p>
                  </a:txBody>
                  <a:tcPr marL="101600" marR="101600" marT="63500" marB="63500" anchor="ctr"/>
                </a:tc>
                <a:tc>
                  <a:txBody>
                    <a:bodyPr/>
                    <a:lstStyle/>
                    <a:p>
                      <a:r>
                        <a:rPr lang="en-US" sz="1500" b="0">
                          <a:effectLst/>
                          <a:latin typeface="Times New Roman" panose="02020603050405020304" pitchFamily="18" charset="0"/>
                          <a:cs typeface="Times New Roman" panose="02020603050405020304" pitchFamily="18" charset="0"/>
                        </a:rPr>
                        <a:t>FT-3 (Case 2)</a:t>
                      </a:r>
                    </a:p>
                  </a:txBody>
                  <a:tcPr marL="101600" marT="63500" marB="63500" anchor="ctr"/>
                </a:tc>
                <a:extLst>
                  <a:ext uri="{0D108BD9-81ED-4DB2-BD59-A6C34878D82A}">
                    <a16:rowId xmlns:a16="http://schemas.microsoft.com/office/drawing/2014/main" val="2446597130"/>
                  </a:ext>
                </a:extLst>
              </a:tr>
              <a:tr h="575167">
                <a:tc>
                  <a:txBody>
                    <a:bodyPr/>
                    <a:lstStyle/>
                    <a:p>
                      <a:r>
                        <a:rPr lang="en-US" sz="1500" b="0" dirty="0">
                          <a:effectLst/>
                          <a:latin typeface="Times New Roman" panose="02020603050405020304" pitchFamily="18" charset="0"/>
                          <a:cs typeface="Times New Roman" panose="02020603050405020304" pitchFamily="18" charset="0"/>
                        </a:rPr>
                        <a:t>TC-Web-2.5</a:t>
                      </a:r>
                    </a:p>
                  </a:txBody>
                  <a:tcPr marR="101600" marT="63500" marB="63500" anchor="ctr"/>
                </a:tc>
                <a:tc>
                  <a:txBody>
                    <a:bodyPr/>
                    <a:lstStyle/>
                    <a:p>
                      <a:r>
                        <a:rPr lang="en-GB" sz="1500" b="0">
                          <a:effectLst/>
                          <a:latin typeface="Times New Roman" panose="02020603050405020304" pitchFamily="18" charset="0"/>
                          <a:cs typeface="Times New Roman" panose="02020603050405020304" pitchFamily="18" charset="0"/>
                        </a:rPr>
                        <a:t>Verify Episode Creation Step 2</a:t>
                      </a:r>
                    </a:p>
                  </a:txBody>
                  <a:tcPr marL="101600" marR="101600" marT="63500" marB="63500" anchor="ctr"/>
                </a:tc>
                <a:tc>
                  <a:txBody>
                    <a:bodyPr/>
                    <a:lstStyle/>
                    <a:p>
                      <a:r>
                        <a:rPr lang="en-GB" sz="1500" b="0">
                          <a:effectLst/>
                          <a:latin typeface="Times New Roman" panose="02020603050405020304" pitchFamily="18" charset="0"/>
                          <a:cs typeface="Times New Roman" panose="02020603050405020304" pitchFamily="18" charset="0"/>
                        </a:rPr>
                        <a:t>User picks tone, length, format; system advances to step 3.</a:t>
                      </a:r>
                    </a:p>
                  </a:txBody>
                  <a:tcPr marL="101600" marR="101600" marT="63500" marB="63500" anchor="ctr"/>
                </a:tc>
                <a:tc>
                  <a:txBody>
                    <a:bodyPr/>
                    <a:lstStyle/>
                    <a:p>
                      <a:r>
                        <a:rPr lang="en-US" sz="1500" b="0">
                          <a:effectLst/>
                          <a:latin typeface="Times New Roman" panose="02020603050405020304" pitchFamily="18" charset="0"/>
                          <a:cs typeface="Times New Roman" panose="02020603050405020304" pitchFamily="18" charset="0"/>
                        </a:rPr>
                        <a:t>FT-3 (Case 3)</a:t>
                      </a:r>
                    </a:p>
                  </a:txBody>
                  <a:tcPr marL="101600" marT="63500" marB="63500" anchor="ctr"/>
                </a:tc>
                <a:extLst>
                  <a:ext uri="{0D108BD9-81ED-4DB2-BD59-A6C34878D82A}">
                    <a16:rowId xmlns:a16="http://schemas.microsoft.com/office/drawing/2014/main" val="1505151185"/>
                  </a:ext>
                </a:extLst>
              </a:tr>
              <a:tr h="800232">
                <a:tc>
                  <a:txBody>
                    <a:bodyPr/>
                    <a:lstStyle/>
                    <a:p>
                      <a:r>
                        <a:rPr lang="en-US" sz="1500" b="0">
                          <a:effectLst/>
                          <a:latin typeface="Times New Roman" panose="02020603050405020304" pitchFamily="18" charset="0"/>
                          <a:cs typeface="Times New Roman" panose="02020603050405020304" pitchFamily="18" charset="0"/>
                        </a:rPr>
                        <a:t>TC-Web-2.6</a:t>
                      </a:r>
                    </a:p>
                  </a:txBody>
                  <a:tcPr marR="101600" marT="63500" marB="63500" anchor="ctr"/>
                </a:tc>
                <a:tc>
                  <a:txBody>
                    <a:bodyPr/>
                    <a:lstStyle/>
                    <a:p>
                      <a:r>
                        <a:rPr lang="en-US" sz="1500" b="0">
                          <a:effectLst/>
                          <a:latin typeface="Times New Roman" panose="02020603050405020304" pitchFamily="18" charset="0"/>
                          <a:cs typeface="Times New Roman" panose="02020603050405020304" pitchFamily="18" charset="0"/>
                        </a:rPr>
                        <a:t>Verify Full Episode Generation</a:t>
                      </a:r>
                    </a:p>
                  </a:txBody>
                  <a:tcPr marL="101600" marR="101600" marT="63500" marB="63500" anchor="ctr"/>
                </a:tc>
                <a:tc>
                  <a:txBody>
                    <a:bodyPr/>
                    <a:lstStyle/>
                    <a:p>
                      <a:r>
                        <a:rPr lang="en-GB" sz="1500" b="0">
                          <a:effectLst/>
                          <a:latin typeface="Times New Roman" panose="02020603050405020304" pitchFamily="18" charset="0"/>
                          <a:cs typeface="Times New Roman" panose="02020603050405020304" pitchFamily="18" charset="0"/>
                        </a:rPr>
                        <a:t>User reviews summary and taps Generate; system displays results with all tabs.</a:t>
                      </a:r>
                    </a:p>
                  </a:txBody>
                  <a:tcPr marL="101600" marR="101600" marT="63500" marB="63500" anchor="ctr"/>
                </a:tc>
                <a:tc>
                  <a:txBody>
                    <a:bodyPr/>
                    <a:lstStyle/>
                    <a:p>
                      <a:r>
                        <a:rPr lang="en-US" sz="1500" b="0">
                          <a:effectLst/>
                          <a:latin typeface="Times New Roman" panose="02020603050405020304" pitchFamily="18" charset="0"/>
                          <a:cs typeface="Times New Roman" panose="02020603050405020304" pitchFamily="18" charset="0"/>
                        </a:rPr>
                        <a:t>FT-3 (Case 4)</a:t>
                      </a:r>
                    </a:p>
                  </a:txBody>
                  <a:tcPr marL="101600" marT="63500" marB="63500" anchor="ctr"/>
                </a:tc>
                <a:extLst>
                  <a:ext uri="{0D108BD9-81ED-4DB2-BD59-A6C34878D82A}">
                    <a16:rowId xmlns:a16="http://schemas.microsoft.com/office/drawing/2014/main" val="3647045683"/>
                  </a:ext>
                </a:extLst>
              </a:tr>
              <a:tr h="800232">
                <a:tc>
                  <a:txBody>
                    <a:bodyPr/>
                    <a:lstStyle/>
                    <a:p>
                      <a:r>
                        <a:rPr lang="en-US" sz="1500" b="0">
                          <a:effectLst/>
                          <a:latin typeface="Times New Roman" panose="02020603050405020304" pitchFamily="18" charset="0"/>
                          <a:cs typeface="Times New Roman" panose="02020603050405020304" pitchFamily="18" charset="0"/>
                        </a:rPr>
                        <a:t>TC-Web-2.7</a:t>
                      </a:r>
                    </a:p>
                  </a:txBody>
                  <a:tcPr marR="101600" marT="63500" marB="63500" anchor="ctr"/>
                </a:tc>
                <a:tc>
                  <a:txBody>
                    <a:bodyPr/>
                    <a:lstStyle/>
                    <a:p>
                      <a:r>
                        <a:rPr lang="en-US" sz="1500" b="0">
                          <a:effectLst/>
                          <a:latin typeface="Times New Roman" panose="02020603050405020304" pitchFamily="18" charset="0"/>
                          <a:cs typeface="Times New Roman" panose="02020603050405020304" pitchFamily="18" charset="0"/>
                        </a:rPr>
                        <a:t>Verify Drafts Library</a:t>
                      </a:r>
                    </a:p>
                  </a:txBody>
                  <a:tcPr marL="101600" marR="101600" marT="63500" marB="63500" anchor="ctr"/>
                </a:tc>
                <a:tc>
                  <a:txBody>
                    <a:bodyPr/>
                    <a:lstStyle/>
                    <a:p>
                      <a:r>
                        <a:rPr lang="en-GB" sz="1500" b="0">
                          <a:effectLst/>
                          <a:latin typeface="Times New Roman" panose="02020603050405020304" pitchFamily="18" charset="0"/>
                          <a:cs typeface="Times New Roman" panose="02020603050405020304" pitchFamily="18" charset="0"/>
                        </a:rPr>
                        <a:t>User opens Drafts tab; saved episodes listed by creation date descending.</a:t>
                      </a:r>
                    </a:p>
                  </a:txBody>
                  <a:tcPr marL="101600" marR="101600" marT="63500" marB="63500" anchor="ctr"/>
                </a:tc>
                <a:tc>
                  <a:txBody>
                    <a:bodyPr/>
                    <a:lstStyle/>
                    <a:p>
                      <a:r>
                        <a:rPr lang="en-US" sz="1500" b="0">
                          <a:effectLst/>
                          <a:latin typeface="Times New Roman" panose="02020603050405020304" pitchFamily="18" charset="0"/>
                          <a:cs typeface="Times New Roman" panose="02020603050405020304" pitchFamily="18" charset="0"/>
                        </a:rPr>
                        <a:t>FT-5 (Case 1)</a:t>
                      </a:r>
                    </a:p>
                  </a:txBody>
                  <a:tcPr marL="101600" marT="63500" marB="63500" anchor="ctr"/>
                </a:tc>
                <a:extLst>
                  <a:ext uri="{0D108BD9-81ED-4DB2-BD59-A6C34878D82A}">
                    <a16:rowId xmlns:a16="http://schemas.microsoft.com/office/drawing/2014/main" val="985107625"/>
                  </a:ext>
                </a:extLst>
              </a:tr>
              <a:tr h="800232">
                <a:tc>
                  <a:txBody>
                    <a:bodyPr/>
                    <a:lstStyle/>
                    <a:p>
                      <a:r>
                        <a:rPr lang="en-US" sz="1500" b="0">
                          <a:effectLst/>
                          <a:latin typeface="Times New Roman" panose="02020603050405020304" pitchFamily="18" charset="0"/>
                          <a:cs typeface="Times New Roman" panose="02020603050405020304" pitchFamily="18" charset="0"/>
                        </a:rPr>
                        <a:t>TC-Web-2.8</a:t>
                      </a:r>
                    </a:p>
                  </a:txBody>
                  <a:tcPr marR="101600" marT="63500" marB="63500" anchor="ctr"/>
                </a:tc>
                <a:tc>
                  <a:txBody>
                    <a:bodyPr/>
                    <a:lstStyle/>
                    <a:p>
                      <a:r>
                        <a:rPr lang="en-US" sz="1500" b="0">
                          <a:effectLst/>
                          <a:latin typeface="Times New Roman" panose="02020603050405020304" pitchFamily="18" charset="0"/>
                          <a:cs typeface="Times New Roman" panose="02020603050405020304" pitchFamily="18" charset="0"/>
                        </a:rPr>
                        <a:t>Verify Delete Draft</a:t>
                      </a:r>
                    </a:p>
                  </a:txBody>
                  <a:tcPr marL="101600" marR="101600" marT="63500" marB="63500" anchor="ctr"/>
                </a:tc>
                <a:tc>
                  <a:txBody>
                    <a:bodyPr/>
                    <a:lstStyle/>
                    <a:p>
                      <a:r>
                        <a:rPr lang="en-GB" sz="1500" b="0">
                          <a:effectLst/>
                          <a:latin typeface="Times New Roman" panose="02020603050405020304" pitchFamily="18" charset="0"/>
                          <a:cs typeface="Times New Roman" panose="02020603050405020304" pitchFamily="18" charset="0"/>
                        </a:rPr>
                        <a:t>User long-presses draft card; system shows confirmation and removes draft.</a:t>
                      </a:r>
                    </a:p>
                  </a:txBody>
                  <a:tcPr marL="101600" marR="101600" marT="63500" marB="63500" anchor="ctr"/>
                </a:tc>
                <a:tc>
                  <a:txBody>
                    <a:bodyPr/>
                    <a:lstStyle/>
                    <a:p>
                      <a:r>
                        <a:rPr lang="en-US" sz="1500" b="0">
                          <a:effectLst/>
                          <a:latin typeface="Times New Roman" panose="02020603050405020304" pitchFamily="18" charset="0"/>
                          <a:cs typeface="Times New Roman" panose="02020603050405020304" pitchFamily="18" charset="0"/>
                        </a:rPr>
                        <a:t>FT-5 (Case 2)</a:t>
                      </a:r>
                    </a:p>
                  </a:txBody>
                  <a:tcPr marL="101600" marT="63500" marB="63500" anchor="ctr"/>
                </a:tc>
                <a:extLst>
                  <a:ext uri="{0D108BD9-81ED-4DB2-BD59-A6C34878D82A}">
                    <a16:rowId xmlns:a16="http://schemas.microsoft.com/office/drawing/2014/main" val="806888567"/>
                  </a:ext>
                </a:extLst>
              </a:tr>
              <a:tr h="575167">
                <a:tc>
                  <a:txBody>
                    <a:bodyPr/>
                    <a:lstStyle/>
                    <a:p>
                      <a:r>
                        <a:rPr lang="en-US" sz="1500" b="0">
                          <a:effectLst/>
                          <a:latin typeface="Times New Roman" panose="02020603050405020304" pitchFamily="18" charset="0"/>
                          <a:cs typeface="Times New Roman" panose="02020603050405020304" pitchFamily="18" charset="0"/>
                        </a:rPr>
                        <a:t>TC-Web-2.9</a:t>
                      </a:r>
                    </a:p>
                  </a:txBody>
                  <a:tcPr marR="101600" marT="63500" marB="63500" anchor="ctr"/>
                </a:tc>
                <a:tc>
                  <a:txBody>
                    <a:bodyPr/>
                    <a:lstStyle/>
                    <a:p>
                      <a:r>
                        <a:rPr lang="en-US" sz="1500" b="0">
                          <a:effectLst/>
                          <a:latin typeface="Times New Roman" panose="02020603050405020304" pitchFamily="18" charset="0"/>
                          <a:cs typeface="Times New Roman" panose="02020603050405020304" pitchFamily="18" charset="0"/>
                        </a:rPr>
                        <a:t>Verify Refresh Drafts</a:t>
                      </a:r>
                    </a:p>
                  </a:txBody>
                  <a:tcPr marL="101600" marR="101600" marT="63500" marB="63500" anchor="ctr"/>
                </a:tc>
                <a:tc>
                  <a:txBody>
                    <a:bodyPr/>
                    <a:lstStyle/>
                    <a:p>
                      <a:r>
                        <a:rPr lang="en-GB" sz="1500" b="0">
                          <a:effectLst/>
                          <a:latin typeface="Times New Roman" panose="02020603050405020304" pitchFamily="18" charset="0"/>
                          <a:cs typeface="Times New Roman" panose="02020603050405020304" pitchFamily="18" charset="0"/>
                        </a:rPr>
                        <a:t>User pulls down to refresh; list refreshes from API.</a:t>
                      </a:r>
                    </a:p>
                  </a:txBody>
                  <a:tcPr marL="101600" marR="101600" marT="63500" marB="63500" anchor="ctr"/>
                </a:tc>
                <a:tc>
                  <a:txBody>
                    <a:bodyPr/>
                    <a:lstStyle/>
                    <a:p>
                      <a:r>
                        <a:rPr lang="en-US" sz="1500" b="0" dirty="0">
                          <a:effectLst/>
                          <a:latin typeface="Times New Roman" panose="02020603050405020304" pitchFamily="18" charset="0"/>
                          <a:cs typeface="Times New Roman" panose="02020603050405020304" pitchFamily="18" charset="0"/>
                        </a:rPr>
                        <a:t>FT-5 (Case 3)</a:t>
                      </a:r>
                    </a:p>
                  </a:txBody>
                  <a:tcPr marL="101600" marT="63500" marB="63500" anchor="ctr"/>
                </a:tc>
                <a:extLst>
                  <a:ext uri="{0D108BD9-81ED-4DB2-BD59-A6C34878D82A}">
                    <a16:rowId xmlns:a16="http://schemas.microsoft.com/office/drawing/2014/main" val="1974063636"/>
                  </a:ext>
                </a:extLst>
              </a:tr>
            </a:tbl>
          </a:graphicData>
        </a:graphic>
      </p:graphicFrame>
    </p:spTree>
    <p:extLst>
      <p:ext uri="{BB962C8B-B14F-4D97-AF65-F5344CB8AC3E}">
        <p14:creationId xmlns:p14="http://schemas.microsoft.com/office/powerpoint/2010/main" val="10247086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u="sng" dirty="0">
                <a:latin typeface="Times New Roman" panose="02020603050405020304" pitchFamily="18" charset="0"/>
                <a:cs typeface="Times New Roman" panose="02020603050405020304" pitchFamily="18" charset="0"/>
              </a:rPr>
              <a:t>Module 3: Topic Research, Question, Hook &amp; Outline Generation (AI Agent Pipeline)</a:t>
            </a:r>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white"/>
                </a:solidFill>
              </a:rPr>
              <a:pPr/>
              <a:t>80</a:t>
            </a:fld>
            <a:endParaRPr lang="en-US" dirty="0">
              <a:solidFill>
                <a:prstClr val="white"/>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695994886"/>
              </p:ext>
            </p:extLst>
          </p:nvPr>
        </p:nvGraphicFramePr>
        <p:xfrm>
          <a:off x="1443566" y="2230686"/>
          <a:ext cx="14249400" cy="6456113"/>
        </p:xfrm>
        <a:graphic>
          <a:graphicData uri="http://schemas.openxmlformats.org/drawingml/2006/table">
            <a:tbl>
              <a:tblPr firstRow="1" bandRow="1">
                <a:tableStyleId>{5C22544A-7EE6-4342-B048-85BDC9FD1C3A}</a:tableStyleId>
              </a:tblPr>
              <a:tblGrid>
                <a:gridCol w="3562350">
                  <a:extLst>
                    <a:ext uri="{9D8B030D-6E8A-4147-A177-3AD203B41FA5}">
                      <a16:colId xmlns:a16="http://schemas.microsoft.com/office/drawing/2014/main" val="1588435962"/>
                    </a:ext>
                  </a:extLst>
                </a:gridCol>
                <a:gridCol w="3562350">
                  <a:extLst>
                    <a:ext uri="{9D8B030D-6E8A-4147-A177-3AD203B41FA5}">
                      <a16:colId xmlns:a16="http://schemas.microsoft.com/office/drawing/2014/main" val="2232082716"/>
                    </a:ext>
                  </a:extLst>
                </a:gridCol>
                <a:gridCol w="3562350">
                  <a:extLst>
                    <a:ext uri="{9D8B030D-6E8A-4147-A177-3AD203B41FA5}">
                      <a16:colId xmlns:a16="http://schemas.microsoft.com/office/drawing/2014/main" val="2329357753"/>
                    </a:ext>
                  </a:extLst>
                </a:gridCol>
                <a:gridCol w="3562350">
                  <a:extLst>
                    <a:ext uri="{9D8B030D-6E8A-4147-A177-3AD203B41FA5}">
                      <a16:colId xmlns:a16="http://schemas.microsoft.com/office/drawing/2014/main" val="268992344"/>
                    </a:ext>
                  </a:extLst>
                </a:gridCol>
              </a:tblGrid>
              <a:tr h="391117">
                <a:tc>
                  <a:txBody>
                    <a:bodyPr/>
                    <a:lstStyle/>
                    <a:p>
                      <a:pPr algn="l"/>
                      <a:r>
                        <a:rPr lang="en-US" sz="1400" b="0" dirty="0">
                          <a:effectLst/>
                          <a:latin typeface="Times New Roman" panose="02020603050405020304" pitchFamily="18" charset="0"/>
                          <a:cs typeface="Times New Roman" panose="02020603050405020304" pitchFamily="18" charset="0"/>
                        </a:rPr>
                        <a:t>Test Case Id</a:t>
                      </a:r>
                    </a:p>
                  </a:txBody>
                  <a:tcPr marR="101600" marT="63500" marB="63500" anchor="ctr"/>
                </a:tc>
                <a:tc>
                  <a:txBody>
                    <a:bodyPr/>
                    <a:lstStyle/>
                    <a:p>
                      <a:pPr algn="l"/>
                      <a:r>
                        <a:rPr lang="en-US" sz="1400" b="0">
                          <a:effectLst/>
                          <a:latin typeface="Times New Roman" panose="02020603050405020304" pitchFamily="18" charset="0"/>
                          <a:cs typeface="Times New Roman" panose="02020603050405020304" pitchFamily="18" charset="0"/>
                        </a:rPr>
                        <a:t>Test Case Title</a:t>
                      </a:r>
                    </a:p>
                  </a:txBody>
                  <a:tcPr marL="101600" marR="101600" marT="63500" marB="63500" anchor="ctr"/>
                </a:tc>
                <a:tc>
                  <a:txBody>
                    <a:bodyPr/>
                    <a:lstStyle/>
                    <a:p>
                      <a:pPr algn="l"/>
                      <a:r>
                        <a:rPr lang="en-US" sz="1400" b="0">
                          <a:effectLst/>
                          <a:latin typeface="Times New Roman" panose="02020603050405020304" pitchFamily="18" charset="0"/>
                          <a:cs typeface="Times New Roman" panose="02020603050405020304" pitchFamily="18" charset="0"/>
                        </a:rPr>
                        <a:t>Test Case Description</a:t>
                      </a:r>
                    </a:p>
                  </a:txBody>
                  <a:tcPr marL="101600" marR="101600" marT="63500" marB="63500" anchor="ctr"/>
                </a:tc>
                <a:tc>
                  <a:txBody>
                    <a:bodyPr/>
                    <a:lstStyle/>
                    <a:p>
                      <a:pPr algn="l"/>
                      <a:r>
                        <a:rPr lang="en-US" sz="1400" b="0">
                          <a:effectLst/>
                          <a:latin typeface="Times New Roman" panose="02020603050405020304" pitchFamily="18" charset="0"/>
                          <a:cs typeface="Times New Roman" panose="02020603050405020304" pitchFamily="18" charset="0"/>
                        </a:rPr>
                        <a:t>Test Case Detail</a:t>
                      </a:r>
                    </a:p>
                  </a:txBody>
                  <a:tcPr marL="101600" marR="101600" marT="63500" marB="63500" anchor="ctr"/>
                </a:tc>
                <a:extLst>
                  <a:ext uri="{0D108BD9-81ED-4DB2-BD59-A6C34878D82A}">
                    <a16:rowId xmlns:a16="http://schemas.microsoft.com/office/drawing/2014/main" val="2380615955"/>
                  </a:ext>
                </a:extLst>
              </a:tr>
              <a:tr h="583997">
                <a:tc>
                  <a:txBody>
                    <a:bodyPr/>
                    <a:lstStyle/>
                    <a:p>
                      <a:r>
                        <a:rPr lang="en-US" sz="1400" b="0">
                          <a:effectLst/>
                          <a:latin typeface="Times New Roman" panose="02020603050405020304" pitchFamily="18" charset="0"/>
                          <a:cs typeface="Times New Roman" panose="02020603050405020304" pitchFamily="18" charset="0"/>
                        </a:rPr>
                        <a:t>TC-Web-3.1</a:t>
                      </a:r>
                    </a:p>
                  </a:txBody>
                  <a:tcPr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Verify JSON Extraction</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System strips Markdown fences and parses JSON from LLM response.</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UT_3_1_001</a:t>
                      </a:r>
                    </a:p>
                  </a:txBody>
                  <a:tcPr marL="101600" marT="63500" marB="63500" anchor="ctr"/>
                </a:tc>
                <a:extLst>
                  <a:ext uri="{0D108BD9-81ED-4DB2-BD59-A6C34878D82A}">
                    <a16:rowId xmlns:a16="http://schemas.microsoft.com/office/drawing/2014/main" val="2149232201"/>
                  </a:ext>
                </a:extLst>
              </a:tr>
              <a:tr h="583997">
                <a:tc>
                  <a:txBody>
                    <a:bodyPr/>
                    <a:lstStyle/>
                    <a:p>
                      <a:r>
                        <a:rPr lang="en-US" sz="1400" b="0">
                          <a:effectLst/>
                          <a:latin typeface="Times New Roman" panose="02020603050405020304" pitchFamily="18" charset="0"/>
                          <a:cs typeface="Times New Roman" panose="02020603050405020304" pitchFamily="18" charset="0"/>
                        </a:rPr>
                        <a:t>TC-Web-3.2</a:t>
                      </a:r>
                    </a:p>
                  </a:txBody>
                  <a:tcPr marR="101600" marT="63500" marB="63500" anchor="ctr"/>
                </a:tc>
                <a:tc>
                  <a:txBody>
                    <a:bodyPr/>
                    <a:lstStyle/>
                    <a:p>
                      <a:r>
                        <a:rPr lang="en-US" sz="1400" b="0" dirty="0">
                          <a:effectLst/>
                          <a:latin typeface="Times New Roman" panose="02020603050405020304" pitchFamily="18" charset="0"/>
                          <a:cs typeface="Times New Roman" panose="02020603050405020304" pitchFamily="18" charset="0"/>
                        </a:rPr>
                        <a:t>Verify Timestamp Distribution</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System produces N ascending mm:00 markers across episode duration.</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UT_3_2_001</a:t>
                      </a:r>
                    </a:p>
                  </a:txBody>
                  <a:tcPr marL="101600" marT="63500" marB="63500" anchor="ctr"/>
                </a:tc>
                <a:extLst>
                  <a:ext uri="{0D108BD9-81ED-4DB2-BD59-A6C34878D82A}">
                    <a16:rowId xmlns:a16="http://schemas.microsoft.com/office/drawing/2014/main" val="2077815090"/>
                  </a:ext>
                </a:extLst>
              </a:tr>
              <a:tr h="583997">
                <a:tc>
                  <a:txBody>
                    <a:bodyPr/>
                    <a:lstStyle/>
                    <a:p>
                      <a:r>
                        <a:rPr lang="en-US" sz="1400" b="0">
                          <a:effectLst/>
                          <a:latin typeface="Times New Roman" panose="02020603050405020304" pitchFamily="18" charset="0"/>
                          <a:cs typeface="Times New Roman" panose="02020603050405020304" pitchFamily="18" charset="0"/>
                        </a:rPr>
                        <a:t>TC-Web-3.3</a:t>
                      </a:r>
                    </a:p>
                  </a:txBody>
                  <a:tcPr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Verify Hook Ranking</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System orders hook objects by descending text length.</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UT_3_3_001</a:t>
                      </a:r>
                    </a:p>
                  </a:txBody>
                  <a:tcPr marL="101600" marT="63500" marB="63500" anchor="ctr"/>
                </a:tc>
                <a:extLst>
                  <a:ext uri="{0D108BD9-81ED-4DB2-BD59-A6C34878D82A}">
                    <a16:rowId xmlns:a16="http://schemas.microsoft.com/office/drawing/2014/main" val="4208550726"/>
                  </a:ext>
                </a:extLst>
              </a:tr>
              <a:tr h="583997">
                <a:tc>
                  <a:txBody>
                    <a:bodyPr/>
                    <a:lstStyle/>
                    <a:p>
                      <a:r>
                        <a:rPr lang="en-US" sz="1400" b="0" dirty="0">
                          <a:effectLst/>
                          <a:latin typeface="Times New Roman" panose="02020603050405020304" pitchFamily="18" charset="0"/>
                          <a:cs typeface="Times New Roman" panose="02020603050405020304" pitchFamily="18" charset="0"/>
                        </a:rPr>
                        <a:t>TC-Web-3.4</a:t>
                      </a:r>
                    </a:p>
                  </a:txBody>
                  <a:tcPr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Verify TXT Export</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System renders episode title and outline sections with duration and purpose.</a:t>
                      </a:r>
                    </a:p>
                  </a:txBody>
                  <a:tcPr marL="101600" marR="101600" marT="63500" marB="63500" anchor="ctr"/>
                </a:tc>
                <a:tc>
                  <a:txBody>
                    <a:bodyPr/>
                    <a:lstStyle/>
                    <a:p>
                      <a:r>
                        <a:rPr lang="en-US" sz="1400" b="0" dirty="0">
                          <a:effectLst/>
                          <a:latin typeface="Times New Roman" panose="02020603050405020304" pitchFamily="18" charset="0"/>
                          <a:cs typeface="Times New Roman" panose="02020603050405020304" pitchFamily="18" charset="0"/>
                        </a:rPr>
                        <a:t>UT_3_4_001</a:t>
                      </a:r>
                    </a:p>
                  </a:txBody>
                  <a:tcPr marL="101600" marT="63500" marB="63500" anchor="ctr"/>
                </a:tc>
                <a:extLst>
                  <a:ext uri="{0D108BD9-81ED-4DB2-BD59-A6C34878D82A}">
                    <a16:rowId xmlns:a16="http://schemas.microsoft.com/office/drawing/2014/main" val="2635597493"/>
                  </a:ext>
                </a:extLst>
              </a:tr>
              <a:tr h="809023">
                <a:tc>
                  <a:txBody>
                    <a:bodyPr/>
                    <a:lstStyle/>
                    <a:p>
                      <a:r>
                        <a:rPr lang="en-US" sz="1400" b="0">
                          <a:effectLst/>
                          <a:latin typeface="Times New Roman" panose="02020603050405020304" pitchFamily="18" charset="0"/>
                          <a:cs typeface="Times New Roman" panose="02020603050405020304" pitchFamily="18" charset="0"/>
                        </a:rPr>
                        <a:t>TC-Web-3.5</a:t>
                      </a:r>
                    </a:p>
                  </a:txBody>
                  <a:tcPr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Verify Results Screen Tabs</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User taps each pill tab (Topics, Questions, Hooks, Outline, Timestamps); content swaps correctly.</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FT-4 (Case 1)</a:t>
                      </a:r>
                    </a:p>
                  </a:txBody>
                  <a:tcPr marL="101600" marT="63500" marB="63500" anchor="ctr"/>
                </a:tc>
                <a:extLst>
                  <a:ext uri="{0D108BD9-81ED-4DB2-BD59-A6C34878D82A}">
                    <a16:rowId xmlns:a16="http://schemas.microsoft.com/office/drawing/2014/main" val="2697918745"/>
                  </a:ext>
                </a:extLst>
              </a:tr>
              <a:tr h="583997">
                <a:tc>
                  <a:txBody>
                    <a:bodyPr/>
                    <a:lstStyle/>
                    <a:p>
                      <a:r>
                        <a:rPr lang="en-US" sz="1400" b="0">
                          <a:effectLst/>
                          <a:latin typeface="Times New Roman" panose="02020603050405020304" pitchFamily="18" charset="0"/>
                          <a:cs typeface="Times New Roman" panose="02020603050405020304" pitchFamily="18" charset="0"/>
                        </a:rPr>
                        <a:t>TC-Web-3.6</a:t>
                      </a:r>
                    </a:p>
                  </a:txBody>
                  <a:tcPr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Verify Regenerate Hooks</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User taps Regenerate on Hooks tab; only hooks array changes; other sections preserved.</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FT-4 (Case 2)</a:t>
                      </a:r>
                    </a:p>
                  </a:txBody>
                  <a:tcPr marL="101600" marT="63500" marB="63500" anchor="ctr"/>
                </a:tc>
                <a:extLst>
                  <a:ext uri="{0D108BD9-81ED-4DB2-BD59-A6C34878D82A}">
                    <a16:rowId xmlns:a16="http://schemas.microsoft.com/office/drawing/2014/main" val="3128927396"/>
                  </a:ext>
                </a:extLst>
              </a:tr>
              <a:tr h="583997">
                <a:tc>
                  <a:txBody>
                    <a:bodyPr/>
                    <a:lstStyle/>
                    <a:p>
                      <a:r>
                        <a:rPr lang="en-US" sz="1400" b="0">
                          <a:effectLst/>
                          <a:latin typeface="Times New Roman" panose="02020603050405020304" pitchFamily="18" charset="0"/>
                          <a:cs typeface="Times New Roman" panose="02020603050405020304" pitchFamily="18" charset="0"/>
                        </a:rPr>
                        <a:t>TC-Web-3.7</a:t>
                      </a:r>
                    </a:p>
                  </a:txBody>
                  <a:tcPr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Verify Copy Single Item</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User taps any card; system shows "Copied to clipboard" toast.</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FT-4 (Case 3)</a:t>
                      </a:r>
                    </a:p>
                  </a:txBody>
                  <a:tcPr marL="101600" marT="63500" marB="63500" anchor="ctr"/>
                </a:tc>
                <a:extLst>
                  <a:ext uri="{0D108BD9-81ED-4DB2-BD59-A6C34878D82A}">
                    <a16:rowId xmlns:a16="http://schemas.microsoft.com/office/drawing/2014/main" val="1973477984"/>
                  </a:ext>
                </a:extLst>
              </a:tr>
              <a:tr h="583997">
                <a:tc>
                  <a:txBody>
                    <a:bodyPr/>
                    <a:lstStyle/>
                    <a:p>
                      <a:r>
                        <a:rPr lang="en-US" sz="1400" b="0">
                          <a:effectLst/>
                          <a:latin typeface="Times New Roman" panose="02020603050405020304" pitchFamily="18" charset="0"/>
                          <a:cs typeface="Times New Roman" panose="02020603050405020304" pitchFamily="18" charset="0"/>
                        </a:rPr>
                        <a:t>TC-Web-3.8</a:t>
                      </a:r>
                    </a:p>
                  </a:txBody>
                  <a:tcPr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Verify Copy All</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User taps "Copy all" button; full Markdown plan copied to clipboard.</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FT-4 (Case 4)</a:t>
                      </a:r>
                    </a:p>
                  </a:txBody>
                  <a:tcPr marL="101600" marT="63500" marB="63500" anchor="ctr"/>
                </a:tc>
                <a:extLst>
                  <a:ext uri="{0D108BD9-81ED-4DB2-BD59-A6C34878D82A}">
                    <a16:rowId xmlns:a16="http://schemas.microsoft.com/office/drawing/2014/main" val="3211502742"/>
                  </a:ext>
                </a:extLst>
              </a:tr>
              <a:tr h="583997">
                <a:tc>
                  <a:txBody>
                    <a:bodyPr/>
                    <a:lstStyle/>
                    <a:p>
                      <a:r>
                        <a:rPr lang="en-US" sz="1400" b="0">
                          <a:effectLst/>
                          <a:latin typeface="Times New Roman" panose="02020603050405020304" pitchFamily="18" charset="0"/>
                          <a:cs typeface="Times New Roman" panose="02020603050405020304" pitchFamily="18" charset="0"/>
                        </a:rPr>
                        <a:t>TC-Web-3.9</a:t>
                      </a:r>
                    </a:p>
                  </a:txBody>
                  <a:tcPr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Verify Export/Share</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User taps "Export/Share" button; native OS share sheet opens with plan text.</a:t>
                      </a:r>
                    </a:p>
                  </a:txBody>
                  <a:tcPr marL="101600" marR="101600" marT="63500" marB="63500" anchor="ctr"/>
                </a:tc>
                <a:tc>
                  <a:txBody>
                    <a:bodyPr/>
                    <a:lstStyle/>
                    <a:p>
                      <a:r>
                        <a:rPr lang="en-US" sz="1400" b="0">
                          <a:effectLst/>
                          <a:latin typeface="Times New Roman" panose="02020603050405020304" pitchFamily="18" charset="0"/>
                          <a:cs typeface="Times New Roman" panose="02020603050405020304" pitchFamily="18" charset="0"/>
                        </a:rPr>
                        <a:t>FT-4 (Case 5)</a:t>
                      </a:r>
                    </a:p>
                  </a:txBody>
                  <a:tcPr marL="101600" marT="63500" marB="63500" anchor="ctr"/>
                </a:tc>
                <a:extLst>
                  <a:ext uri="{0D108BD9-81ED-4DB2-BD59-A6C34878D82A}">
                    <a16:rowId xmlns:a16="http://schemas.microsoft.com/office/drawing/2014/main" val="3382671261"/>
                  </a:ext>
                </a:extLst>
              </a:tr>
              <a:tr h="583997">
                <a:tc>
                  <a:txBody>
                    <a:bodyPr/>
                    <a:lstStyle/>
                    <a:p>
                      <a:r>
                        <a:rPr lang="en-US" sz="1400" b="0" dirty="0">
                          <a:effectLst/>
                          <a:latin typeface="Times New Roman" panose="02020603050405020304" pitchFamily="18" charset="0"/>
                          <a:cs typeface="Times New Roman" panose="02020603050405020304" pitchFamily="18" charset="0"/>
                        </a:rPr>
                        <a:t>TC-Web-3.10</a:t>
                      </a:r>
                    </a:p>
                  </a:txBody>
                  <a:tcPr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Verify Profile and Sign Out</a:t>
                      </a:r>
                    </a:p>
                  </a:txBody>
                  <a:tcPr marL="101600" marR="101600" marT="63500" marB="63500" anchor="ctr"/>
                </a:tc>
                <a:tc>
                  <a:txBody>
                    <a:bodyPr/>
                    <a:lstStyle/>
                    <a:p>
                      <a:r>
                        <a:rPr lang="en-GB" sz="1400" b="0">
                          <a:effectLst/>
                          <a:latin typeface="Times New Roman" panose="02020603050405020304" pitchFamily="18" charset="0"/>
                          <a:cs typeface="Times New Roman" panose="02020603050405020304" pitchFamily="18" charset="0"/>
                        </a:rPr>
                        <a:t>User opens Profile tab; shows user details; tap Sign out; token cleared; redirect to login.</a:t>
                      </a:r>
                    </a:p>
                  </a:txBody>
                  <a:tcPr marL="101600" marR="101600" marT="63500" marB="63500" anchor="ctr"/>
                </a:tc>
                <a:tc>
                  <a:txBody>
                    <a:bodyPr/>
                    <a:lstStyle/>
                    <a:p>
                      <a:r>
                        <a:rPr lang="en-US" sz="1400" b="0" dirty="0">
                          <a:effectLst/>
                          <a:latin typeface="Times New Roman" panose="02020603050405020304" pitchFamily="18" charset="0"/>
                          <a:cs typeface="Times New Roman" panose="02020603050405020304" pitchFamily="18" charset="0"/>
                        </a:rPr>
                        <a:t>FT-6 (Case 1-2)</a:t>
                      </a:r>
                    </a:p>
                  </a:txBody>
                  <a:tcPr marL="101600" marT="63500" marB="63500" anchor="ctr"/>
                </a:tc>
                <a:extLst>
                  <a:ext uri="{0D108BD9-81ED-4DB2-BD59-A6C34878D82A}">
                    <a16:rowId xmlns:a16="http://schemas.microsoft.com/office/drawing/2014/main" val="709006365"/>
                  </a:ext>
                </a:extLst>
              </a:tr>
            </a:tbl>
          </a:graphicData>
        </a:graphic>
      </p:graphicFrame>
    </p:spTree>
    <p:extLst>
      <p:ext uri="{BB962C8B-B14F-4D97-AF65-F5344CB8AC3E}">
        <p14:creationId xmlns:p14="http://schemas.microsoft.com/office/powerpoint/2010/main" val="67471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6F989-39CC-108C-5195-910BFED7AE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60D6CE-CA49-97CF-54D4-41B5F057C286}"/>
              </a:ext>
            </a:extLst>
          </p:cNvPr>
          <p:cNvSpPr>
            <a:spLocks noGrp="1"/>
          </p:cNvSpPr>
          <p:nvPr>
            <p:ph type="ctrTitle"/>
          </p:nvPr>
        </p:nvSpPr>
        <p:spPr>
          <a:xfrm>
            <a:off x="2125311" y="162263"/>
            <a:ext cx="13554955" cy="1445817"/>
          </a:xfrm>
        </p:spPr>
        <p:txBody>
          <a:bodyPr/>
          <a:lstStyle/>
          <a:p>
            <a:r>
              <a:rPr lang="en-US" sz="3200" b="1" u="sng" dirty="0">
                <a:latin typeface="Times New Roman" panose="02020603050405020304" pitchFamily="18" charset="0"/>
                <a:cs typeface="Times New Roman" panose="02020603050405020304" pitchFamily="18" charset="0"/>
              </a:rPr>
              <a:t>List of Test Case Cases Module Wise </a:t>
            </a:r>
            <a:br>
              <a:rPr lang="en-US" sz="3200" b="1" u="sng" dirty="0">
                <a:latin typeface="Times New Roman" panose="02020603050405020304" pitchFamily="18" charset="0"/>
                <a:cs typeface="Times New Roman" panose="02020603050405020304" pitchFamily="18" charset="0"/>
              </a:rPr>
            </a:br>
            <a:r>
              <a:rPr lang="en-GB" sz="3200" b="1" u="sng" dirty="0">
                <a:latin typeface="Times New Roman" panose="02020603050405020304" pitchFamily="18" charset="0"/>
                <a:cs typeface="Times New Roman" panose="02020603050405020304" pitchFamily="18" charset="0"/>
              </a:rPr>
              <a:t>Module 1: User Authentication &amp; Profile Management (</a:t>
            </a:r>
            <a:r>
              <a:rPr lang="en-GB" sz="3200" b="1" u="sng" dirty="0" err="1">
                <a:latin typeface="Times New Roman" panose="02020603050405020304" pitchFamily="18" charset="0"/>
                <a:cs typeface="Times New Roman" panose="02020603050405020304" pitchFamily="18" charset="0"/>
              </a:rPr>
              <a:t>Mobille</a:t>
            </a:r>
            <a:r>
              <a:rPr lang="en-GB" sz="3200" b="1" u="sng" dirty="0">
                <a:latin typeface="Times New Roman" panose="02020603050405020304" pitchFamily="18" charset="0"/>
                <a:cs typeface="Times New Roman" panose="02020603050405020304" pitchFamily="18" charset="0"/>
              </a:rPr>
              <a:t> Dashboard)</a:t>
            </a:r>
            <a:br>
              <a:rPr lang="en-GB" sz="3200" b="1" u="sng" dirty="0">
                <a:latin typeface="Times New Roman" panose="02020603050405020304" pitchFamily="18" charset="0"/>
                <a:cs typeface="Times New Roman" panose="02020603050405020304" pitchFamily="18" charset="0"/>
              </a:rPr>
            </a:br>
            <a:r>
              <a:rPr lang="en-US" sz="3200" b="1" u="sng" dirty="0">
                <a:latin typeface="Times New Roman" panose="02020603050405020304" pitchFamily="18" charset="0"/>
                <a:cs typeface="Times New Roman" panose="02020603050405020304" pitchFamily="18" charset="0"/>
              </a:rPr>
              <a:t/>
            </a:r>
            <a:br>
              <a:rPr lang="en-US" sz="3200" b="1" u="sng" dirty="0">
                <a:latin typeface="Times New Roman" panose="02020603050405020304" pitchFamily="18" charset="0"/>
                <a:cs typeface="Times New Roman" panose="02020603050405020304" pitchFamily="18" charset="0"/>
              </a:rPr>
            </a:br>
            <a:r>
              <a:rPr lang="en-US" sz="3200" b="1" u="sng" dirty="0">
                <a:latin typeface="Times New Roman" panose="02020603050405020304" pitchFamily="18" charset="0"/>
                <a:cs typeface="Times New Roman" panose="02020603050405020304" pitchFamily="18" charset="0"/>
              </a:rPr>
              <a:t/>
            </a:r>
            <a:br>
              <a:rPr lang="en-US" sz="3200" b="1" u="sng" dirty="0">
                <a:latin typeface="Times New Roman" panose="02020603050405020304" pitchFamily="18" charset="0"/>
                <a:cs typeface="Times New Roman" panose="02020603050405020304" pitchFamily="18" charset="0"/>
              </a:rPr>
            </a:br>
            <a:endParaRPr lang="en-US" sz="3200" dirty="0"/>
          </a:p>
        </p:txBody>
      </p:sp>
      <p:sp>
        <p:nvSpPr>
          <p:cNvPr id="3" name="Subtitle 2">
            <a:extLst>
              <a:ext uri="{FF2B5EF4-FFF2-40B4-BE49-F238E27FC236}">
                <a16:creationId xmlns:a16="http://schemas.microsoft.com/office/drawing/2014/main" id="{3357139E-03A9-4B67-279A-32E2222397C0}"/>
              </a:ext>
            </a:extLst>
          </p:cNvPr>
          <p:cNvSpPr>
            <a:spLocks noGrp="1"/>
          </p:cNvSpPr>
          <p:nvPr>
            <p:ph type="subTitle" idx="1"/>
          </p:nvPr>
        </p:nvSpPr>
        <p:spPr>
          <a:xfrm>
            <a:off x="2125310" y="2025230"/>
            <a:ext cx="13554956" cy="6186767"/>
          </a:xfrm>
        </p:spPr>
        <p:txBody>
          <a:bodyPr/>
          <a:lstStyle/>
          <a:p>
            <a:endParaRPr lang="en-US" dirty="0"/>
          </a:p>
        </p:txBody>
      </p:sp>
      <p:sp>
        <p:nvSpPr>
          <p:cNvPr id="4" name="Slide Number Placeholder 3">
            <a:extLst>
              <a:ext uri="{FF2B5EF4-FFF2-40B4-BE49-F238E27FC236}">
                <a16:creationId xmlns:a16="http://schemas.microsoft.com/office/drawing/2014/main" id="{6AE44D89-C67C-09FF-2B78-1A610D0D2EA3}"/>
              </a:ext>
            </a:extLst>
          </p:cNvPr>
          <p:cNvSpPr>
            <a:spLocks noGrp="1"/>
          </p:cNvSpPr>
          <p:nvPr>
            <p:ph type="sldNum" sz="quarter" idx="12"/>
          </p:nvPr>
        </p:nvSpPr>
        <p:spPr>
          <a:xfrm>
            <a:off x="14054666" y="8471170"/>
            <a:ext cx="1625600" cy="508001"/>
          </a:xfrm>
        </p:spPr>
        <p:txBody>
          <a:bodyPr/>
          <a:lstStyle/>
          <a:p>
            <a:fld id="{A8EF9831-35B4-4843-9AA9-F06FC1EDDB89}" type="slidenum">
              <a:rPr lang="en-US" smtClean="0">
                <a:solidFill>
                  <a:prstClr val="white"/>
                </a:solidFill>
              </a:rPr>
              <a:pPr/>
              <a:t>81</a:t>
            </a:fld>
            <a:endParaRPr lang="en-US" dirty="0">
              <a:solidFill>
                <a:prstClr val="white"/>
              </a:solidFill>
            </a:endParaRPr>
          </a:p>
        </p:txBody>
      </p:sp>
      <p:graphicFrame>
        <p:nvGraphicFramePr>
          <p:cNvPr id="5" name="Table 4">
            <a:extLst>
              <a:ext uri="{FF2B5EF4-FFF2-40B4-BE49-F238E27FC236}">
                <a16:creationId xmlns:a16="http://schemas.microsoft.com/office/drawing/2014/main" id="{F93D14F4-5415-3093-D69A-1799CF816B42}"/>
              </a:ext>
            </a:extLst>
          </p:cNvPr>
          <p:cNvGraphicFramePr>
            <a:graphicFrameLocks noGrp="1"/>
          </p:cNvGraphicFramePr>
          <p:nvPr>
            <p:extLst>
              <p:ext uri="{D42A27DB-BD31-4B8C-83A1-F6EECF244321}">
                <p14:modId xmlns:p14="http://schemas.microsoft.com/office/powerpoint/2010/main" val="1544854271"/>
              </p:ext>
            </p:extLst>
          </p:nvPr>
        </p:nvGraphicFramePr>
        <p:xfrm>
          <a:off x="1117600" y="1981201"/>
          <a:ext cx="14706598" cy="6324601"/>
        </p:xfrm>
        <a:graphic>
          <a:graphicData uri="http://schemas.openxmlformats.org/drawingml/2006/table">
            <a:tbl>
              <a:tblPr firstRow="1" bandRow="1">
                <a:tableStyleId>{5C22544A-7EE6-4342-B048-85BDC9FD1C3A}</a:tableStyleId>
              </a:tblPr>
              <a:tblGrid>
                <a:gridCol w="3230350">
                  <a:extLst>
                    <a:ext uri="{9D8B030D-6E8A-4147-A177-3AD203B41FA5}">
                      <a16:colId xmlns:a16="http://schemas.microsoft.com/office/drawing/2014/main" val="3258970014"/>
                    </a:ext>
                  </a:extLst>
                </a:gridCol>
                <a:gridCol w="4284466">
                  <a:extLst>
                    <a:ext uri="{9D8B030D-6E8A-4147-A177-3AD203B41FA5}">
                      <a16:colId xmlns:a16="http://schemas.microsoft.com/office/drawing/2014/main" val="216659431"/>
                    </a:ext>
                  </a:extLst>
                </a:gridCol>
                <a:gridCol w="4251123">
                  <a:extLst>
                    <a:ext uri="{9D8B030D-6E8A-4147-A177-3AD203B41FA5}">
                      <a16:colId xmlns:a16="http://schemas.microsoft.com/office/drawing/2014/main" val="4220526069"/>
                    </a:ext>
                  </a:extLst>
                </a:gridCol>
                <a:gridCol w="2940659">
                  <a:extLst>
                    <a:ext uri="{9D8B030D-6E8A-4147-A177-3AD203B41FA5}">
                      <a16:colId xmlns:a16="http://schemas.microsoft.com/office/drawing/2014/main" val="2837479045"/>
                    </a:ext>
                  </a:extLst>
                </a:gridCol>
              </a:tblGrid>
              <a:tr h="736447">
                <a:tc>
                  <a:txBody>
                    <a:bodyPr/>
                    <a:lstStyle/>
                    <a:p>
                      <a:pPr marL="0" indent="0" algn="ctr">
                        <a:buNone/>
                      </a:pPr>
                      <a:r>
                        <a:rPr lang="en-US" sz="2400" b="1" dirty="0">
                          <a:solidFill>
                            <a:schemeClr val="bg1"/>
                          </a:solidFill>
                          <a:latin typeface="Calibri" pitchFamily="34" charset="0"/>
                          <a:ea typeface="Calibri" pitchFamily="34" charset="-122"/>
                          <a:cs typeface="Calibri" pitchFamily="34" charset="-120"/>
                        </a:rPr>
                        <a:t>Test Case Id</a:t>
                      </a:r>
                      <a:endParaRPr lang="en-US" sz="2400" dirty="0">
                        <a:solidFill>
                          <a:schemeClr val="bg1"/>
                        </a:solidFill>
                        <a:latin typeface="Calibri" charset="0"/>
                        <a:ea typeface="Calibri" charset="0"/>
                        <a:cs typeface="Calibri" charset="0"/>
                      </a:endParaRPr>
                    </a:p>
                  </a:txBody>
                  <a:tcPr anchor="ctr"/>
                </a:tc>
                <a:tc>
                  <a:txBody>
                    <a:bodyPr/>
                    <a:lstStyle/>
                    <a:p>
                      <a:pPr marL="0" indent="0" algn="ctr">
                        <a:buNone/>
                      </a:pPr>
                      <a:r>
                        <a:rPr lang="en-US" sz="2400" b="1" dirty="0">
                          <a:solidFill>
                            <a:schemeClr val="bg1"/>
                          </a:solidFill>
                          <a:latin typeface="Calibri" pitchFamily="34" charset="0"/>
                          <a:ea typeface="Calibri" pitchFamily="34" charset="-122"/>
                          <a:cs typeface="Calibri" pitchFamily="34" charset="-120"/>
                        </a:rPr>
                        <a:t>Test Case Title</a:t>
                      </a:r>
                      <a:endParaRPr lang="en-US" sz="2400" dirty="0">
                        <a:solidFill>
                          <a:schemeClr val="bg1"/>
                        </a:solidFill>
                        <a:latin typeface="Calibri" charset="0"/>
                        <a:ea typeface="Calibri" charset="0"/>
                        <a:cs typeface="Calibri" charset="0"/>
                      </a:endParaRPr>
                    </a:p>
                  </a:txBody>
                  <a:tcPr anchor="ctr"/>
                </a:tc>
                <a:tc>
                  <a:txBody>
                    <a:bodyPr/>
                    <a:lstStyle/>
                    <a:p>
                      <a:pPr marL="0" indent="0" algn="ctr">
                        <a:buNone/>
                      </a:pPr>
                      <a:r>
                        <a:rPr lang="en-US" sz="2400" b="1" dirty="0">
                          <a:solidFill>
                            <a:schemeClr val="bg1"/>
                          </a:solidFill>
                          <a:latin typeface="Calibri" pitchFamily="34" charset="0"/>
                          <a:ea typeface="Calibri" pitchFamily="34" charset="-122"/>
                          <a:cs typeface="Calibri" pitchFamily="34" charset="-120"/>
                        </a:rPr>
                        <a:t>Test Case Description</a:t>
                      </a:r>
                      <a:endParaRPr lang="en-US" sz="2400" dirty="0">
                        <a:solidFill>
                          <a:schemeClr val="bg1"/>
                        </a:solidFill>
                        <a:latin typeface="Calibri" charset="0"/>
                        <a:ea typeface="Calibri" charset="0"/>
                        <a:cs typeface="Calibri" charset="0"/>
                      </a:endParaRPr>
                    </a:p>
                  </a:txBody>
                  <a:tcPr anchor="ctr"/>
                </a:tc>
                <a:tc>
                  <a:txBody>
                    <a:bodyPr/>
                    <a:lstStyle/>
                    <a:p>
                      <a:pPr marL="0" marR="0" lvl="0" indent="0" algn="ctr" defTabSz="1044976" rtl="0" eaLnBrk="1" fontAlgn="auto" latinLnBrk="0" hangingPunct="1">
                        <a:lnSpc>
                          <a:spcPct val="100000"/>
                        </a:lnSpc>
                        <a:spcBef>
                          <a:spcPts val="0"/>
                        </a:spcBef>
                        <a:spcAft>
                          <a:spcPts val="0"/>
                        </a:spcAft>
                        <a:buClrTx/>
                        <a:buSzTx/>
                        <a:buFontTx/>
                        <a:buNone/>
                        <a:tabLst/>
                        <a:defRPr/>
                      </a:pPr>
                      <a:r>
                        <a:rPr lang="en-US" sz="2400" b="0" i="0" u="none" strike="noStrike" kern="1200" baseline="0" dirty="0">
                          <a:solidFill>
                            <a:schemeClr val="lt1"/>
                          </a:solidFill>
                          <a:latin typeface="+mn-lt"/>
                          <a:ea typeface="+mn-ea"/>
                          <a:cs typeface="+mn-cs"/>
                        </a:rPr>
                        <a:t>Test Case Detail</a:t>
                      </a:r>
                      <a:endParaRPr lang="en-US" sz="2100" b="0" i="0" u="none" strike="noStrike" kern="1200" baseline="0" dirty="0">
                        <a:solidFill>
                          <a:schemeClr val="lt1"/>
                        </a:solidFill>
                        <a:latin typeface="+mn-lt"/>
                        <a:ea typeface="+mn-ea"/>
                        <a:cs typeface="+mn-cs"/>
                      </a:endParaRPr>
                    </a:p>
                  </a:txBody>
                  <a:tcPr/>
                </a:tc>
                <a:extLst>
                  <a:ext uri="{0D108BD9-81ED-4DB2-BD59-A6C34878D82A}">
                    <a16:rowId xmlns:a16="http://schemas.microsoft.com/office/drawing/2014/main" val="2122993501"/>
                  </a:ext>
                </a:extLst>
              </a:tr>
              <a:tr h="718477">
                <a:tc>
                  <a:txBody>
                    <a:bodyPr/>
                    <a:lstStyle/>
                    <a:p>
                      <a:pPr algn="ctr"/>
                      <a:r>
                        <a:rPr lang="en-US" sz="1600" b="0" dirty="0">
                          <a:effectLst/>
                          <a:latin typeface="Times New Roman" panose="02020603050405020304" pitchFamily="18" charset="0"/>
                          <a:cs typeface="Times New Roman" panose="02020603050405020304" pitchFamily="18" charset="0"/>
                        </a:rPr>
                        <a:t>TC-Mobile-1.1</a:t>
                      </a:r>
                    </a:p>
                  </a:txBody>
                  <a:tcPr marR="101600" marT="63500" marB="63500" anchor="ctr"/>
                </a:tc>
                <a:tc>
                  <a:txBody>
                    <a:bodyPr/>
                    <a:lstStyle/>
                    <a:p>
                      <a:pPr marL="0" indent="0" algn="ctr">
                        <a:buNone/>
                      </a:pPr>
                      <a:r>
                        <a:rPr lang="en-US" sz="1800" dirty="0">
                          <a:solidFill>
                            <a:srgbClr val="000000"/>
                          </a:solidFill>
                          <a:latin typeface="Calibri" pitchFamily="34" charset="0"/>
                          <a:ea typeface="Calibri" pitchFamily="34" charset="-122"/>
                          <a:cs typeface="Calibri" pitchFamily="34" charset="-120"/>
                        </a:rPr>
                        <a:t>validateEmail()</a:t>
                      </a:r>
                      <a:endParaRPr lang="en-US" sz="1800" dirty="0">
                        <a:latin typeface="Calibri" charset="0"/>
                        <a:ea typeface="Calibri" charset="0"/>
                        <a:cs typeface="Calibri" charset="0"/>
                      </a:endParaRPr>
                    </a:p>
                  </a:txBody>
                  <a:tcPr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Verifies that email validation correctly identifies valid and invalid email formats.</a:t>
                      </a:r>
                      <a:endParaRPr lang="en-US" sz="1800" dirty="0">
                        <a:latin typeface="Calibri" charset="0"/>
                        <a:ea typeface="Calibri" charset="0"/>
                        <a:cs typeface="Calibri" charset="0"/>
                      </a:endParaRPr>
                    </a:p>
                  </a:txBody>
                  <a:tcPr anchor="ctr"/>
                </a:tc>
                <a:tc>
                  <a:txBody>
                    <a:bodyPr/>
                    <a:lstStyle/>
                    <a:p>
                      <a:pPr marL="0" indent="0" algn="ctr">
                        <a:buNone/>
                      </a:pPr>
                      <a:r>
                        <a:rPr lang="en-US" sz="1800" dirty="0">
                          <a:solidFill>
                            <a:srgbClr val="000000"/>
                          </a:solidFill>
                          <a:latin typeface="Calibri" pitchFamily="34" charset="0"/>
                          <a:ea typeface="Calibri" pitchFamily="34" charset="-122"/>
                          <a:cs typeface="Calibri" pitchFamily="34" charset="-120"/>
                        </a:rPr>
                        <a:t>UT_1_1_001</a:t>
                      </a:r>
                      <a:endParaRPr lang="en-US" sz="1800" dirty="0">
                        <a:latin typeface="Calibri" charset="0"/>
                        <a:ea typeface="Calibri" charset="0"/>
                        <a:cs typeface="Calibri" charset="0"/>
                      </a:endParaRPr>
                    </a:p>
                  </a:txBody>
                  <a:tcPr anchor="ctr"/>
                </a:tc>
                <a:extLst>
                  <a:ext uri="{0D108BD9-81ED-4DB2-BD59-A6C34878D82A}">
                    <a16:rowId xmlns:a16="http://schemas.microsoft.com/office/drawing/2014/main" val="3556662792"/>
                  </a:ext>
                </a:extLst>
              </a:tr>
              <a:tr h="931359">
                <a:tc>
                  <a:txBody>
                    <a:bodyPr/>
                    <a:lstStyle/>
                    <a:p>
                      <a:pPr algn="ctr"/>
                      <a:r>
                        <a:rPr lang="en-US" sz="1600" b="0" dirty="0">
                          <a:effectLst/>
                          <a:latin typeface="Times New Roman" panose="02020603050405020304" pitchFamily="18" charset="0"/>
                          <a:cs typeface="Times New Roman" panose="02020603050405020304" pitchFamily="18" charset="0"/>
                        </a:rPr>
                        <a:t>TC-Mobile-1.2</a:t>
                      </a:r>
                    </a:p>
                  </a:txBody>
                  <a:tcPr marR="101600" marT="63500" marB="63500" anchor="ctr"/>
                </a:tc>
                <a:tc>
                  <a:txBody>
                    <a:bodyPr/>
                    <a:lstStyle/>
                    <a:p>
                      <a:pPr marL="0" indent="0" algn="ctr">
                        <a:buNone/>
                      </a:pPr>
                      <a:r>
                        <a:rPr lang="en-US" sz="1800" dirty="0">
                          <a:solidFill>
                            <a:srgbClr val="000000"/>
                          </a:solidFill>
                          <a:latin typeface="Calibri" pitchFamily="34" charset="0"/>
                          <a:ea typeface="Calibri" pitchFamily="34" charset="-122"/>
                          <a:cs typeface="Calibri" pitchFamily="34" charset="-120"/>
                        </a:rPr>
                        <a:t>matchPassword()</a:t>
                      </a:r>
                      <a:endParaRPr lang="en-US" sz="1800" dirty="0">
                        <a:latin typeface="Calibri" charset="0"/>
                        <a:ea typeface="Calibri" charset="0"/>
                        <a:cs typeface="Calibri" charset="0"/>
                      </a:endParaRPr>
                    </a:p>
                  </a:txBody>
                  <a:tcPr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Verifies that password and confirm-password matching enforces exact, case-sensitive equality before submission.</a:t>
                      </a:r>
                      <a:endParaRPr lang="en-US" sz="1800" dirty="0">
                        <a:latin typeface="Calibri" charset="0"/>
                        <a:ea typeface="Calibri" charset="0"/>
                        <a:cs typeface="Calibri" charset="0"/>
                      </a:endParaRPr>
                    </a:p>
                  </a:txBody>
                  <a:tcPr anchor="ctr"/>
                </a:tc>
                <a:tc>
                  <a:txBody>
                    <a:bodyPr/>
                    <a:lstStyle/>
                    <a:p>
                      <a:pPr marL="0" indent="0" algn="ctr">
                        <a:buNone/>
                      </a:pPr>
                      <a:r>
                        <a:rPr lang="en-US" sz="1800" dirty="0">
                          <a:solidFill>
                            <a:srgbClr val="000000"/>
                          </a:solidFill>
                          <a:latin typeface="Calibri" pitchFamily="34" charset="0"/>
                          <a:ea typeface="Calibri" pitchFamily="34" charset="-122"/>
                          <a:cs typeface="Calibri" pitchFamily="34" charset="-120"/>
                        </a:rPr>
                        <a:t>UT_1_2_001</a:t>
                      </a:r>
                      <a:endParaRPr lang="en-US" sz="1800" dirty="0">
                        <a:latin typeface="Calibri" charset="0"/>
                        <a:ea typeface="Calibri" charset="0"/>
                        <a:cs typeface="Calibri" charset="0"/>
                      </a:endParaRPr>
                    </a:p>
                  </a:txBody>
                  <a:tcPr anchor="ctr"/>
                </a:tc>
                <a:extLst>
                  <a:ext uri="{0D108BD9-81ED-4DB2-BD59-A6C34878D82A}">
                    <a16:rowId xmlns:a16="http://schemas.microsoft.com/office/drawing/2014/main" val="854166395"/>
                  </a:ext>
                </a:extLst>
              </a:tr>
              <a:tr h="1144241">
                <a:tc>
                  <a:txBody>
                    <a:bodyPr/>
                    <a:lstStyle/>
                    <a:p>
                      <a:pPr algn="ctr"/>
                      <a:r>
                        <a:rPr lang="en-US" sz="1600" b="0" dirty="0">
                          <a:effectLst/>
                          <a:latin typeface="Times New Roman" panose="02020603050405020304" pitchFamily="18" charset="0"/>
                          <a:cs typeface="Times New Roman" panose="02020603050405020304" pitchFamily="18" charset="0"/>
                        </a:rPr>
                        <a:t>TC-Mobile-1.3</a:t>
                      </a:r>
                    </a:p>
                  </a:txBody>
                  <a:tcPr marR="101600" marT="63500" marB="63500" anchor="ctr"/>
                </a:tc>
                <a:tc>
                  <a:txBody>
                    <a:bodyPr/>
                    <a:lstStyle/>
                    <a:p>
                      <a:pPr marL="0" indent="0" algn="ctr">
                        <a:buNone/>
                      </a:pPr>
                      <a:r>
                        <a:rPr lang="en-US" sz="1800" dirty="0">
                          <a:solidFill>
                            <a:srgbClr val="000000"/>
                          </a:solidFill>
                          <a:latin typeface="Calibri" pitchFamily="34" charset="0"/>
                          <a:ea typeface="Calibri" pitchFamily="34" charset="-122"/>
                          <a:cs typeface="Calibri" pitchFamily="34" charset="-120"/>
                        </a:rPr>
                        <a:t>generateJWT()</a:t>
                      </a:r>
                      <a:endParaRPr lang="en-US" sz="1800" dirty="0">
                        <a:latin typeface="Calibri" charset="0"/>
                        <a:ea typeface="Calibri" charset="0"/>
                        <a:cs typeface="Calibri" charset="0"/>
                      </a:endParaRPr>
                    </a:p>
                  </a:txBody>
                  <a:tcPr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Verifies that the JWT generator produces a well-formed three-part token and decodes back to the same user identifier.</a:t>
                      </a:r>
                      <a:endParaRPr lang="en-US" sz="1800" dirty="0">
                        <a:latin typeface="Calibri" charset="0"/>
                        <a:ea typeface="Calibri" charset="0"/>
                        <a:cs typeface="Calibri" charset="0"/>
                      </a:endParaRPr>
                    </a:p>
                  </a:txBody>
                  <a:tcPr anchor="ctr"/>
                </a:tc>
                <a:tc>
                  <a:txBody>
                    <a:bodyPr/>
                    <a:lstStyle/>
                    <a:p>
                      <a:pPr marL="0" indent="0" algn="ctr">
                        <a:buNone/>
                      </a:pPr>
                      <a:r>
                        <a:rPr lang="en-US" sz="1800" dirty="0">
                          <a:solidFill>
                            <a:srgbClr val="000000"/>
                          </a:solidFill>
                          <a:latin typeface="Calibri" pitchFamily="34" charset="0"/>
                          <a:ea typeface="Calibri" pitchFamily="34" charset="-122"/>
                          <a:cs typeface="Calibri" pitchFamily="34" charset="-120"/>
                        </a:rPr>
                        <a:t>UT_1_3_001</a:t>
                      </a:r>
                      <a:endParaRPr lang="en-US" sz="1800" dirty="0">
                        <a:latin typeface="Calibri" charset="0"/>
                        <a:ea typeface="Calibri" charset="0"/>
                        <a:cs typeface="Calibri" charset="0"/>
                      </a:endParaRPr>
                    </a:p>
                  </a:txBody>
                  <a:tcPr anchor="ctr"/>
                </a:tc>
                <a:extLst>
                  <a:ext uri="{0D108BD9-81ED-4DB2-BD59-A6C34878D82A}">
                    <a16:rowId xmlns:a16="http://schemas.microsoft.com/office/drawing/2014/main" val="3460895644"/>
                  </a:ext>
                </a:extLst>
              </a:tr>
              <a:tr h="931359">
                <a:tc>
                  <a:txBody>
                    <a:bodyPr/>
                    <a:lstStyle/>
                    <a:p>
                      <a:pPr algn="ctr"/>
                      <a:r>
                        <a:rPr lang="en-US" sz="1600" b="0" dirty="0">
                          <a:effectLst/>
                          <a:latin typeface="Times New Roman" panose="02020603050405020304" pitchFamily="18" charset="0"/>
                          <a:cs typeface="Times New Roman" panose="02020603050405020304" pitchFamily="18" charset="0"/>
                        </a:rPr>
                        <a:t>TC-Mobile-1.4</a:t>
                      </a:r>
                    </a:p>
                  </a:txBody>
                  <a:tcPr marR="101600" marT="63500" marB="63500" anchor="ctr"/>
                </a:tc>
                <a:tc>
                  <a:txBody>
                    <a:bodyPr/>
                    <a:lstStyle/>
                    <a:p>
                      <a:pPr marL="0" indent="0" algn="ctr">
                        <a:buNone/>
                      </a:pPr>
                      <a:r>
                        <a:rPr lang="en-US" sz="1800" dirty="0">
                          <a:solidFill>
                            <a:srgbClr val="000000"/>
                          </a:solidFill>
                          <a:latin typeface="Calibri" pitchFamily="34" charset="0"/>
                          <a:ea typeface="Calibri" pitchFamily="34" charset="-122"/>
                          <a:cs typeface="Calibri" pitchFamily="34" charset="-120"/>
                        </a:rPr>
                        <a:t>hashPassword() / verifyPassword()</a:t>
                      </a:r>
                      <a:endParaRPr lang="en-US" sz="1800" dirty="0">
                        <a:latin typeface="Calibri" charset="0"/>
                        <a:ea typeface="Calibri" charset="0"/>
                        <a:cs typeface="Calibri" charset="0"/>
                      </a:endParaRPr>
                    </a:p>
                  </a:txBody>
                  <a:tcPr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Verifies bcrypt hashing produces a $2b$ prefixed hash and verification returns True/False correctly.</a:t>
                      </a:r>
                      <a:endParaRPr lang="en-US" sz="1800" dirty="0">
                        <a:latin typeface="Calibri" charset="0"/>
                        <a:ea typeface="Calibri" charset="0"/>
                        <a:cs typeface="Calibri" charset="0"/>
                      </a:endParaRPr>
                    </a:p>
                  </a:txBody>
                  <a:tcPr anchor="ctr"/>
                </a:tc>
                <a:tc>
                  <a:txBody>
                    <a:bodyPr/>
                    <a:lstStyle/>
                    <a:p>
                      <a:pPr marL="0" indent="0" algn="ctr">
                        <a:buNone/>
                      </a:pPr>
                      <a:r>
                        <a:rPr lang="en-US" sz="1800" dirty="0">
                          <a:solidFill>
                            <a:srgbClr val="000000"/>
                          </a:solidFill>
                          <a:latin typeface="Calibri" pitchFamily="34" charset="0"/>
                          <a:ea typeface="Calibri" pitchFamily="34" charset="-122"/>
                          <a:cs typeface="Calibri" pitchFamily="34" charset="-120"/>
                        </a:rPr>
                        <a:t>UT_1_4_001</a:t>
                      </a:r>
                      <a:endParaRPr lang="en-US" sz="1800" dirty="0">
                        <a:latin typeface="Calibri" charset="0"/>
                        <a:ea typeface="Calibri" charset="0"/>
                        <a:cs typeface="Calibri" charset="0"/>
                      </a:endParaRPr>
                    </a:p>
                  </a:txBody>
                  <a:tcPr anchor="ctr"/>
                </a:tc>
                <a:extLst>
                  <a:ext uri="{0D108BD9-81ED-4DB2-BD59-A6C34878D82A}">
                    <a16:rowId xmlns:a16="http://schemas.microsoft.com/office/drawing/2014/main" val="813805868"/>
                  </a:ext>
                </a:extLst>
              </a:tr>
              <a:tr h="931359">
                <a:tc>
                  <a:txBody>
                    <a:bodyPr/>
                    <a:lstStyle/>
                    <a:p>
                      <a:pPr algn="ctr"/>
                      <a:r>
                        <a:rPr lang="en-US" sz="1600" b="0" dirty="0">
                          <a:effectLst/>
                          <a:latin typeface="Times New Roman" panose="02020603050405020304" pitchFamily="18" charset="0"/>
                          <a:cs typeface="Times New Roman" panose="02020603050405020304" pitchFamily="18" charset="0"/>
                        </a:rPr>
                        <a:t>TC-Mobile-1.5</a:t>
                      </a:r>
                    </a:p>
                  </a:txBody>
                  <a:tcPr marR="101600" marT="63500" marB="63500" anchor="ctr"/>
                </a:tc>
                <a:tc>
                  <a:txBody>
                    <a:bodyPr/>
                    <a:lstStyle/>
                    <a:p>
                      <a:pPr marL="0" indent="0" algn="ctr">
                        <a:buNone/>
                      </a:pPr>
                      <a:r>
                        <a:rPr lang="en-US" sz="1800" dirty="0">
                          <a:solidFill>
                            <a:srgbClr val="000000"/>
                          </a:solidFill>
                          <a:latin typeface="Calibri" pitchFamily="34" charset="0"/>
                          <a:ea typeface="Calibri" pitchFamily="34" charset="-122"/>
                          <a:cs typeface="Calibri" pitchFamily="34" charset="-120"/>
                        </a:rPr>
                        <a:t>POST /api/auth/login</a:t>
                      </a:r>
                      <a:endParaRPr lang="en-US" sz="1800" dirty="0">
                        <a:latin typeface="Calibri" charset="0"/>
                        <a:ea typeface="Calibri" charset="0"/>
                        <a:cs typeface="Calibri" charset="0"/>
                      </a:endParaRPr>
                    </a:p>
                  </a:txBody>
                  <a:tcPr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Verifies the login endpoint returns 200 with token for valid credentials and 401 for invalid credentials.</a:t>
                      </a:r>
                      <a:endParaRPr lang="en-US" sz="1800" dirty="0">
                        <a:latin typeface="Calibri" charset="0"/>
                        <a:ea typeface="Calibri" charset="0"/>
                        <a:cs typeface="Calibri" charset="0"/>
                      </a:endParaRPr>
                    </a:p>
                  </a:txBody>
                  <a:tcPr anchor="ctr"/>
                </a:tc>
                <a:tc>
                  <a:txBody>
                    <a:bodyPr/>
                    <a:lstStyle/>
                    <a:p>
                      <a:pPr marL="0" indent="0" algn="ctr">
                        <a:buNone/>
                      </a:pPr>
                      <a:r>
                        <a:rPr lang="en-US" sz="1800" dirty="0">
                          <a:solidFill>
                            <a:srgbClr val="000000"/>
                          </a:solidFill>
                          <a:latin typeface="Calibri" pitchFamily="34" charset="0"/>
                          <a:ea typeface="Calibri" pitchFamily="34" charset="-122"/>
                          <a:cs typeface="Calibri" pitchFamily="34" charset="-120"/>
                        </a:rPr>
                        <a:t>UT_1_5_001</a:t>
                      </a:r>
                      <a:endParaRPr lang="en-US" sz="1800" dirty="0">
                        <a:latin typeface="Calibri" charset="0"/>
                        <a:ea typeface="Calibri" charset="0"/>
                        <a:cs typeface="Calibri" charset="0"/>
                      </a:endParaRPr>
                    </a:p>
                  </a:txBody>
                  <a:tcPr anchor="ctr"/>
                </a:tc>
                <a:extLst>
                  <a:ext uri="{0D108BD9-81ED-4DB2-BD59-A6C34878D82A}">
                    <a16:rowId xmlns:a16="http://schemas.microsoft.com/office/drawing/2014/main" val="1149629837"/>
                  </a:ext>
                </a:extLst>
              </a:tr>
              <a:tr h="931359">
                <a:tc>
                  <a:txBody>
                    <a:bodyPr/>
                    <a:lstStyle/>
                    <a:p>
                      <a:pPr algn="ctr"/>
                      <a:r>
                        <a:rPr lang="en-US" sz="1600" b="0" dirty="0">
                          <a:effectLst/>
                          <a:latin typeface="Times New Roman" panose="02020603050405020304" pitchFamily="18" charset="0"/>
                          <a:cs typeface="Times New Roman" panose="02020603050405020304" pitchFamily="18" charset="0"/>
                        </a:rPr>
                        <a:t>TC-Mobile-1.6</a:t>
                      </a:r>
                    </a:p>
                  </a:txBody>
                  <a:tcPr marR="101600" marT="63500" marB="63500" anchor="ctr"/>
                </a:tc>
                <a:tc>
                  <a:txBody>
                    <a:bodyPr/>
                    <a:lstStyle/>
                    <a:p>
                      <a:pPr marL="0" indent="0" algn="ctr">
                        <a:buNone/>
                      </a:pPr>
                      <a:r>
                        <a:rPr lang="en-US" sz="1800" dirty="0">
                          <a:solidFill>
                            <a:srgbClr val="000000"/>
                          </a:solidFill>
                          <a:latin typeface="Calibri" pitchFamily="34" charset="0"/>
                          <a:ea typeface="Calibri" pitchFamily="34" charset="-122"/>
                          <a:cs typeface="Calibri" pitchFamily="34" charset="-120"/>
                        </a:rPr>
                        <a:t>POST /api/auth/signup</a:t>
                      </a:r>
                      <a:endParaRPr lang="en-US" sz="1800" dirty="0">
                        <a:latin typeface="Calibri" charset="0"/>
                        <a:ea typeface="Calibri" charset="0"/>
                        <a:cs typeface="Calibri" charset="0"/>
                      </a:endParaRPr>
                    </a:p>
                  </a:txBody>
                  <a:tcPr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Verifies the signup endpoint creates new account, rejects duplicate emails, and rejects malformed emails.</a:t>
                      </a:r>
                      <a:endParaRPr lang="en-US" sz="1800" dirty="0">
                        <a:latin typeface="Calibri" charset="0"/>
                        <a:ea typeface="Calibri" charset="0"/>
                        <a:cs typeface="Calibri" charset="0"/>
                      </a:endParaRPr>
                    </a:p>
                  </a:txBody>
                  <a:tcPr anchor="ctr"/>
                </a:tc>
                <a:tc>
                  <a:txBody>
                    <a:bodyPr/>
                    <a:lstStyle/>
                    <a:p>
                      <a:pPr marL="0" indent="0" algn="ctr">
                        <a:buNone/>
                      </a:pPr>
                      <a:r>
                        <a:rPr lang="en-US" sz="1800" dirty="0">
                          <a:solidFill>
                            <a:srgbClr val="000000"/>
                          </a:solidFill>
                          <a:latin typeface="Calibri" pitchFamily="34" charset="0"/>
                          <a:ea typeface="Calibri" pitchFamily="34" charset="-122"/>
                          <a:cs typeface="Calibri" pitchFamily="34" charset="-120"/>
                        </a:rPr>
                        <a:t>UT_1_6_001</a:t>
                      </a:r>
                      <a:endParaRPr lang="en-US" sz="1800" dirty="0">
                        <a:latin typeface="Calibri" charset="0"/>
                        <a:ea typeface="Calibri" charset="0"/>
                        <a:cs typeface="Calibri" charset="0"/>
                      </a:endParaRPr>
                    </a:p>
                  </a:txBody>
                  <a:tcPr anchor="ctr"/>
                </a:tc>
                <a:extLst>
                  <a:ext uri="{0D108BD9-81ED-4DB2-BD59-A6C34878D82A}">
                    <a16:rowId xmlns:a16="http://schemas.microsoft.com/office/drawing/2014/main" val="2840937631"/>
                  </a:ext>
                </a:extLst>
              </a:tr>
            </a:tbl>
          </a:graphicData>
        </a:graphic>
      </p:graphicFrame>
    </p:spTree>
    <p:extLst>
      <p:ext uri="{BB962C8B-B14F-4D97-AF65-F5344CB8AC3E}">
        <p14:creationId xmlns:p14="http://schemas.microsoft.com/office/powerpoint/2010/main" val="322128673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CB06-BAB8-F67F-B6E3-B29FA5EC7008}"/>
              </a:ext>
            </a:extLst>
          </p:cNvPr>
          <p:cNvSpPr>
            <a:spLocks noGrp="1"/>
          </p:cNvSpPr>
          <p:nvPr>
            <p:ph type="ctrTitle"/>
          </p:nvPr>
        </p:nvSpPr>
        <p:spPr>
          <a:xfrm>
            <a:off x="2125311" y="162263"/>
            <a:ext cx="13554955" cy="1445817"/>
          </a:xfrm>
        </p:spPr>
        <p:txBody>
          <a:bodyPr/>
          <a:lstStyle/>
          <a:p>
            <a:r>
              <a:rPr lang="en-GB" sz="4400" b="1" u="sng" dirty="0">
                <a:latin typeface="Times New Roman" panose="02020603050405020304" pitchFamily="18" charset="0"/>
                <a:cs typeface="Times New Roman" panose="02020603050405020304" pitchFamily="18" charset="0"/>
              </a:rPr>
              <a:t>Module 2: Episode Setup &amp; Guest Management (Mobile Dashboard)</a:t>
            </a:r>
            <a:endParaRPr lang="en-US" sz="4400" dirty="0"/>
          </a:p>
        </p:txBody>
      </p:sp>
      <p:sp>
        <p:nvSpPr>
          <p:cNvPr id="4" name="Slide Number Placeholder 3">
            <a:extLst>
              <a:ext uri="{FF2B5EF4-FFF2-40B4-BE49-F238E27FC236}">
                <a16:creationId xmlns:a16="http://schemas.microsoft.com/office/drawing/2014/main" id="{3339B6B9-049A-83CB-7AA2-EEFBA83CC932}"/>
              </a:ext>
            </a:extLst>
          </p:cNvPr>
          <p:cNvSpPr>
            <a:spLocks noGrp="1"/>
          </p:cNvSpPr>
          <p:nvPr>
            <p:ph type="sldNum" sz="quarter" idx="12"/>
          </p:nvPr>
        </p:nvSpPr>
        <p:spPr>
          <a:xfrm>
            <a:off x="14054666" y="8471170"/>
            <a:ext cx="1625600" cy="508001"/>
          </a:xfrm>
        </p:spPr>
        <p:txBody>
          <a:bodyPr/>
          <a:lstStyle/>
          <a:p>
            <a:fld id="{A8EF9831-35B4-4843-9AA9-F06FC1EDDB89}" type="slidenum">
              <a:rPr lang="en-US" smtClean="0">
                <a:solidFill>
                  <a:prstClr val="white"/>
                </a:solidFill>
              </a:rPr>
              <a:pPr/>
              <a:t>82</a:t>
            </a:fld>
            <a:endParaRPr lang="en-US" dirty="0">
              <a:solidFill>
                <a:prstClr val="white"/>
              </a:solidFill>
            </a:endParaRPr>
          </a:p>
        </p:txBody>
      </p:sp>
      <p:graphicFrame>
        <p:nvGraphicFramePr>
          <p:cNvPr id="5" name="Table 4">
            <a:extLst>
              <a:ext uri="{FF2B5EF4-FFF2-40B4-BE49-F238E27FC236}">
                <a16:creationId xmlns:a16="http://schemas.microsoft.com/office/drawing/2014/main" id="{569F456D-E424-D838-07F6-890806BF6C6E}"/>
              </a:ext>
            </a:extLst>
          </p:cNvPr>
          <p:cNvGraphicFramePr>
            <a:graphicFrameLocks noGrp="1"/>
          </p:cNvGraphicFramePr>
          <p:nvPr>
            <p:extLst>
              <p:ext uri="{D42A27DB-BD31-4B8C-83A1-F6EECF244321}">
                <p14:modId xmlns:p14="http://schemas.microsoft.com/office/powerpoint/2010/main" val="3890779320"/>
              </p:ext>
            </p:extLst>
          </p:nvPr>
        </p:nvGraphicFramePr>
        <p:xfrm>
          <a:off x="1471897" y="3124200"/>
          <a:ext cx="13411200" cy="3113887"/>
        </p:xfrm>
        <a:graphic>
          <a:graphicData uri="http://schemas.openxmlformats.org/drawingml/2006/table">
            <a:tbl>
              <a:tblPr firstRow="1" bandRow="1">
                <a:tableStyleId>{5C22544A-7EE6-4342-B048-85BDC9FD1C3A}</a:tableStyleId>
              </a:tblPr>
              <a:tblGrid>
                <a:gridCol w="2945812">
                  <a:extLst>
                    <a:ext uri="{9D8B030D-6E8A-4147-A177-3AD203B41FA5}">
                      <a16:colId xmlns:a16="http://schemas.microsoft.com/office/drawing/2014/main" val="3258970014"/>
                    </a:ext>
                  </a:extLst>
                </a:gridCol>
                <a:gridCol w="3907078">
                  <a:extLst>
                    <a:ext uri="{9D8B030D-6E8A-4147-A177-3AD203B41FA5}">
                      <a16:colId xmlns:a16="http://schemas.microsoft.com/office/drawing/2014/main" val="216659431"/>
                    </a:ext>
                  </a:extLst>
                </a:gridCol>
                <a:gridCol w="3876672">
                  <a:extLst>
                    <a:ext uri="{9D8B030D-6E8A-4147-A177-3AD203B41FA5}">
                      <a16:colId xmlns:a16="http://schemas.microsoft.com/office/drawing/2014/main" val="4220526069"/>
                    </a:ext>
                  </a:extLst>
                </a:gridCol>
                <a:gridCol w="2681638">
                  <a:extLst>
                    <a:ext uri="{9D8B030D-6E8A-4147-A177-3AD203B41FA5}">
                      <a16:colId xmlns:a16="http://schemas.microsoft.com/office/drawing/2014/main" val="2837479045"/>
                    </a:ext>
                  </a:extLst>
                </a:gridCol>
              </a:tblGrid>
              <a:tr h="736447">
                <a:tc>
                  <a:txBody>
                    <a:bodyPr/>
                    <a:lstStyle/>
                    <a:p>
                      <a:pPr marL="0" indent="0" algn="ctr">
                        <a:buNone/>
                      </a:pPr>
                      <a:r>
                        <a:rPr lang="en-US" sz="2400" b="1" dirty="0">
                          <a:solidFill>
                            <a:schemeClr val="bg1"/>
                          </a:solidFill>
                          <a:latin typeface="Calibri" pitchFamily="34" charset="0"/>
                          <a:ea typeface="Calibri" pitchFamily="34" charset="-122"/>
                          <a:cs typeface="Calibri" pitchFamily="34" charset="-120"/>
                        </a:rPr>
                        <a:t>Test Case Id</a:t>
                      </a:r>
                      <a:endParaRPr lang="en-US" sz="2400" dirty="0">
                        <a:solidFill>
                          <a:schemeClr val="bg1"/>
                        </a:solidFill>
                        <a:latin typeface="Calibri" charset="0"/>
                        <a:ea typeface="Calibri" charset="0"/>
                        <a:cs typeface="Calibri" charset="0"/>
                      </a:endParaRPr>
                    </a:p>
                  </a:txBody>
                  <a:tcPr anchor="ctr"/>
                </a:tc>
                <a:tc>
                  <a:txBody>
                    <a:bodyPr/>
                    <a:lstStyle/>
                    <a:p>
                      <a:pPr marL="0" indent="0" algn="ctr">
                        <a:buNone/>
                      </a:pPr>
                      <a:r>
                        <a:rPr lang="en-US" sz="2400" b="1" dirty="0">
                          <a:solidFill>
                            <a:schemeClr val="bg1"/>
                          </a:solidFill>
                          <a:latin typeface="Calibri" pitchFamily="34" charset="0"/>
                          <a:ea typeface="Calibri" pitchFamily="34" charset="-122"/>
                          <a:cs typeface="Calibri" pitchFamily="34" charset="-120"/>
                        </a:rPr>
                        <a:t>Test Case Title</a:t>
                      </a:r>
                      <a:endParaRPr lang="en-US" sz="2400" dirty="0">
                        <a:solidFill>
                          <a:schemeClr val="bg1"/>
                        </a:solidFill>
                        <a:latin typeface="Calibri" charset="0"/>
                        <a:ea typeface="Calibri" charset="0"/>
                        <a:cs typeface="Calibri" charset="0"/>
                      </a:endParaRPr>
                    </a:p>
                  </a:txBody>
                  <a:tcPr anchor="ctr"/>
                </a:tc>
                <a:tc>
                  <a:txBody>
                    <a:bodyPr/>
                    <a:lstStyle/>
                    <a:p>
                      <a:pPr marL="0" indent="0" algn="ctr">
                        <a:buNone/>
                      </a:pPr>
                      <a:r>
                        <a:rPr lang="en-US" sz="2400" b="1" dirty="0">
                          <a:solidFill>
                            <a:schemeClr val="bg1"/>
                          </a:solidFill>
                          <a:latin typeface="Calibri" pitchFamily="34" charset="0"/>
                          <a:ea typeface="Calibri" pitchFamily="34" charset="-122"/>
                          <a:cs typeface="Calibri" pitchFamily="34" charset="-120"/>
                        </a:rPr>
                        <a:t>Test Case Description</a:t>
                      </a:r>
                      <a:endParaRPr lang="en-US" sz="2400" dirty="0">
                        <a:solidFill>
                          <a:schemeClr val="bg1"/>
                        </a:solidFill>
                        <a:latin typeface="Calibri" charset="0"/>
                        <a:ea typeface="Calibri" charset="0"/>
                        <a:cs typeface="Calibri" charset="0"/>
                      </a:endParaRPr>
                    </a:p>
                  </a:txBody>
                  <a:tcPr anchor="ctr"/>
                </a:tc>
                <a:tc>
                  <a:txBody>
                    <a:bodyPr/>
                    <a:lstStyle/>
                    <a:p>
                      <a:pPr marL="0" marR="0" lvl="0" indent="0" algn="ctr" defTabSz="1044976" rtl="0" eaLnBrk="1" fontAlgn="auto" latinLnBrk="0" hangingPunct="1">
                        <a:lnSpc>
                          <a:spcPct val="100000"/>
                        </a:lnSpc>
                        <a:spcBef>
                          <a:spcPts val="0"/>
                        </a:spcBef>
                        <a:spcAft>
                          <a:spcPts val="0"/>
                        </a:spcAft>
                        <a:buClrTx/>
                        <a:buSzTx/>
                        <a:buFontTx/>
                        <a:buNone/>
                        <a:tabLst/>
                        <a:defRPr/>
                      </a:pPr>
                      <a:r>
                        <a:rPr lang="en-US" sz="2400" b="0" i="0" u="none" strike="noStrike" kern="1200" baseline="0" dirty="0">
                          <a:solidFill>
                            <a:schemeClr val="lt1"/>
                          </a:solidFill>
                          <a:latin typeface="+mn-lt"/>
                          <a:ea typeface="+mn-ea"/>
                          <a:cs typeface="+mn-cs"/>
                        </a:rPr>
                        <a:t>Test Case Detail</a:t>
                      </a:r>
                      <a:endParaRPr lang="en-US" sz="2100" b="0" i="0" u="none" strike="noStrike" kern="1200" baseline="0" dirty="0">
                        <a:solidFill>
                          <a:schemeClr val="lt1"/>
                        </a:solidFill>
                        <a:latin typeface="+mn-lt"/>
                        <a:ea typeface="+mn-ea"/>
                        <a:cs typeface="+mn-cs"/>
                      </a:endParaRPr>
                    </a:p>
                  </a:txBody>
                  <a:tcPr/>
                </a:tc>
                <a:extLst>
                  <a:ext uri="{0D108BD9-81ED-4DB2-BD59-A6C34878D82A}">
                    <a16:rowId xmlns:a16="http://schemas.microsoft.com/office/drawing/2014/main" val="2122993501"/>
                  </a:ext>
                </a:extLst>
              </a:tr>
              <a:tr h="718477">
                <a:tc>
                  <a:txBody>
                    <a:bodyPr/>
                    <a:lstStyle/>
                    <a:p>
                      <a:pPr algn="ctr"/>
                      <a:r>
                        <a:rPr lang="en-US" sz="1800" b="0" dirty="0">
                          <a:effectLst/>
                          <a:latin typeface="Times New Roman" panose="02020603050405020304" pitchFamily="18" charset="0"/>
                          <a:cs typeface="Times New Roman" panose="02020603050405020304" pitchFamily="18" charset="0"/>
                        </a:rPr>
                        <a:t>TC-Mobile-2.1</a:t>
                      </a:r>
                    </a:p>
                  </a:txBody>
                  <a:tcPr marR="101600" marT="63500" marB="63500"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validateNiche()</a:t>
                      </a:r>
                      <a:endParaRPr lang="en-US" sz="1800" dirty="0">
                        <a:latin typeface="Calibri" charset="0"/>
                        <a:ea typeface="Calibri" charset="0"/>
                        <a:cs typeface="Calibri" charset="0"/>
                      </a:endParaRPr>
                    </a:p>
                  </a:txBody>
                  <a:tcPr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Verifies that the niche/topic input passes validation when non-empty and rejects empty or whitespace-only input.</a:t>
                      </a:r>
                      <a:endParaRPr lang="en-US" sz="1800" dirty="0">
                        <a:latin typeface="Calibri" charset="0"/>
                        <a:ea typeface="Calibri" charset="0"/>
                        <a:cs typeface="Calibri" charset="0"/>
                      </a:endParaRPr>
                    </a:p>
                  </a:txBody>
                  <a:tcPr anchor="ctr"/>
                </a:tc>
                <a:tc>
                  <a:txBody>
                    <a:bodyPr/>
                    <a:lstStyle/>
                    <a:p>
                      <a:pPr algn="ctr"/>
                      <a:r>
                        <a:rPr lang="en-US" sz="1800" b="0">
                          <a:effectLst/>
                          <a:latin typeface="Times New Roman" panose="02020603050405020304" pitchFamily="18" charset="0"/>
                          <a:cs typeface="Times New Roman" panose="02020603050405020304" pitchFamily="18" charset="0"/>
                        </a:rPr>
                        <a:t>UT_2_1_001</a:t>
                      </a:r>
                    </a:p>
                  </a:txBody>
                  <a:tcPr marL="101600" marT="63500" marB="63500" anchor="ctr"/>
                </a:tc>
                <a:extLst>
                  <a:ext uri="{0D108BD9-81ED-4DB2-BD59-A6C34878D82A}">
                    <a16:rowId xmlns:a16="http://schemas.microsoft.com/office/drawing/2014/main" val="3556662792"/>
                  </a:ext>
                </a:extLst>
              </a:tr>
              <a:tr h="931359">
                <a:tc>
                  <a:txBody>
                    <a:bodyPr/>
                    <a:lstStyle/>
                    <a:p>
                      <a:pPr algn="ctr"/>
                      <a:r>
                        <a:rPr lang="en-US" sz="1800" b="0" dirty="0">
                          <a:effectLst/>
                          <a:latin typeface="Times New Roman" panose="02020603050405020304" pitchFamily="18" charset="0"/>
                          <a:cs typeface="Times New Roman" panose="02020603050405020304" pitchFamily="18" charset="0"/>
                        </a:rPr>
                        <a:t>TC-Mobile-2.2</a:t>
                      </a:r>
                    </a:p>
                  </a:txBody>
                  <a:tcPr marR="101600" marT="63500" marB="63500"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buildEpisodePrompt()</a:t>
                      </a:r>
                      <a:endParaRPr lang="en-US" sz="1800" dirty="0">
                        <a:latin typeface="Calibri" charset="0"/>
                        <a:ea typeface="Calibri" charset="0"/>
                        <a:cs typeface="Calibri" charset="0"/>
                      </a:endParaRPr>
                    </a:p>
                  </a:txBody>
                  <a:tcPr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Verifies that the AI prompt builder embeds every wizard input (niche, guest, goal, tone, length, format) into the final prompt sent to GPT-5.2.</a:t>
                      </a:r>
                      <a:endParaRPr lang="en-US" sz="1800" dirty="0">
                        <a:latin typeface="Calibri" charset="0"/>
                        <a:ea typeface="Calibri" charset="0"/>
                        <a:cs typeface="Calibri" charset="0"/>
                      </a:endParaRPr>
                    </a:p>
                  </a:txBody>
                  <a:tcPr anchor="ctr"/>
                </a:tc>
                <a:tc>
                  <a:txBody>
                    <a:bodyPr/>
                    <a:lstStyle/>
                    <a:p>
                      <a:pPr algn="ctr"/>
                      <a:r>
                        <a:rPr lang="en-US" sz="1800" b="0" dirty="0">
                          <a:effectLst/>
                          <a:latin typeface="Times New Roman" panose="02020603050405020304" pitchFamily="18" charset="0"/>
                          <a:cs typeface="Times New Roman" panose="02020603050405020304" pitchFamily="18" charset="0"/>
                        </a:rPr>
                        <a:t>UT_2_2_001</a:t>
                      </a:r>
                    </a:p>
                  </a:txBody>
                  <a:tcPr marL="101600" marT="63500" marB="63500" anchor="ctr"/>
                </a:tc>
                <a:extLst>
                  <a:ext uri="{0D108BD9-81ED-4DB2-BD59-A6C34878D82A}">
                    <a16:rowId xmlns:a16="http://schemas.microsoft.com/office/drawing/2014/main" val="854166395"/>
                  </a:ext>
                </a:extLst>
              </a:tr>
            </a:tbl>
          </a:graphicData>
        </a:graphic>
      </p:graphicFrame>
    </p:spTree>
    <p:extLst>
      <p:ext uri="{BB962C8B-B14F-4D97-AF65-F5344CB8AC3E}">
        <p14:creationId xmlns:p14="http://schemas.microsoft.com/office/powerpoint/2010/main" val="39748901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D7BC9-36BD-33FF-F63D-B40EED582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D0ED01-28D8-1A20-4B76-3C1088A9FF79}"/>
              </a:ext>
            </a:extLst>
          </p:cNvPr>
          <p:cNvSpPr>
            <a:spLocks noGrp="1"/>
          </p:cNvSpPr>
          <p:nvPr>
            <p:ph type="ctrTitle"/>
          </p:nvPr>
        </p:nvSpPr>
        <p:spPr>
          <a:xfrm>
            <a:off x="2125311" y="162263"/>
            <a:ext cx="13554955" cy="1445817"/>
          </a:xfrm>
        </p:spPr>
        <p:txBody>
          <a:bodyPr/>
          <a:lstStyle/>
          <a:p>
            <a:r>
              <a:rPr lang="en-GB" sz="4800" b="1" u="sng" dirty="0">
                <a:latin typeface="Times New Roman" panose="02020603050405020304" pitchFamily="18" charset="0"/>
                <a:cs typeface="Times New Roman" panose="02020603050405020304" pitchFamily="18" charset="0"/>
              </a:rPr>
              <a:t>Module 3: Topic Research, Question, Hook &amp; Outline Generation (AI Agent Pipeline)</a:t>
            </a:r>
            <a:endParaRPr lang="en-US" sz="4800" dirty="0"/>
          </a:p>
        </p:txBody>
      </p:sp>
      <p:sp>
        <p:nvSpPr>
          <p:cNvPr id="4" name="Slide Number Placeholder 3">
            <a:extLst>
              <a:ext uri="{FF2B5EF4-FFF2-40B4-BE49-F238E27FC236}">
                <a16:creationId xmlns:a16="http://schemas.microsoft.com/office/drawing/2014/main" id="{7E39D6B9-FD1E-F608-AB1D-59F9AD49F391}"/>
              </a:ext>
            </a:extLst>
          </p:cNvPr>
          <p:cNvSpPr>
            <a:spLocks noGrp="1"/>
          </p:cNvSpPr>
          <p:nvPr>
            <p:ph type="sldNum" sz="quarter" idx="12"/>
          </p:nvPr>
        </p:nvSpPr>
        <p:spPr>
          <a:xfrm>
            <a:off x="14054666" y="8471170"/>
            <a:ext cx="1625600" cy="508001"/>
          </a:xfrm>
        </p:spPr>
        <p:txBody>
          <a:bodyPr/>
          <a:lstStyle/>
          <a:p>
            <a:fld id="{A8EF9831-35B4-4843-9AA9-F06FC1EDDB89}" type="slidenum">
              <a:rPr lang="en-US" smtClean="0">
                <a:solidFill>
                  <a:prstClr val="white"/>
                </a:solidFill>
              </a:rPr>
              <a:pPr/>
              <a:t>83</a:t>
            </a:fld>
            <a:endParaRPr lang="en-US" dirty="0">
              <a:solidFill>
                <a:prstClr val="white"/>
              </a:solidFill>
            </a:endParaRPr>
          </a:p>
        </p:txBody>
      </p:sp>
      <p:graphicFrame>
        <p:nvGraphicFramePr>
          <p:cNvPr id="5" name="Table 4">
            <a:extLst>
              <a:ext uri="{FF2B5EF4-FFF2-40B4-BE49-F238E27FC236}">
                <a16:creationId xmlns:a16="http://schemas.microsoft.com/office/drawing/2014/main" id="{DAE434A9-F4DE-8D6C-9794-AC401C8ED955}"/>
              </a:ext>
            </a:extLst>
          </p:cNvPr>
          <p:cNvGraphicFramePr>
            <a:graphicFrameLocks noGrp="1"/>
          </p:cNvGraphicFramePr>
          <p:nvPr>
            <p:extLst>
              <p:ext uri="{D42A27DB-BD31-4B8C-83A1-F6EECF244321}">
                <p14:modId xmlns:p14="http://schemas.microsoft.com/office/powerpoint/2010/main" val="897982380"/>
              </p:ext>
            </p:extLst>
          </p:nvPr>
        </p:nvGraphicFramePr>
        <p:xfrm>
          <a:off x="406400" y="2025230"/>
          <a:ext cx="15595600" cy="5289970"/>
        </p:xfrm>
        <a:graphic>
          <a:graphicData uri="http://schemas.openxmlformats.org/drawingml/2006/table">
            <a:tbl>
              <a:tblPr firstRow="1" bandRow="1">
                <a:tableStyleId>{5C22544A-7EE6-4342-B048-85BDC9FD1C3A}</a:tableStyleId>
              </a:tblPr>
              <a:tblGrid>
                <a:gridCol w="3425622">
                  <a:extLst>
                    <a:ext uri="{9D8B030D-6E8A-4147-A177-3AD203B41FA5}">
                      <a16:colId xmlns:a16="http://schemas.microsoft.com/office/drawing/2014/main" val="3258970014"/>
                    </a:ext>
                  </a:extLst>
                </a:gridCol>
                <a:gridCol w="4543459">
                  <a:extLst>
                    <a:ext uri="{9D8B030D-6E8A-4147-A177-3AD203B41FA5}">
                      <a16:colId xmlns:a16="http://schemas.microsoft.com/office/drawing/2014/main" val="216659431"/>
                    </a:ext>
                  </a:extLst>
                </a:gridCol>
                <a:gridCol w="4508100">
                  <a:extLst>
                    <a:ext uri="{9D8B030D-6E8A-4147-A177-3AD203B41FA5}">
                      <a16:colId xmlns:a16="http://schemas.microsoft.com/office/drawing/2014/main" val="4220526069"/>
                    </a:ext>
                  </a:extLst>
                </a:gridCol>
                <a:gridCol w="3118419">
                  <a:extLst>
                    <a:ext uri="{9D8B030D-6E8A-4147-A177-3AD203B41FA5}">
                      <a16:colId xmlns:a16="http://schemas.microsoft.com/office/drawing/2014/main" val="2837479045"/>
                    </a:ext>
                  </a:extLst>
                </a:gridCol>
              </a:tblGrid>
              <a:tr h="836399">
                <a:tc>
                  <a:txBody>
                    <a:bodyPr/>
                    <a:lstStyle/>
                    <a:p>
                      <a:pPr marL="0" indent="0" algn="ctr">
                        <a:buNone/>
                      </a:pPr>
                      <a:r>
                        <a:rPr lang="en-US" sz="2400" b="1" dirty="0">
                          <a:solidFill>
                            <a:schemeClr val="bg1"/>
                          </a:solidFill>
                          <a:latin typeface="Calibri" pitchFamily="34" charset="0"/>
                          <a:ea typeface="Calibri" pitchFamily="34" charset="-122"/>
                          <a:cs typeface="Calibri" pitchFamily="34" charset="-120"/>
                        </a:rPr>
                        <a:t>Test Case Id</a:t>
                      </a:r>
                      <a:endParaRPr lang="en-US" sz="2400" dirty="0">
                        <a:solidFill>
                          <a:schemeClr val="bg1"/>
                        </a:solidFill>
                        <a:latin typeface="Calibri" charset="0"/>
                        <a:ea typeface="Calibri" charset="0"/>
                        <a:cs typeface="Calibri" charset="0"/>
                      </a:endParaRPr>
                    </a:p>
                  </a:txBody>
                  <a:tcPr anchor="ctr"/>
                </a:tc>
                <a:tc>
                  <a:txBody>
                    <a:bodyPr/>
                    <a:lstStyle/>
                    <a:p>
                      <a:pPr marL="0" indent="0" algn="ctr">
                        <a:buNone/>
                      </a:pPr>
                      <a:r>
                        <a:rPr lang="en-US" sz="2400" b="1" dirty="0">
                          <a:solidFill>
                            <a:schemeClr val="bg1"/>
                          </a:solidFill>
                          <a:latin typeface="Calibri" pitchFamily="34" charset="0"/>
                          <a:ea typeface="Calibri" pitchFamily="34" charset="-122"/>
                          <a:cs typeface="Calibri" pitchFamily="34" charset="-120"/>
                        </a:rPr>
                        <a:t>Test Case Title</a:t>
                      </a:r>
                      <a:endParaRPr lang="en-US" sz="2400" dirty="0">
                        <a:solidFill>
                          <a:schemeClr val="bg1"/>
                        </a:solidFill>
                        <a:latin typeface="Calibri" charset="0"/>
                        <a:ea typeface="Calibri" charset="0"/>
                        <a:cs typeface="Calibri" charset="0"/>
                      </a:endParaRPr>
                    </a:p>
                  </a:txBody>
                  <a:tcPr anchor="ctr"/>
                </a:tc>
                <a:tc>
                  <a:txBody>
                    <a:bodyPr/>
                    <a:lstStyle/>
                    <a:p>
                      <a:pPr marL="0" indent="0" algn="ctr">
                        <a:buNone/>
                      </a:pPr>
                      <a:r>
                        <a:rPr lang="en-US" sz="2400" b="1" dirty="0">
                          <a:solidFill>
                            <a:schemeClr val="bg1"/>
                          </a:solidFill>
                          <a:latin typeface="Calibri" pitchFamily="34" charset="0"/>
                          <a:ea typeface="Calibri" pitchFamily="34" charset="-122"/>
                          <a:cs typeface="Calibri" pitchFamily="34" charset="-120"/>
                        </a:rPr>
                        <a:t>Test Case Description</a:t>
                      </a:r>
                      <a:endParaRPr lang="en-US" sz="2400" dirty="0">
                        <a:solidFill>
                          <a:schemeClr val="bg1"/>
                        </a:solidFill>
                        <a:latin typeface="Calibri" charset="0"/>
                        <a:ea typeface="Calibri" charset="0"/>
                        <a:cs typeface="Calibri" charset="0"/>
                      </a:endParaRPr>
                    </a:p>
                  </a:txBody>
                  <a:tcPr anchor="ctr"/>
                </a:tc>
                <a:tc>
                  <a:txBody>
                    <a:bodyPr/>
                    <a:lstStyle/>
                    <a:p>
                      <a:pPr marL="0" marR="0" lvl="0" indent="0" algn="ctr" defTabSz="1044976" rtl="0" eaLnBrk="1" fontAlgn="auto" latinLnBrk="0" hangingPunct="1">
                        <a:lnSpc>
                          <a:spcPct val="100000"/>
                        </a:lnSpc>
                        <a:spcBef>
                          <a:spcPts val="0"/>
                        </a:spcBef>
                        <a:spcAft>
                          <a:spcPts val="0"/>
                        </a:spcAft>
                        <a:buClrTx/>
                        <a:buSzTx/>
                        <a:buFontTx/>
                        <a:buNone/>
                        <a:tabLst/>
                        <a:defRPr/>
                      </a:pPr>
                      <a:r>
                        <a:rPr lang="en-US" sz="2400" b="0" i="0" u="none" strike="noStrike" kern="1200" baseline="0" dirty="0">
                          <a:solidFill>
                            <a:schemeClr val="lt1"/>
                          </a:solidFill>
                          <a:latin typeface="+mn-lt"/>
                          <a:ea typeface="+mn-ea"/>
                          <a:cs typeface="+mn-cs"/>
                        </a:rPr>
                        <a:t>Test Case Detail</a:t>
                      </a:r>
                      <a:endParaRPr lang="en-US" sz="2100" b="0" i="0" u="none" strike="noStrike" kern="1200" baseline="0" dirty="0">
                        <a:solidFill>
                          <a:schemeClr val="lt1"/>
                        </a:solidFill>
                        <a:latin typeface="+mn-lt"/>
                        <a:ea typeface="+mn-ea"/>
                        <a:cs typeface="+mn-cs"/>
                      </a:endParaRPr>
                    </a:p>
                  </a:txBody>
                  <a:tcPr/>
                </a:tc>
                <a:extLst>
                  <a:ext uri="{0D108BD9-81ED-4DB2-BD59-A6C34878D82A}">
                    <a16:rowId xmlns:a16="http://schemas.microsoft.com/office/drawing/2014/main" val="2122993501"/>
                  </a:ext>
                </a:extLst>
              </a:tr>
              <a:tr h="1038504">
                <a:tc>
                  <a:txBody>
                    <a:bodyPr/>
                    <a:lstStyle/>
                    <a:p>
                      <a:pPr algn="ctr"/>
                      <a:r>
                        <a:rPr lang="en-US" sz="1800" b="0" dirty="0">
                          <a:effectLst/>
                          <a:latin typeface="Times New Roman" panose="02020603050405020304" pitchFamily="18" charset="0"/>
                          <a:cs typeface="Times New Roman" panose="02020603050405020304" pitchFamily="18" charset="0"/>
                        </a:rPr>
                        <a:t>TC-Mobile-3.1</a:t>
                      </a:r>
                    </a:p>
                  </a:txBody>
                  <a:tcPr marR="101600" marT="63500" marB="63500"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extractJSON()</a:t>
                      </a:r>
                      <a:endParaRPr lang="en-US" sz="1800" dirty="0">
                        <a:latin typeface="Calibri" charset="0"/>
                        <a:ea typeface="Calibri" charset="0"/>
                        <a:cs typeface="Calibri" charset="0"/>
                      </a:endParaRPr>
                    </a:p>
                  </a:txBody>
                  <a:tcPr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Verifies the LLM response parser strips Markdown code fences and parses valid JSON from a wrapped response.</a:t>
                      </a:r>
                      <a:endParaRPr lang="en-US" sz="1800" dirty="0">
                        <a:latin typeface="Calibri" charset="0"/>
                        <a:ea typeface="Calibri" charset="0"/>
                        <a:cs typeface="Calibri" charset="0"/>
                      </a:endParaRPr>
                    </a:p>
                  </a:txBody>
                  <a:tcPr anchor="ctr"/>
                </a:tc>
                <a:tc>
                  <a:txBody>
                    <a:bodyPr/>
                    <a:lstStyle/>
                    <a:p>
                      <a:pPr algn="ctr"/>
                      <a:r>
                        <a:rPr lang="en-US" sz="1800" b="0">
                          <a:effectLst/>
                          <a:latin typeface="Times New Roman" panose="02020603050405020304" pitchFamily="18" charset="0"/>
                          <a:cs typeface="Times New Roman" panose="02020603050405020304" pitchFamily="18" charset="0"/>
                        </a:rPr>
                        <a:t>UT_3_1_001</a:t>
                      </a:r>
                    </a:p>
                  </a:txBody>
                  <a:tcPr marL="101600" marT="63500" marB="63500" anchor="ctr"/>
                </a:tc>
                <a:extLst>
                  <a:ext uri="{0D108BD9-81ED-4DB2-BD59-A6C34878D82A}">
                    <a16:rowId xmlns:a16="http://schemas.microsoft.com/office/drawing/2014/main" val="3556662792"/>
                  </a:ext>
                </a:extLst>
              </a:tr>
              <a:tr h="1057764">
                <a:tc>
                  <a:txBody>
                    <a:bodyPr/>
                    <a:lstStyle/>
                    <a:p>
                      <a:pPr algn="ctr"/>
                      <a:r>
                        <a:rPr lang="en-US" sz="1800" b="0" dirty="0">
                          <a:effectLst/>
                          <a:latin typeface="Times New Roman" panose="02020603050405020304" pitchFamily="18" charset="0"/>
                          <a:cs typeface="Times New Roman" panose="02020603050405020304" pitchFamily="18" charset="0"/>
                        </a:rPr>
                        <a:t>TC-Mobile-3.2</a:t>
                      </a:r>
                    </a:p>
                  </a:txBody>
                  <a:tcPr marR="101600" marT="63500" marB="63500"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distributeTimestamps()</a:t>
                      </a:r>
                      <a:endParaRPr lang="en-US" sz="1800" dirty="0">
                        <a:latin typeface="Calibri" charset="0"/>
                        <a:ea typeface="Calibri" charset="0"/>
                        <a:cs typeface="Calibri" charset="0"/>
                      </a:endParaRPr>
                    </a:p>
                  </a:txBody>
                  <a:tcPr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Verifies the timestamp distributor produces N ascending mm:00 markers beginning at 00:00 across a target episode duration.</a:t>
                      </a:r>
                      <a:endParaRPr lang="en-US" sz="1800" dirty="0">
                        <a:latin typeface="Calibri" charset="0"/>
                        <a:ea typeface="Calibri" charset="0"/>
                        <a:cs typeface="Calibri" charset="0"/>
                      </a:endParaRPr>
                    </a:p>
                  </a:txBody>
                  <a:tcPr anchor="ctr"/>
                </a:tc>
                <a:tc>
                  <a:txBody>
                    <a:bodyPr/>
                    <a:lstStyle/>
                    <a:p>
                      <a:pPr algn="ctr"/>
                      <a:r>
                        <a:rPr lang="en-US" sz="1800" b="0">
                          <a:effectLst/>
                          <a:latin typeface="Times New Roman" panose="02020603050405020304" pitchFamily="18" charset="0"/>
                          <a:cs typeface="Times New Roman" panose="02020603050405020304" pitchFamily="18" charset="0"/>
                        </a:rPr>
                        <a:t>UT_3_2_001</a:t>
                      </a:r>
                    </a:p>
                  </a:txBody>
                  <a:tcPr marL="101600" marT="63500" marB="63500" anchor="ctr"/>
                </a:tc>
                <a:extLst>
                  <a:ext uri="{0D108BD9-81ED-4DB2-BD59-A6C34878D82A}">
                    <a16:rowId xmlns:a16="http://schemas.microsoft.com/office/drawing/2014/main" val="854166395"/>
                  </a:ext>
                </a:extLst>
              </a:tr>
              <a:tr h="1299539">
                <a:tc>
                  <a:txBody>
                    <a:bodyPr/>
                    <a:lstStyle/>
                    <a:p>
                      <a:pPr algn="ctr"/>
                      <a:r>
                        <a:rPr lang="en-US" sz="1800" b="0" dirty="0">
                          <a:effectLst/>
                          <a:latin typeface="Times New Roman" panose="02020603050405020304" pitchFamily="18" charset="0"/>
                          <a:cs typeface="Times New Roman" panose="02020603050405020304" pitchFamily="18" charset="0"/>
                        </a:rPr>
                        <a:t>TC-Mobile-3.3</a:t>
                      </a:r>
                    </a:p>
                  </a:txBody>
                  <a:tcPr marR="101600" marT="63500" marB="63500"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rankHooks()</a:t>
                      </a:r>
                      <a:endParaRPr lang="en-US" sz="1800" dirty="0">
                        <a:latin typeface="Calibri" charset="0"/>
                        <a:ea typeface="Calibri" charset="0"/>
                        <a:cs typeface="Calibri" charset="0"/>
                      </a:endParaRPr>
                    </a:p>
                  </a:txBody>
                  <a:tcPr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Verifies the hook ranker orders hook objects by descending text length (used as a proxy for development depth).</a:t>
                      </a:r>
                      <a:endParaRPr lang="en-US" sz="1800" dirty="0">
                        <a:latin typeface="Calibri" charset="0"/>
                        <a:ea typeface="Calibri" charset="0"/>
                        <a:cs typeface="Calibri" charset="0"/>
                      </a:endParaRPr>
                    </a:p>
                  </a:txBody>
                  <a:tcPr anchor="ctr"/>
                </a:tc>
                <a:tc>
                  <a:txBody>
                    <a:bodyPr/>
                    <a:lstStyle/>
                    <a:p>
                      <a:pPr algn="ctr"/>
                      <a:r>
                        <a:rPr lang="en-US" sz="1800" b="0">
                          <a:effectLst/>
                          <a:latin typeface="Times New Roman" panose="02020603050405020304" pitchFamily="18" charset="0"/>
                          <a:cs typeface="Times New Roman" panose="02020603050405020304" pitchFamily="18" charset="0"/>
                        </a:rPr>
                        <a:t>UT_3_3_001</a:t>
                      </a:r>
                    </a:p>
                  </a:txBody>
                  <a:tcPr marL="101600" marT="63500" marB="63500" anchor="ctr"/>
                </a:tc>
                <a:extLst>
                  <a:ext uri="{0D108BD9-81ED-4DB2-BD59-A6C34878D82A}">
                    <a16:rowId xmlns:a16="http://schemas.microsoft.com/office/drawing/2014/main" val="3460895644"/>
                  </a:ext>
                </a:extLst>
              </a:tr>
              <a:tr h="1057764">
                <a:tc>
                  <a:txBody>
                    <a:bodyPr/>
                    <a:lstStyle/>
                    <a:p>
                      <a:pPr algn="ctr"/>
                      <a:r>
                        <a:rPr lang="en-US" sz="1800" b="0" dirty="0">
                          <a:effectLst/>
                          <a:latin typeface="Times New Roman" panose="02020603050405020304" pitchFamily="18" charset="0"/>
                          <a:cs typeface="Times New Roman" panose="02020603050405020304" pitchFamily="18" charset="0"/>
                        </a:rPr>
                        <a:t>TC-Mobile-3.4</a:t>
                      </a:r>
                    </a:p>
                  </a:txBody>
                  <a:tcPr marR="101600" marT="63500" marB="63500"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exportOutlineTXT()</a:t>
                      </a:r>
                      <a:endParaRPr lang="en-US" sz="1800" dirty="0">
                        <a:latin typeface="Calibri" charset="0"/>
                        <a:ea typeface="Calibri" charset="0"/>
                        <a:cs typeface="Calibri" charset="0"/>
                      </a:endParaRPr>
                    </a:p>
                  </a:txBody>
                  <a:tcPr anchor="ctr"/>
                </a:tc>
                <a:tc>
                  <a:txBody>
                    <a:bodyPr/>
                    <a:lstStyle/>
                    <a:p>
                      <a:pPr marL="0" indent="0" algn="l">
                        <a:buNone/>
                      </a:pPr>
                      <a:r>
                        <a:rPr lang="en-US" sz="1800" dirty="0">
                          <a:solidFill>
                            <a:srgbClr val="000000"/>
                          </a:solidFill>
                          <a:latin typeface="Calibri" pitchFamily="34" charset="0"/>
                          <a:ea typeface="Calibri" pitchFamily="34" charset="-122"/>
                          <a:cs typeface="Calibri" pitchFamily="34" charset="-120"/>
                        </a:rPr>
                        <a:t>Verifies the TXT exporter renders the episode title and each outline section with its duration and purpose.</a:t>
                      </a:r>
                      <a:endParaRPr lang="en-US" sz="1800" dirty="0">
                        <a:latin typeface="Calibri" charset="0"/>
                        <a:ea typeface="Calibri" charset="0"/>
                        <a:cs typeface="Calibri" charset="0"/>
                      </a:endParaRPr>
                    </a:p>
                  </a:txBody>
                  <a:tcPr anchor="ctr"/>
                </a:tc>
                <a:tc>
                  <a:txBody>
                    <a:bodyPr/>
                    <a:lstStyle/>
                    <a:p>
                      <a:pPr algn="ctr"/>
                      <a:r>
                        <a:rPr lang="en-US" sz="1800" b="0" dirty="0">
                          <a:effectLst/>
                          <a:latin typeface="Times New Roman" panose="02020603050405020304" pitchFamily="18" charset="0"/>
                          <a:cs typeface="Times New Roman" panose="02020603050405020304" pitchFamily="18" charset="0"/>
                        </a:rPr>
                        <a:t>UT_3_4_001</a:t>
                      </a:r>
                    </a:p>
                  </a:txBody>
                  <a:tcPr marL="101600" marT="63500" marB="63500" anchor="ctr"/>
                </a:tc>
                <a:extLst>
                  <a:ext uri="{0D108BD9-81ED-4DB2-BD59-A6C34878D82A}">
                    <a16:rowId xmlns:a16="http://schemas.microsoft.com/office/drawing/2014/main" val="813805868"/>
                  </a:ext>
                </a:extLst>
              </a:tr>
            </a:tbl>
          </a:graphicData>
        </a:graphic>
      </p:graphicFrame>
    </p:spTree>
    <p:extLst>
      <p:ext uri="{BB962C8B-B14F-4D97-AF65-F5344CB8AC3E}">
        <p14:creationId xmlns:p14="http://schemas.microsoft.com/office/powerpoint/2010/main" val="28127555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Lesson Learnt</a:t>
            </a:r>
            <a:br>
              <a:rPr lang="en-US" sz="4500" b="1" u="sng" dirty="0">
                <a:latin typeface="Times New Roman" panose="02020603050405020304" pitchFamily="18" charset="0"/>
                <a:cs typeface="Times New Roman" panose="02020603050405020304" pitchFamily="18" charset="0"/>
              </a:rPr>
            </a:b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1498600" y="2129081"/>
            <a:ext cx="145542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84</a:t>
            </a:fld>
            <a:endParaRPr lang="en-US" dirty="0">
              <a:solidFill>
                <a:prstClr val="white"/>
              </a:solidFill>
              <a:latin typeface="Calibri"/>
            </a:endParaRPr>
          </a:p>
        </p:txBody>
      </p:sp>
      <p:graphicFrame>
        <p:nvGraphicFramePr>
          <p:cNvPr id="6" name="Table 5">
            <a:extLst>
              <a:ext uri="{FF2B5EF4-FFF2-40B4-BE49-F238E27FC236}">
                <a16:creationId xmlns:a16="http://schemas.microsoft.com/office/drawing/2014/main" id="{9C1D9331-C76E-6CD9-ECE7-D65301A1B752}"/>
              </a:ext>
            </a:extLst>
          </p:cNvPr>
          <p:cNvGraphicFramePr>
            <a:graphicFrameLocks noGrp="1"/>
          </p:cNvGraphicFramePr>
          <p:nvPr>
            <p:extLst>
              <p:ext uri="{D42A27DB-BD31-4B8C-83A1-F6EECF244321}">
                <p14:modId xmlns:p14="http://schemas.microsoft.com/office/powerpoint/2010/main" val="3535869789"/>
              </p:ext>
            </p:extLst>
          </p:nvPr>
        </p:nvGraphicFramePr>
        <p:xfrm>
          <a:off x="1615660" y="2286000"/>
          <a:ext cx="13675139" cy="5945745"/>
        </p:xfrm>
        <a:graphic>
          <a:graphicData uri="http://schemas.openxmlformats.org/drawingml/2006/table">
            <a:tbl>
              <a:tblPr firstRow="1" bandRow="1">
                <a:tableStyleId>{5C22544A-7EE6-4342-B048-85BDC9FD1C3A}</a:tableStyleId>
              </a:tblPr>
              <a:tblGrid>
                <a:gridCol w="2626140">
                  <a:extLst>
                    <a:ext uri="{9D8B030D-6E8A-4147-A177-3AD203B41FA5}">
                      <a16:colId xmlns:a16="http://schemas.microsoft.com/office/drawing/2014/main" val="20002"/>
                    </a:ext>
                  </a:extLst>
                </a:gridCol>
                <a:gridCol w="11048999">
                  <a:extLst>
                    <a:ext uri="{9D8B030D-6E8A-4147-A177-3AD203B41FA5}">
                      <a16:colId xmlns:a16="http://schemas.microsoft.com/office/drawing/2014/main" val="4131745611"/>
                    </a:ext>
                  </a:extLst>
                </a:gridCol>
              </a:tblGrid>
              <a:tr h="747626">
                <a:tc>
                  <a:txBody>
                    <a:bodyPr/>
                    <a:lstStyle/>
                    <a:p>
                      <a:pPr marL="0" marR="0" algn="ctr">
                        <a:spcBef>
                          <a:spcPts val="0"/>
                        </a:spcBef>
                        <a:spcAft>
                          <a:spcPts val="0"/>
                        </a:spcAft>
                      </a:pPr>
                      <a:r>
                        <a:rPr lang="en-US" sz="1800" b="1" dirty="0">
                          <a:solidFill>
                            <a:schemeClr val="bg1">
                              <a:lumMod val="95000"/>
                            </a:schemeClr>
                          </a:solidFill>
                          <a:effectLst/>
                          <a:latin typeface="Times New Roman" panose="02020603050405020304" pitchFamily="18" charset="0"/>
                        </a:rPr>
                        <a:t>Student Name and Registration #  </a:t>
                      </a:r>
                    </a:p>
                  </a:txBody>
                  <a:tcPr marL="68580" marR="68580">
                    <a:solidFill>
                      <a:schemeClr val="tx2">
                        <a:lumMod val="60000"/>
                        <a:lumOff val="40000"/>
                      </a:schemeClr>
                    </a:solidFill>
                  </a:tcPr>
                </a:tc>
                <a:tc>
                  <a:txBody>
                    <a:bodyPr/>
                    <a:lstStyle/>
                    <a:p>
                      <a:pPr marL="0" marR="0" algn="ctr">
                        <a:spcBef>
                          <a:spcPts val="0"/>
                        </a:spcBef>
                        <a:spcAft>
                          <a:spcPts val="0"/>
                        </a:spcAft>
                      </a:pPr>
                      <a:r>
                        <a:rPr lang="en-US" sz="1800" b="1" dirty="0">
                          <a:solidFill>
                            <a:schemeClr val="bg1">
                              <a:lumMod val="95000"/>
                            </a:schemeClr>
                          </a:solidFill>
                          <a:effectLst/>
                          <a:latin typeface="Times New Roman" panose="02020603050405020304" pitchFamily="18" charset="0"/>
                        </a:rPr>
                        <a:t>Lesson Learned </a:t>
                      </a:r>
                    </a:p>
                  </a:txBody>
                  <a:tcPr marL="68580" marR="68580">
                    <a:solidFill>
                      <a:schemeClr val="tx2">
                        <a:lumMod val="60000"/>
                        <a:lumOff val="40000"/>
                      </a:schemeClr>
                    </a:solidFill>
                  </a:tcPr>
                </a:tc>
                <a:extLst>
                  <a:ext uri="{0D108BD9-81ED-4DB2-BD59-A6C34878D82A}">
                    <a16:rowId xmlns:a16="http://schemas.microsoft.com/office/drawing/2014/main" val="10000"/>
                  </a:ext>
                </a:extLst>
              </a:tr>
              <a:tr h="2680095">
                <a:tc>
                  <a:txBody>
                    <a:bodyPr/>
                    <a:lstStyle/>
                    <a:p>
                      <a:pPr marL="0" marR="0" algn="ctr">
                        <a:spcBef>
                          <a:spcPts val="0"/>
                        </a:spcBef>
                        <a:spcAft>
                          <a:spcPts val="0"/>
                        </a:spcAft>
                      </a:pPr>
                      <a:r>
                        <a:rPr lang="en-US" sz="1600" b="1" dirty="0">
                          <a:effectLst/>
                          <a:latin typeface="Times New Roman" panose="02020603050405020304" pitchFamily="18" charset="0"/>
                        </a:rPr>
                        <a:t>Muhammad Awais Ashraf:</a:t>
                      </a:r>
                    </a:p>
                    <a:p>
                      <a:pPr marL="0" marR="0" algn="ctr" rtl="0">
                        <a:spcBef>
                          <a:spcPts val="0"/>
                        </a:spcBef>
                        <a:spcAft>
                          <a:spcPts val="0"/>
                        </a:spcAft>
                      </a:pPr>
                      <a:r>
                        <a:rPr lang="en-US" sz="1600" b="1" dirty="0">
                          <a:effectLst/>
                          <a:latin typeface="Times New Roman" panose="02020603050405020304" pitchFamily="18" charset="0"/>
                        </a:rPr>
                        <a:t>FA23-BDS-053</a:t>
                      </a:r>
                    </a:p>
                  </a:txBody>
                  <a:tcPr marL="68580" marR="68580"/>
                </a:tc>
                <a:tc>
                  <a:txBody>
                    <a:bodyPr/>
                    <a:lstStyle/>
                    <a:p>
                      <a:pPr marL="342900" indent="-342900">
                        <a:buFont typeface="Arial" panose="020B0604020202020204" pitchFamily="34" charset="0"/>
                        <a:buChar char="•"/>
                      </a:pPr>
                      <a:r>
                        <a:rPr lang="en-US" sz="2100" b="1" dirty="0">
                          <a:solidFill>
                            <a:srgbClr val="FF0000"/>
                          </a:solidFill>
                          <a:latin typeface="Times New Roman" panose="02020603050405020304" pitchFamily="18" charset="0"/>
                          <a:cs typeface="Times New Roman" panose="02020603050405020304" pitchFamily="18" charset="0"/>
                        </a:rPr>
                        <a:t>Technical:</a:t>
                      </a:r>
                      <a:r>
                        <a:rPr lang="en-US" sz="2100" dirty="0">
                          <a:latin typeface="Times New Roman" panose="02020603050405020304" pitchFamily="18" charset="0"/>
                          <a:cs typeface="Times New Roman" panose="02020603050405020304" pitchFamily="18" charset="0"/>
                        </a:rPr>
                        <a:t> Mobile App Development with React Native &amp; Expo, Backend API Integration with </a:t>
                      </a:r>
                      <a:r>
                        <a:rPr lang="en-US" sz="2100" dirty="0" err="1">
                          <a:latin typeface="Times New Roman" panose="02020603050405020304" pitchFamily="18" charset="0"/>
                          <a:cs typeface="Times New Roman" panose="02020603050405020304" pitchFamily="18" charset="0"/>
                        </a:rPr>
                        <a:t>FastAPI</a:t>
                      </a:r>
                      <a:r>
                        <a:rPr lang="en-US" sz="2100" dirty="0">
                          <a:latin typeface="Times New Roman" panose="02020603050405020304" pitchFamily="18" charset="0"/>
                          <a:cs typeface="Times New Roman" panose="02020603050405020304" pitchFamily="18" charset="0"/>
                        </a:rPr>
                        <a:t>, NoSQL Database Management with MongoDB, AI API Integration using LLM (GPT-5.2), Unit &amp; Integration Testing, JWT Authentication &amp; </a:t>
                      </a:r>
                      <a:r>
                        <a:rPr lang="en-US" sz="2100" dirty="0" err="1">
                          <a:latin typeface="Times New Roman" panose="02020603050405020304" pitchFamily="18" charset="0"/>
                          <a:cs typeface="Times New Roman" panose="02020603050405020304" pitchFamily="18" charset="0"/>
                        </a:rPr>
                        <a:t>AsyncStorage</a:t>
                      </a:r>
                      <a:r>
                        <a:rPr lang="en-US" sz="2100" dirty="0">
                          <a:latin typeface="Times New Roman" panose="02020603050405020304" pitchFamily="18" charset="0"/>
                          <a:cs typeface="Times New Roman" panose="02020603050405020304" pitchFamily="18" charset="0"/>
                        </a:rPr>
                        <a:t> session handling.</a:t>
                      </a:r>
                      <a:endParaRPr lang="en-US" sz="2100" dirty="0">
                        <a:solidFill>
                          <a:srgbClr val="FF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100" b="1" dirty="0">
                          <a:solidFill>
                            <a:srgbClr val="FF0000"/>
                          </a:solidFill>
                          <a:latin typeface="Times New Roman" panose="02020603050405020304" pitchFamily="18" charset="0"/>
                          <a:cs typeface="Times New Roman" panose="02020603050405020304" pitchFamily="18" charset="0"/>
                        </a:rPr>
                        <a:t>Non-technical:</a:t>
                      </a:r>
                      <a:r>
                        <a:rPr lang="en-US" sz="2100" dirty="0">
                          <a:latin typeface="Times New Roman" panose="02020603050405020304" pitchFamily="18" charset="0"/>
                          <a:cs typeface="Times New Roman" panose="02020603050405020304" pitchFamily="18" charset="0"/>
                        </a:rPr>
                        <a:t> Learned how to manage a full development cycle under academic deadlines; improved problem-solving skills as I debugged real environment issues like </a:t>
                      </a:r>
                      <a:r>
                        <a:rPr lang="en-US" sz="2100" dirty="0" err="1">
                          <a:latin typeface="Times New Roman" panose="02020603050405020304" pitchFamily="18" charset="0"/>
                          <a:cs typeface="Times New Roman" panose="02020603050405020304" pitchFamily="18" charset="0"/>
                        </a:rPr>
                        <a:t>bcrypt</a:t>
                      </a:r>
                      <a:r>
                        <a:rPr lang="en-US" sz="2100" dirty="0">
                          <a:latin typeface="Times New Roman" panose="02020603050405020304" pitchFamily="18" charset="0"/>
                          <a:cs typeface="Times New Roman" panose="02020603050405020304" pitchFamily="18" charset="0"/>
                        </a:rPr>
                        <a:t> truncation and iOS Expo Go flex rendering bugs, strengthened team collaboration by dividing responsibilities clearly between web and mobile, and gained confidence in building and deploying a production-ready AI-powered application from scratch.</a:t>
                      </a:r>
                      <a:endParaRPr lang="en-GB" sz="2200" b="1" kern="1200" dirty="0">
                        <a:solidFill>
                          <a:schemeClr val="dk1"/>
                        </a:solidFill>
                        <a:latin typeface="Times New Roman" panose="02020603050405020304" pitchFamily="18" charset="0"/>
                        <a:ea typeface="+mn-ea"/>
                        <a:cs typeface="Times New Roman" panose="02020603050405020304" pitchFamily="18" charset="0"/>
                      </a:endParaRPr>
                    </a:p>
                    <a:p>
                      <a:pPr algn="ctr"/>
                      <a:endParaRPr lang="en-GB" sz="2200" b="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2211079">
                <a:tc>
                  <a:txBody>
                    <a:bodyPr/>
                    <a:lstStyle/>
                    <a:p>
                      <a:pPr marL="0" marR="0" algn="ctr">
                        <a:spcBef>
                          <a:spcPts val="0"/>
                        </a:spcBef>
                        <a:spcAft>
                          <a:spcPts val="0"/>
                        </a:spcAft>
                      </a:pPr>
                      <a:r>
                        <a:rPr lang="en-US" sz="1600" b="1" dirty="0">
                          <a:effectLst/>
                          <a:latin typeface="Times New Roman" panose="02020603050405020304" pitchFamily="18" charset="0"/>
                        </a:rPr>
                        <a:t>Asna Hammad</a:t>
                      </a:r>
                    </a:p>
                    <a:p>
                      <a:pPr marL="0" marR="0" algn="ctr">
                        <a:spcBef>
                          <a:spcPts val="0"/>
                        </a:spcBef>
                        <a:spcAft>
                          <a:spcPts val="0"/>
                        </a:spcAft>
                      </a:pPr>
                      <a:r>
                        <a:rPr lang="en-US" sz="1600" b="1" dirty="0">
                          <a:effectLst/>
                          <a:latin typeface="Times New Roman" panose="02020603050405020304" pitchFamily="18" charset="0"/>
                        </a:rPr>
                        <a:t>FA23-BDS-051</a:t>
                      </a:r>
                    </a:p>
                  </a:txBody>
                  <a:tcPr marL="68580" marR="68580"/>
                </a:tc>
                <a:tc>
                  <a:txBody>
                    <a:bodyPr/>
                    <a:lstStyle/>
                    <a:p>
                      <a:pPr marL="285750" marR="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100" b="1" kern="1200" dirty="0">
                          <a:solidFill>
                            <a:srgbClr val="FF0000"/>
                          </a:solidFill>
                          <a:latin typeface="Times New Roman" panose="02020603050405020304" pitchFamily="18" charset="0"/>
                          <a:ea typeface="+mn-ea"/>
                          <a:cs typeface="Times New Roman" panose="02020603050405020304" pitchFamily="18" charset="0"/>
                        </a:rPr>
                        <a:t>Technical:</a:t>
                      </a:r>
                      <a:r>
                        <a:rPr lang="en-US" sz="1800" b="1" kern="1200" dirty="0">
                          <a:solidFill>
                            <a:srgbClr val="FF0000"/>
                          </a:solidFill>
                          <a:latin typeface="Times New Roman" panose="02020603050405020304" pitchFamily="18" charset="0"/>
                          <a:ea typeface="+mn-ea"/>
                          <a:cs typeface="Times New Roman" panose="02020603050405020304" pitchFamily="18" charset="0"/>
                        </a:rPr>
                        <a:t> </a:t>
                      </a:r>
                      <a:r>
                        <a:rPr lang="en-US" sz="2100" b="0" i="0" kern="1200" dirty="0">
                          <a:solidFill>
                            <a:schemeClr val="dk1"/>
                          </a:solidFill>
                          <a:effectLst/>
                          <a:latin typeface="Times New Roman" panose="02020603050405020304" pitchFamily="18" charset="0"/>
                          <a:ea typeface="+mn-ea"/>
                          <a:cs typeface="Times New Roman" panose="02020603050405020304" pitchFamily="18" charset="0"/>
                        </a:rPr>
                        <a:t>Full-Stack Web Integration, Building an</a:t>
                      </a:r>
                      <a:r>
                        <a:rPr lang="en-US" sz="2100" b="0" i="0" kern="1200" baseline="0" dirty="0">
                          <a:solidFill>
                            <a:schemeClr val="dk1"/>
                          </a:solidFill>
                          <a:effectLst/>
                          <a:latin typeface="Times New Roman" panose="02020603050405020304" pitchFamily="18" charset="0"/>
                          <a:ea typeface="+mn-ea"/>
                          <a:cs typeface="Times New Roman" panose="02020603050405020304" pitchFamily="18" charset="0"/>
                        </a:rPr>
                        <a:t> app in react, Testing Methodologies, JWT Authentication, Error Handling, How a systematic software development works.</a:t>
                      </a:r>
                    </a:p>
                    <a:p>
                      <a:pPr marL="285750" marR="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100" b="1" i="0" kern="1200" baseline="0" dirty="0">
                          <a:solidFill>
                            <a:srgbClr val="FF0000"/>
                          </a:solidFill>
                          <a:effectLst/>
                          <a:latin typeface="Times New Roman" panose="02020603050405020304" pitchFamily="18" charset="0"/>
                          <a:ea typeface="+mn-ea"/>
                          <a:cs typeface="Times New Roman" panose="02020603050405020304" pitchFamily="18" charset="0"/>
                        </a:rPr>
                        <a:t>Non-technical: </a:t>
                      </a:r>
                      <a:r>
                        <a:rPr lang="en-GB" sz="2100" b="0" i="0" kern="1200" dirty="0">
                          <a:solidFill>
                            <a:schemeClr val="dk1"/>
                          </a:solidFill>
                          <a:effectLst/>
                          <a:latin typeface="Times New Roman" panose="02020603050405020304" pitchFamily="18" charset="0"/>
                          <a:ea typeface="+mn-ea"/>
                          <a:cs typeface="Times New Roman" panose="02020603050405020304" pitchFamily="18" charset="0"/>
                        </a:rPr>
                        <a:t>Learned that strong determination and focus can overcome even the tightest deadlines, time</a:t>
                      </a:r>
                      <a:r>
                        <a:rPr lang="en-GB" sz="2100" b="0" i="0" kern="1200" baseline="0" dirty="0">
                          <a:solidFill>
                            <a:schemeClr val="dk1"/>
                          </a:solidFill>
                          <a:effectLst/>
                          <a:latin typeface="Times New Roman" panose="02020603050405020304" pitchFamily="18" charset="0"/>
                          <a:ea typeface="+mn-ea"/>
                          <a:cs typeface="Times New Roman" panose="02020603050405020304" pitchFamily="18" charset="0"/>
                        </a:rPr>
                        <a:t> management; as I p</a:t>
                      </a:r>
                      <a:r>
                        <a:rPr lang="en-GB" sz="2100" b="0" i="0" kern="1200" dirty="0">
                          <a:solidFill>
                            <a:schemeClr val="dk1"/>
                          </a:solidFill>
                          <a:effectLst/>
                          <a:latin typeface="Times New Roman" panose="02020603050405020304" pitchFamily="18" charset="0"/>
                          <a:ea typeface="+mn-ea"/>
                          <a:cs typeface="Times New Roman" panose="02020603050405020304" pitchFamily="18" charset="0"/>
                        </a:rPr>
                        <a:t>rioritized tasks effectively and worked beyond comfort zones to meet semester milestones, team collaboration, Problem Solving as I faced challenges like </a:t>
                      </a:r>
                      <a:r>
                        <a:rPr lang="en-GB" sz="2100" b="0" i="0" kern="1200" dirty="0" err="1">
                          <a:solidFill>
                            <a:schemeClr val="dk1"/>
                          </a:solidFill>
                          <a:effectLst/>
                          <a:latin typeface="Times New Roman" panose="02020603050405020304" pitchFamily="18" charset="0"/>
                          <a:ea typeface="+mn-ea"/>
                          <a:cs typeface="Times New Roman" panose="02020603050405020304" pitchFamily="18" charset="0"/>
                        </a:rPr>
                        <a:t>bcrypt</a:t>
                      </a:r>
                      <a:r>
                        <a:rPr lang="en-GB" sz="2100" b="0" i="0" kern="1200" dirty="0">
                          <a:solidFill>
                            <a:schemeClr val="dk1"/>
                          </a:solidFill>
                          <a:effectLst/>
                          <a:latin typeface="Times New Roman" panose="02020603050405020304" pitchFamily="18" charset="0"/>
                          <a:ea typeface="+mn-ea"/>
                          <a:cs typeface="Times New Roman" panose="02020603050405020304" pitchFamily="18" charset="0"/>
                        </a:rPr>
                        <a:t> 72-byte limitation.</a:t>
                      </a:r>
                      <a:endParaRPr lang="en-US" sz="1800" kern="1200" dirty="0">
                        <a:solidFill>
                          <a:srgbClr val="FF0000"/>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5691094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Work Break Down</a:t>
            </a:r>
            <a:br>
              <a:rPr lang="en-US" sz="4500" b="1" u="sng" dirty="0">
                <a:latin typeface="Times New Roman" panose="02020603050405020304" pitchFamily="18" charset="0"/>
                <a:cs typeface="Times New Roman" panose="02020603050405020304" pitchFamily="18" charset="0"/>
              </a:rPr>
            </a:b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1498600" y="2129081"/>
            <a:ext cx="145542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85</a:t>
            </a:fld>
            <a:endParaRPr lang="en-US" dirty="0">
              <a:solidFill>
                <a:prstClr val="white"/>
              </a:solidFill>
              <a:latin typeface="Calibri"/>
            </a:endParaRPr>
          </a:p>
        </p:txBody>
      </p:sp>
      <p:graphicFrame>
        <p:nvGraphicFramePr>
          <p:cNvPr id="6" name="Table 5">
            <a:extLst>
              <a:ext uri="{FF2B5EF4-FFF2-40B4-BE49-F238E27FC236}">
                <a16:creationId xmlns:a16="http://schemas.microsoft.com/office/drawing/2014/main" id="{9C1D9331-C76E-6CD9-ECE7-D65301A1B752}"/>
              </a:ext>
            </a:extLst>
          </p:cNvPr>
          <p:cNvGraphicFramePr>
            <a:graphicFrameLocks noGrp="1"/>
          </p:cNvGraphicFramePr>
          <p:nvPr>
            <p:extLst>
              <p:ext uri="{D42A27DB-BD31-4B8C-83A1-F6EECF244321}">
                <p14:modId xmlns:p14="http://schemas.microsoft.com/office/powerpoint/2010/main" val="4239489637"/>
              </p:ext>
            </p:extLst>
          </p:nvPr>
        </p:nvGraphicFramePr>
        <p:xfrm>
          <a:off x="584200" y="2011335"/>
          <a:ext cx="15240000" cy="6827865"/>
        </p:xfrm>
        <a:graphic>
          <a:graphicData uri="http://schemas.openxmlformats.org/drawingml/2006/table">
            <a:tbl>
              <a:tblPr firstRow="1" bandRow="1">
                <a:tableStyleId>{5C22544A-7EE6-4342-B048-85BDC9FD1C3A}</a:tableStyleId>
              </a:tblPr>
              <a:tblGrid>
                <a:gridCol w="4903961">
                  <a:extLst>
                    <a:ext uri="{9D8B030D-6E8A-4147-A177-3AD203B41FA5}">
                      <a16:colId xmlns:a16="http://schemas.microsoft.com/office/drawing/2014/main" val="20002"/>
                    </a:ext>
                  </a:extLst>
                </a:gridCol>
                <a:gridCol w="5733861">
                  <a:extLst>
                    <a:ext uri="{9D8B030D-6E8A-4147-A177-3AD203B41FA5}">
                      <a16:colId xmlns:a16="http://schemas.microsoft.com/office/drawing/2014/main" val="4131745611"/>
                    </a:ext>
                  </a:extLst>
                </a:gridCol>
                <a:gridCol w="4602178">
                  <a:extLst>
                    <a:ext uri="{9D8B030D-6E8A-4147-A177-3AD203B41FA5}">
                      <a16:colId xmlns:a16="http://schemas.microsoft.com/office/drawing/2014/main" val="2455803646"/>
                    </a:ext>
                  </a:extLst>
                </a:gridCol>
              </a:tblGrid>
              <a:tr h="584918">
                <a:tc>
                  <a:txBody>
                    <a:bodyPr/>
                    <a:lstStyle/>
                    <a:p>
                      <a:pPr marL="0" marR="0" algn="ctr">
                        <a:spcBef>
                          <a:spcPts val="0"/>
                        </a:spcBef>
                        <a:spcAft>
                          <a:spcPts val="0"/>
                        </a:spcAft>
                      </a:pPr>
                      <a:r>
                        <a:rPr lang="en-US" sz="1600" b="1" dirty="0">
                          <a:effectLst/>
                          <a:latin typeface="Times New Roman" panose="02020603050405020304" pitchFamily="18" charset="0"/>
                        </a:rPr>
                        <a:t>Milestones </a:t>
                      </a:r>
                      <a:endParaRPr lang="en-US" sz="1600" dirty="0">
                        <a:effectLst/>
                        <a:latin typeface="Times New Roman" panose="02020603050405020304" pitchFamily="18" charset="0"/>
                      </a:endParaRPr>
                    </a:p>
                  </a:txBody>
                  <a:tcPr marL="68580" marR="68580">
                    <a:solidFill>
                      <a:schemeClr val="tx2">
                        <a:lumMod val="60000"/>
                        <a:lumOff val="40000"/>
                      </a:schemeClr>
                    </a:solidFill>
                  </a:tcPr>
                </a:tc>
                <a:tc>
                  <a:txBody>
                    <a:bodyPr/>
                    <a:lstStyle/>
                    <a:p>
                      <a:pPr marL="0" marR="0" algn="ctr">
                        <a:spcBef>
                          <a:spcPts val="0"/>
                        </a:spcBef>
                        <a:spcAft>
                          <a:spcPts val="0"/>
                        </a:spcAft>
                      </a:pPr>
                      <a:r>
                        <a:rPr lang="en-US" sz="1600" dirty="0" err="1">
                          <a:effectLst/>
                          <a:latin typeface="Times New Roman" panose="02020603050405020304" pitchFamily="18" charset="0"/>
                        </a:rPr>
                        <a:t>Asna</a:t>
                      </a:r>
                      <a:r>
                        <a:rPr lang="en-US" sz="1600" dirty="0">
                          <a:effectLst/>
                          <a:latin typeface="Times New Roman" panose="02020603050405020304" pitchFamily="18" charset="0"/>
                        </a:rPr>
                        <a:t> </a:t>
                      </a:r>
                      <a:r>
                        <a:rPr lang="en-US" sz="1600" dirty="0" err="1">
                          <a:effectLst/>
                          <a:latin typeface="Times New Roman" panose="02020603050405020304" pitchFamily="18" charset="0"/>
                        </a:rPr>
                        <a:t>Hammad</a:t>
                      </a:r>
                      <a:r>
                        <a:rPr lang="en-US" sz="1600" dirty="0">
                          <a:effectLst/>
                          <a:latin typeface="Times New Roman" panose="02020603050405020304" pitchFamily="18" charset="0"/>
                        </a:rPr>
                        <a:t> (FA23-BDS-051)</a:t>
                      </a:r>
                    </a:p>
                  </a:txBody>
                  <a:tcPr marL="68580" marR="68580">
                    <a:solidFill>
                      <a:schemeClr val="tx2">
                        <a:lumMod val="60000"/>
                        <a:lumOff val="40000"/>
                      </a:schemeClr>
                    </a:solidFill>
                  </a:tcPr>
                </a:tc>
                <a:tc>
                  <a:txBody>
                    <a:bodyPr/>
                    <a:lstStyle/>
                    <a:p>
                      <a:pPr marL="0" marR="0" lvl="0" indent="0" algn="ctr" defTabSz="1044976" rtl="0" eaLnBrk="1" fontAlgn="auto" latinLnBrk="0" hangingPunct="1">
                        <a:lnSpc>
                          <a:spcPct val="100000"/>
                        </a:lnSpc>
                        <a:spcBef>
                          <a:spcPts val="0"/>
                        </a:spcBef>
                        <a:spcAft>
                          <a:spcPts val="0"/>
                        </a:spcAft>
                        <a:buClrTx/>
                        <a:buSzTx/>
                        <a:buFontTx/>
                        <a:buNone/>
                        <a:tabLst/>
                        <a:defRPr/>
                      </a:pPr>
                      <a:r>
                        <a:rPr lang="en-US" sz="1600" b="1" dirty="0">
                          <a:effectLst/>
                          <a:latin typeface="Times New Roman" panose="02020603050405020304" pitchFamily="18" charset="0"/>
                        </a:rPr>
                        <a:t>Awais Ashraf (FA23-BDS-053)</a:t>
                      </a:r>
                      <a:endParaRPr lang="en-US" sz="1600" dirty="0">
                        <a:effectLst/>
                        <a:latin typeface="Times New Roman" panose="02020603050405020304" pitchFamily="18" charset="0"/>
                      </a:endParaRPr>
                    </a:p>
                    <a:p>
                      <a:pPr marL="0" marR="0" algn="ctr">
                        <a:spcBef>
                          <a:spcPts val="0"/>
                        </a:spcBef>
                        <a:spcAft>
                          <a:spcPts val="0"/>
                        </a:spcAft>
                      </a:pPr>
                      <a:endParaRPr lang="en-US" sz="1600" dirty="0">
                        <a:effectLst/>
                        <a:latin typeface="Times New Roman" panose="02020603050405020304" pitchFamily="18" charset="0"/>
                      </a:endParaRPr>
                    </a:p>
                  </a:txBody>
                  <a:tcPr marL="68580" marR="68580">
                    <a:solidFill>
                      <a:schemeClr val="tx2">
                        <a:lumMod val="60000"/>
                        <a:lumOff val="40000"/>
                      </a:schemeClr>
                    </a:solidFill>
                  </a:tcPr>
                </a:tc>
                <a:extLst>
                  <a:ext uri="{0D108BD9-81ED-4DB2-BD59-A6C34878D82A}">
                    <a16:rowId xmlns:a16="http://schemas.microsoft.com/office/drawing/2014/main" val="10000"/>
                  </a:ext>
                </a:extLst>
              </a:tr>
              <a:tr h="2031822">
                <a:tc>
                  <a:txBody>
                    <a:bodyPr/>
                    <a:lstStyle/>
                    <a:p>
                      <a:pPr marL="171450" marR="0" lvl="0" indent="-171450" algn="ctr">
                        <a:spcBef>
                          <a:spcPts val="0"/>
                        </a:spcBef>
                        <a:spcAft>
                          <a:spcPts val="600"/>
                        </a:spcAft>
                        <a:buFont typeface="Arial" panose="020B0604020202020204" pitchFamily="34" charset="0"/>
                        <a:buChar char="•"/>
                      </a:pPr>
                      <a:r>
                        <a:rPr lang="en-US" sz="1600" dirty="0">
                          <a:effectLst/>
                          <a:latin typeface="Times New Roman" panose="02020603050405020304" pitchFamily="18" charset="0"/>
                        </a:rPr>
                        <a:t>SCOPE Document and  SCOPE presentation</a:t>
                      </a:r>
                    </a:p>
                  </a:txBody>
                  <a:tcPr marL="68580" marR="68580"/>
                </a:tc>
                <a:tc>
                  <a:txBody>
                    <a:bodyPr/>
                    <a:lstStyle/>
                    <a:p>
                      <a:pPr algn="l"/>
                      <a:r>
                        <a:rPr lang="en-US" sz="1400" b="1" kern="1200" dirty="0">
                          <a:solidFill>
                            <a:schemeClr val="tx1"/>
                          </a:solidFill>
                          <a:effectLst/>
                          <a:latin typeface="Times New Roman" panose="02020603050405020304" pitchFamily="18" charset="0"/>
                          <a:ea typeface="+mn-ea"/>
                          <a:cs typeface="Times New Roman" panose="02020603050405020304" pitchFamily="18" charset="0"/>
                        </a:rPr>
                        <a:t>Document:</a:t>
                      </a:r>
                      <a:r>
                        <a:rPr lang="en-US" sz="1400" b="1"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Software Process &amp; Methodology, Problem Solution, Stakeholders, Mobile Modules, Mobile Mockups, Presentation Formatting. </a:t>
                      </a:r>
                    </a:p>
                    <a:p>
                      <a:pPr algn="l"/>
                      <a:r>
                        <a:rPr lang="en-US" sz="1400" b="1" kern="1200" dirty="0">
                          <a:solidFill>
                            <a:schemeClr val="tx1"/>
                          </a:solidFill>
                          <a:effectLst/>
                          <a:latin typeface="Times New Roman" panose="02020603050405020304" pitchFamily="18" charset="0"/>
                          <a:ea typeface="+mn-ea"/>
                          <a:cs typeface="Times New Roman" panose="02020603050405020304" pitchFamily="18" charset="0"/>
                        </a:rPr>
                        <a:t>Presentation: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All slides except Web Modules and Web Mockups (Title, Abstract, Research, Introduction, Problem Statement, Solution, Motivation, Existing Systems, Skills, Advantages, Scope, Limitations, Methodology, Tools, Stakeholders, Work Division, Requirements, Concepts, Gantt Chart, Mobile Mockups, Conclusion, References, Plagiarism, and overall presentation formatting).</a:t>
                      </a:r>
                    </a:p>
                    <a:p>
                      <a:pPr algn="ctr"/>
                      <a:endParaRPr lang="en-GB" sz="1400" b="1"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lvl="0"/>
                      <a:r>
                        <a:rPr lang="en-US" sz="1400" b="1" kern="1200" dirty="0">
                          <a:solidFill>
                            <a:schemeClr val="tx1"/>
                          </a:solidFill>
                          <a:effectLst/>
                          <a:latin typeface="Times New Roman" panose="02020603050405020304" pitchFamily="18" charset="0"/>
                          <a:ea typeface="+mn-ea"/>
                          <a:cs typeface="Times New Roman" panose="02020603050405020304" pitchFamily="18" charset="0"/>
                        </a:rPr>
                        <a:t>Scope Document:</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Introduction, Objectives, Literature Review (with comparison table), Advantages, Abstract, Problem Statement, Vision Statement, Scope, Limitations, Data Gathering, Tools &amp; Technologies, WBS &amp; Gantt Chart, References, Web Modules (Client Web &amp; Admin Web), Web Mockups, Document Formatting. </a:t>
                      </a:r>
                    </a:p>
                    <a:p>
                      <a:pPr lvl="0"/>
                      <a:r>
                        <a:rPr lang="en-US" sz="1400" b="1" kern="1200" dirty="0">
                          <a:solidFill>
                            <a:schemeClr val="tx1"/>
                          </a:solidFill>
                          <a:effectLst/>
                          <a:latin typeface="Times New Roman" panose="02020603050405020304" pitchFamily="18" charset="0"/>
                          <a:ea typeface="+mn-ea"/>
                          <a:cs typeface="Times New Roman" panose="02020603050405020304" pitchFamily="18" charset="0"/>
                        </a:rPr>
                        <a:t>Presentation: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Web Modules Slides, Web Mockups Slides.</a:t>
                      </a:r>
                    </a:p>
                  </a:txBody>
                  <a:tcPr/>
                </a:tc>
                <a:extLst>
                  <a:ext uri="{0D108BD9-81ED-4DB2-BD59-A6C34878D82A}">
                    <a16:rowId xmlns:a16="http://schemas.microsoft.com/office/drawing/2014/main" val="10001"/>
                  </a:ext>
                </a:extLst>
              </a:tr>
              <a:tr h="1648955">
                <a:tc>
                  <a:txBody>
                    <a:bodyPr/>
                    <a:lstStyle/>
                    <a:p>
                      <a:pPr marL="171450" marR="0" lvl="0" indent="-171450" algn="ctr">
                        <a:spcBef>
                          <a:spcPts val="0"/>
                        </a:spcBef>
                        <a:spcAft>
                          <a:spcPts val="600"/>
                        </a:spcAft>
                        <a:buFont typeface="Arial" panose="020B0604020202020204" pitchFamily="34" charset="0"/>
                        <a:buChar char="•"/>
                      </a:pPr>
                      <a:r>
                        <a:rPr lang="en-US" sz="1600" dirty="0">
                          <a:effectLst/>
                          <a:latin typeface="Times New Roman" panose="02020603050405020304" pitchFamily="18" charset="0"/>
                        </a:rPr>
                        <a:t>SRS Document and SRS Presentation</a:t>
                      </a:r>
                    </a:p>
                  </a:txBody>
                  <a:tcPr marL="68580" marR="68580"/>
                </a:tc>
                <a:tc>
                  <a:txBody>
                    <a:bodyPr/>
                    <a:lstStyle/>
                    <a:p>
                      <a:pPr lvl="0"/>
                      <a:r>
                        <a:rPr lang="en-US" sz="1400" b="1" kern="1200" dirty="0">
                          <a:solidFill>
                            <a:schemeClr val="tx1"/>
                          </a:solidFill>
                          <a:effectLst/>
                          <a:latin typeface="Times New Roman" panose="02020603050405020304" pitchFamily="18" charset="0"/>
                          <a:ea typeface="+mn-ea"/>
                          <a:cs typeface="Times New Roman" panose="02020603050405020304" pitchFamily="18" charset="0"/>
                        </a:rPr>
                        <a:t>Word Doc:</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Whole chapter 1(1.1-1.11), 2.4 mockups for mobile app, Use case diagram, 2.5.1: Use case lists + 2.5.2: tables + 2.6: functional requirements for first 2 modules, plagiarism report for word.</a:t>
                      </a:r>
                    </a:p>
                    <a:p>
                      <a:r>
                        <a:rPr lang="en-US" sz="1400" kern="1200" dirty="0">
                          <a:solidFill>
                            <a:schemeClr val="tx1"/>
                          </a:solidFill>
                          <a:effectLst/>
                          <a:latin typeface="Times New Roman" panose="02020603050405020304" pitchFamily="18" charset="0"/>
                          <a:ea typeface="+mn-ea"/>
                          <a:cs typeface="Times New Roman" panose="02020603050405020304" pitchFamily="18" charset="0"/>
                        </a:rPr>
                        <a:t>Word doc formatting</a:t>
                      </a:r>
                    </a:p>
                    <a:p>
                      <a:r>
                        <a:rPr lang="en-US" sz="1400" b="1" kern="1200" dirty="0">
                          <a:solidFill>
                            <a:schemeClr val="tx1"/>
                          </a:solidFill>
                          <a:effectLst/>
                          <a:latin typeface="Times New Roman" panose="02020603050405020304" pitchFamily="18" charset="0"/>
                          <a:ea typeface="+mn-ea"/>
                          <a:cs typeface="Times New Roman" panose="02020603050405020304" pitchFamily="18" charset="0"/>
                        </a:rPr>
                        <a:t>Presentation: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Slides 1-5, 15, 16, 19-29, 31</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lvl="0"/>
                      <a:r>
                        <a:rPr lang="en-US" sz="1400" b="1" kern="1200" dirty="0">
                          <a:solidFill>
                            <a:schemeClr val="tx1"/>
                          </a:solidFill>
                          <a:effectLst/>
                          <a:latin typeface="Times New Roman" panose="02020603050405020304" pitchFamily="18" charset="0"/>
                          <a:ea typeface="+mn-ea"/>
                          <a:cs typeface="Times New Roman" panose="02020603050405020304" pitchFamily="18" charset="0"/>
                        </a:rPr>
                        <a:t>Word doc:</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Chapter 2(2.1- 2.4), mockups for web, 2.5: use case description, 2.5.1/2 (use case lists and tables for remaining 4 modules), 2.6 (Functional Requirements tables for remaining 4 modules), 2.7, 2.8, references, plagiarism report for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pptx</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p>
                    <a:p>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pptx</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formatting</a:t>
                      </a:r>
                    </a:p>
                    <a:p>
                      <a:pPr lvl="0"/>
                      <a:r>
                        <a:rPr lang="en-US" sz="1400" b="1" kern="1200" dirty="0">
                          <a:solidFill>
                            <a:schemeClr val="tx1"/>
                          </a:solidFill>
                          <a:effectLst/>
                          <a:latin typeface="Times New Roman" panose="02020603050405020304" pitchFamily="18" charset="0"/>
                          <a:ea typeface="+mn-ea"/>
                          <a:cs typeface="Times New Roman" panose="02020603050405020304" pitchFamily="18" charset="0"/>
                        </a:rPr>
                        <a:t>Presentation: </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slides 9-14, 17, 18, 30, 32, </a:t>
                      </a:r>
                      <a:r>
                        <a:rPr lang="en-US" sz="1400" kern="1200" dirty="0" smtClean="0">
                          <a:solidFill>
                            <a:schemeClr val="tx1"/>
                          </a:solidFill>
                          <a:effectLst/>
                          <a:latin typeface="Times New Roman" panose="02020603050405020304" pitchFamily="18" charset="0"/>
                          <a:ea typeface="+mn-ea"/>
                          <a:cs typeface="Times New Roman" panose="02020603050405020304" pitchFamily="18" charset="0"/>
                        </a:rPr>
                        <a:t>33</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r h="1169837">
                <a:tc>
                  <a:txBody>
                    <a:bodyPr/>
                    <a:lstStyle/>
                    <a:p>
                      <a:pPr marL="171450" marR="0" lvl="0" indent="-171450" algn="ctr">
                        <a:spcBef>
                          <a:spcPts val="0"/>
                        </a:spcBef>
                        <a:spcAft>
                          <a:spcPts val="600"/>
                        </a:spcAft>
                        <a:buFont typeface="Arial" panose="020B0604020202020204" pitchFamily="34" charset="0"/>
                        <a:buChar char="•"/>
                      </a:pPr>
                      <a:r>
                        <a:rPr lang="en-US" sz="1600" dirty="0">
                          <a:effectLst/>
                          <a:latin typeface="Times New Roman" panose="02020603050405020304" pitchFamily="18" charset="0"/>
                        </a:rPr>
                        <a:t>SDS Document and SDS Presentation</a:t>
                      </a:r>
                    </a:p>
                  </a:txBody>
                  <a:tcPr marL="68580" marR="68580"/>
                </a:tc>
                <a:tc>
                  <a:txBody>
                    <a:bodyPr/>
                    <a:lstStyle/>
                    <a:p>
                      <a:pPr lvl="0"/>
                      <a:r>
                        <a:rPr lang="en-US" sz="1400" kern="1200" dirty="0">
                          <a:solidFill>
                            <a:schemeClr val="tx1"/>
                          </a:solidFill>
                          <a:effectLst/>
                          <a:latin typeface="Times New Roman" panose="02020603050405020304" pitchFamily="18" charset="0"/>
                          <a:ea typeface="+mn-ea"/>
                          <a:cs typeface="Times New Roman" panose="02020603050405020304" pitchFamily="18" charset="0"/>
                        </a:rPr>
                        <a:t>Section 3.2, Architecture Pattern (whole)</a:t>
                      </a:r>
                    </a:p>
                    <a:p>
                      <a:pPr lvl="0"/>
                      <a:r>
                        <a:rPr lang="en-US" sz="1400" kern="1200" dirty="0">
                          <a:solidFill>
                            <a:schemeClr val="tx1"/>
                          </a:solidFill>
                          <a:effectLst/>
                          <a:latin typeface="Times New Roman" panose="02020603050405020304" pitchFamily="18" charset="0"/>
                          <a:ea typeface="+mn-ea"/>
                          <a:cs typeface="Times New Roman" panose="02020603050405020304" pitchFamily="18" charset="0"/>
                        </a:rPr>
                        <a:t>Section 3.3.1 Sequence diagrams (all)  </a:t>
                      </a:r>
                    </a:p>
                    <a:p>
                      <a:pPr lvl="0"/>
                      <a:r>
                        <a:rPr lang="en-US" sz="1400" kern="1200" dirty="0">
                          <a:solidFill>
                            <a:schemeClr val="tx1"/>
                          </a:solidFill>
                          <a:effectLst/>
                          <a:latin typeface="Times New Roman" panose="02020603050405020304" pitchFamily="18" charset="0"/>
                          <a:ea typeface="+mn-ea"/>
                          <a:cs typeface="Times New Roman" panose="02020603050405020304" pitchFamily="18" charset="0"/>
                        </a:rPr>
                        <a:t>Section 3.3.2 class diagram </a:t>
                      </a:r>
                    </a:p>
                    <a:p>
                      <a:pPr lvl="0"/>
                      <a:r>
                        <a:rPr lang="en-US" sz="1400" kern="1200" dirty="0">
                          <a:solidFill>
                            <a:schemeClr val="tx1"/>
                          </a:solidFill>
                          <a:effectLst/>
                          <a:latin typeface="Times New Roman" panose="02020603050405020304" pitchFamily="18" charset="0"/>
                          <a:ea typeface="+mn-ea"/>
                          <a:cs typeface="Times New Roman" panose="02020603050405020304" pitchFamily="18" charset="0"/>
                        </a:rPr>
                        <a:t>Section 3.3.5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usecase</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diagram </a:t>
                      </a:r>
                    </a:p>
                    <a:p>
                      <a:pPr lvl="0"/>
                      <a:r>
                        <a:rPr lang="en-US" sz="1400" kern="1200" dirty="0">
                          <a:solidFill>
                            <a:schemeClr val="tx1"/>
                          </a:solidFill>
                          <a:effectLst/>
                          <a:latin typeface="Times New Roman" panose="02020603050405020304" pitchFamily="18" charset="0"/>
                          <a:ea typeface="+mn-ea"/>
                          <a:cs typeface="Times New Roman" panose="02020603050405020304" pitchFamily="18" charset="0"/>
                        </a:rPr>
                        <a:t>document formatting</a:t>
                      </a:r>
                    </a:p>
                  </a:txBody>
                  <a:tcPr/>
                </a:tc>
                <a:tc>
                  <a:txBody>
                    <a:bodyPr/>
                    <a:lstStyle/>
                    <a:p>
                      <a:pPr lvl="0"/>
                      <a:r>
                        <a:rPr lang="en-US" sz="1400" kern="1200" dirty="0">
                          <a:solidFill>
                            <a:schemeClr val="tx1"/>
                          </a:solidFill>
                          <a:effectLst/>
                          <a:latin typeface="Times New Roman" panose="02020603050405020304" pitchFamily="18" charset="0"/>
                          <a:ea typeface="+mn-ea"/>
                          <a:cs typeface="Times New Roman" panose="02020603050405020304" pitchFamily="18" charset="0"/>
                        </a:rPr>
                        <a:t>Section 3.1 System architecture overview (whole)</a:t>
                      </a:r>
                    </a:p>
                    <a:p>
                      <a:pPr lvl="0"/>
                      <a:r>
                        <a:rPr lang="en-US" sz="1400" kern="1200" dirty="0">
                          <a:solidFill>
                            <a:schemeClr val="tx1"/>
                          </a:solidFill>
                          <a:effectLst/>
                          <a:latin typeface="Times New Roman" panose="02020603050405020304" pitchFamily="18" charset="0"/>
                          <a:ea typeface="+mn-ea"/>
                          <a:cs typeface="Times New Roman" panose="02020603050405020304" pitchFamily="18" charset="0"/>
                        </a:rPr>
                        <a:t>Section 3.3.3 Activity diagrams (all)</a:t>
                      </a:r>
                    </a:p>
                    <a:p>
                      <a:pPr lvl="0"/>
                      <a:r>
                        <a:rPr lang="en-US" sz="1400" kern="1200" dirty="0">
                          <a:solidFill>
                            <a:schemeClr val="tx1"/>
                          </a:solidFill>
                          <a:effectLst/>
                          <a:latin typeface="Times New Roman" panose="02020603050405020304" pitchFamily="18" charset="0"/>
                          <a:ea typeface="+mn-ea"/>
                          <a:cs typeface="Times New Roman" panose="02020603050405020304" pitchFamily="18" charset="0"/>
                        </a:rPr>
                        <a:t>Section 3.3.4 State Diagrams (all) </a:t>
                      </a:r>
                    </a:p>
                    <a:p>
                      <a:pPr lvl="0"/>
                      <a:r>
                        <a:rPr lang="en-US" sz="1400" kern="1200" dirty="0">
                          <a:solidFill>
                            <a:schemeClr val="tx1"/>
                          </a:solidFill>
                          <a:effectLst/>
                          <a:latin typeface="Times New Roman" panose="02020603050405020304" pitchFamily="18" charset="0"/>
                          <a:ea typeface="+mn-ea"/>
                          <a:cs typeface="Times New Roman" panose="02020603050405020304" pitchFamily="18" charset="0"/>
                        </a:rPr>
                        <a:t>Section 3.4 (whole)</a:t>
                      </a:r>
                    </a:p>
                  </a:txBody>
                  <a:tcPr/>
                </a:tc>
                <a:extLst>
                  <a:ext uri="{0D108BD9-81ED-4DB2-BD59-A6C34878D82A}">
                    <a16:rowId xmlns:a16="http://schemas.microsoft.com/office/drawing/2014/main" val="1054416383"/>
                  </a:ext>
                </a:extLst>
              </a:tr>
              <a:tr h="455513">
                <a:tc>
                  <a:txBody>
                    <a:bodyPr/>
                    <a:lstStyle/>
                    <a:p>
                      <a:pPr marL="171450" marR="0" lvl="0" indent="-171450" algn="ctr">
                        <a:spcBef>
                          <a:spcPts val="0"/>
                        </a:spcBef>
                        <a:spcAft>
                          <a:spcPts val="600"/>
                        </a:spcAft>
                        <a:buFont typeface="Arial" panose="020B0604020202020204" pitchFamily="34" charset="0"/>
                        <a:buChar char="•"/>
                      </a:pPr>
                      <a:r>
                        <a:rPr lang="en-US" sz="1600" dirty="0">
                          <a:effectLst/>
                          <a:latin typeface="Times New Roman" panose="02020603050405020304" pitchFamily="18" charset="0"/>
                        </a:rPr>
                        <a:t>Project Design (Figma and Implementation)</a:t>
                      </a:r>
                    </a:p>
                  </a:txBody>
                  <a:tcPr marL="68580" marR="68580"/>
                </a:tc>
                <a:tc>
                  <a:txBody>
                    <a:bodyPr/>
                    <a:lstStyle/>
                    <a:p>
                      <a:r>
                        <a:rPr lang="en-US" sz="1400" kern="1200" dirty="0">
                          <a:solidFill>
                            <a:schemeClr val="tx1"/>
                          </a:solidFill>
                          <a:effectLst/>
                          <a:latin typeface="Times New Roman" panose="02020603050405020304" pitchFamily="18" charset="0"/>
                          <a:ea typeface="+mn-ea"/>
                          <a:cs typeface="Times New Roman" panose="02020603050405020304" pitchFamily="18" charset="0"/>
                        </a:rPr>
                        <a:t>Web prototype + Implementation</a:t>
                      </a:r>
                    </a:p>
                  </a:txBody>
                  <a:tcPr/>
                </a:tc>
                <a:tc>
                  <a:txBody>
                    <a:bodyPr/>
                    <a:lstStyle/>
                    <a:p>
                      <a:r>
                        <a:rPr lang="en-US" sz="1400" kern="1200" dirty="0">
                          <a:solidFill>
                            <a:schemeClr val="tx1"/>
                          </a:solidFill>
                          <a:effectLst/>
                          <a:latin typeface="Times New Roman" panose="02020603050405020304" pitchFamily="18" charset="0"/>
                          <a:ea typeface="+mn-ea"/>
                          <a:cs typeface="Times New Roman" panose="02020603050405020304" pitchFamily="18" charset="0"/>
                        </a:rPr>
                        <a:t>Mobile App prototype + implementation</a:t>
                      </a:r>
                    </a:p>
                  </a:txBody>
                  <a:tcPr/>
                </a:tc>
                <a:extLst>
                  <a:ext uri="{0D108BD9-81ED-4DB2-BD59-A6C34878D82A}">
                    <a16:rowId xmlns:a16="http://schemas.microsoft.com/office/drawing/2014/main" val="3515235725"/>
                  </a:ext>
                </a:extLst>
              </a:tr>
              <a:tr h="481307">
                <a:tc>
                  <a:txBody>
                    <a:bodyPr/>
                    <a:lstStyle/>
                    <a:p>
                      <a:pPr marL="171450" marR="0" lvl="0" indent="-171450" algn="ctr">
                        <a:spcBef>
                          <a:spcPts val="0"/>
                        </a:spcBef>
                        <a:spcAft>
                          <a:spcPts val="600"/>
                        </a:spcAft>
                        <a:buFont typeface="Arial" panose="020B0604020202020204" pitchFamily="34" charset="0"/>
                        <a:buChar char="•"/>
                      </a:pPr>
                      <a:r>
                        <a:rPr lang="en-US" sz="1600" dirty="0">
                          <a:effectLst/>
                          <a:latin typeface="Times New Roman" panose="02020603050405020304" pitchFamily="18" charset="0"/>
                        </a:rPr>
                        <a:t>Project Test Plan and Presentation</a:t>
                      </a:r>
                    </a:p>
                  </a:txBody>
                  <a:tcPr marL="68580" marR="6858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latin typeface="Times New Roman" panose="02020603050405020304" pitchFamily="18" charset="0"/>
                          <a:ea typeface="+mn-ea"/>
                          <a:cs typeface="Times New Roman" panose="02020603050405020304" pitchFamily="18" charset="0"/>
                        </a:rPr>
                        <a:t>All web app</a:t>
                      </a:r>
                      <a:r>
                        <a:rPr lang="en-US" sz="1400" kern="1200" baseline="0" dirty="0">
                          <a:solidFill>
                            <a:schemeClr val="tx1"/>
                          </a:solidFill>
                          <a:latin typeface="Times New Roman" panose="02020603050405020304" pitchFamily="18" charset="0"/>
                          <a:ea typeface="+mn-ea"/>
                          <a:cs typeface="Times New Roman" panose="02020603050405020304" pitchFamily="18" charset="0"/>
                        </a:rPr>
                        <a:t> </a:t>
                      </a:r>
                      <a:r>
                        <a:rPr lang="en-US" sz="1400" kern="1200" baseline="0" dirty="0" err="1">
                          <a:solidFill>
                            <a:schemeClr val="tx1"/>
                          </a:solidFill>
                          <a:latin typeface="Times New Roman" panose="02020603050405020304" pitchFamily="18" charset="0"/>
                          <a:ea typeface="+mn-ea"/>
                          <a:cs typeface="Times New Roman" panose="02020603050405020304" pitchFamily="18" charset="0"/>
                        </a:rPr>
                        <a:t>testcases</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latin typeface="Times New Roman" panose="02020603050405020304" pitchFamily="18" charset="0"/>
                          <a:ea typeface="+mn-ea"/>
                          <a:cs typeface="Times New Roman" panose="02020603050405020304" pitchFamily="18" charset="0"/>
                        </a:rPr>
                        <a:t>All</a:t>
                      </a:r>
                      <a:r>
                        <a:rPr lang="en-US" sz="1400" kern="1200" baseline="0" dirty="0">
                          <a:solidFill>
                            <a:schemeClr val="tx1"/>
                          </a:solidFill>
                          <a:latin typeface="Times New Roman" panose="02020603050405020304" pitchFamily="18" charset="0"/>
                          <a:ea typeface="+mn-ea"/>
                          <a:cs typeface="Times New Roman" panose="02020603050405020304" pitchFamily="18" charset="0"/>
                        </a:rPr>
                        <a:t> mobile app </a:t>
                      </a:r>
                      <a:r>
                        <a:rPr lang="en-US" sz="1400" kern="1200" baseline="0" dirty="0" err="1">
                          <a:solidFill>
                            <a:schemeClr val="tx1"/>
                          </a:solidFill>
                          <a:latin typeface="Times New Roman" panose="02020603050405020304" pitchFamily="18" charset="0"/>
                          <a:ea typeface="+mn-ea"/>
                          <a:cs typeface="Times New Roman" panose="02020603050405020304" pitchFamily="18" charset="0"/>
                        </a:rPr>
                        <a:t>testcases</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750418531"/>
                  </a:ext>
                </a:extLst>
              </a:tr>
              <a:tr h="455513">
                <a:tc>
                  <a:txBody>
                    <a:bodyPr/>
                    <a:lstStyle/>
                    <a:p>
                      <a:pPr marL="171450" marR="0" lvl="0" indent="-171450" algn="ctr">
                        <a:spcBef>
                          <a:spcPts val="0"/>
                        </a:spcBef>
                        <a:spcAft>
                          <a:spcPts val="600"/>
                        </a:spcAft>
                        <a:buFont typeface="Arial" panose="020B0604020202020204" pitchFamily="34" charset="0"/>
                        <a:buChar char="•"/>
                      </a:pPr>
                      <a:r>
                        <a:rPr lang="en-US" sz="1600" dirty="0">
                          <a:effectLst/>
                          <a:latin typeface="Times New Roman" panose="02020603050405020304" pitchFamily="18" charset="0"/>
                        </a:rPr>
                        <a:t>Project Final Report and Presentation </a:t>
                      </a:r>
                    </a:p>
                  </a:txBody>
                  <a:tcPr marL="68580" marR="6858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Slides 7-25,</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41-47, 55-59, 62-67, 73-76</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tx1"/>
                          </a:solidFill>
                          <a:latin typeface="Times New Roman" panose="02020603050405020304" pitchFamily="18" charset="0"/>
                          <a:ea typeface="+mn-ea"/>
                          <a:cs typeface="Times New Roman" panose="02020603050405020304" pitchFamily="18" charset="0"/>
                        </a:rPr>
                        <a:t>Slides 1-6,26-39, 48-54, 60, 68-72,  77-79</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12804849"/>
                  </a:ext>
                </a:extLst>
              </a:tr>
            </a:tbl>
          </a:graphicData>
        </a:graphic>
      </p:graphicFrame>
    </p:spTree>
    <p:extLst>
      <p:ext uri="{BB962C8B-B14F-4D97-AF65-F5344CB8AC3E}">
        <p14:creationId xmlns:p14="http://schemas.microsoft.com/office/powerpoint/2010/main" val="39819538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Reviews Details </a:t>
            </a:r>
            <a:br>
              <a:rPr lang="en-US" sz="4500" b="1" u="sng" dirty="0">
                <a:latin typeface="Times New Roman" panose="02020603050405020304" pitchFamily="18" charset="0"/>
                <a:cs typeface="Times New Roman" panose="02020603050405020304" pitchFamily="18" charset="0"/>
              </a:rPr>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1498600" y="2129081"/>
            <a:ext cx="145542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86</a:t>
            </a:fld>
            <a:endParaRPr lang="en-US" dirty="0">
              <a:solidFill>
                <a:prstClr val="white"/>
              </a:solidFill>
              <a:latin typeface="Calibri"/>
            </a:endParaRPr>
          </a:p>
        </p:txBody>
      </p:sp>
      <p:graphicFrame>
        <p:nvGraphicFramePr>
          <p:cNvPr id="6" name="Table 5">
            <a:extLst>
              <a:ext uri="{FF2B5EF4-FFF2-40B4-BE49-F238E27FC236}">
                <a16:creationId xmlns:a16="http://schemas.microsoft.com/office/drawing/2014/main" id="{9C1D9331-C76E-6CD9-ECE7-D65301A1B752}"/>
              </a:ext>
            </a:extLst>
          </p:cNvPr>
          <p:cNvGraphicFramePr>
            <a:graphicFrameLocks noGrp="1"/>
          </p:cNvGraphicFramePr>
          <p:nvPr>
            <p:extLst>
              <p:ext uri="{D42A27DB-BD31-4B8C-83A1-F6EECF244321}">
                <p14:modId xmlns:p14="http://schemas.microsoft.com/office/powerpoint/2010/main" val="603135420"/>
              </p:ext>
            </p:extLst>
          </p:nvPr>
        </p:nvGraphicFramePr>
        <p:xfrm>
          <a:off x="431800" y="2135704"/>
          <a:ext cx="15392400" cy="6551095"/>
        </p:xfrm>
        <a:graphic>
          <a:graphicData uri="http://schemas.openxmlformats.org/drawingml/2006/table">
            <a:tbl>
              <a:tblPr firstRow="1" bandRow="1">
                <a:tableStyleId>{5C22544A-7EE6-4342-B048-85BDC9FD1C3A}</a:tableStyleId>
              </a:tblPr>
              <a:tblGrid>
                <a:gridCol w="4953000">
                  <a:extLst>
                    <a:ext uri="{9D8B030D-6E8A-4147-A177-3AD203B41FA5}">
                      <a16:colId xmlns:a16="http://schemas.microsoft.com/office/drawing/2014/main" val="20002"/>
                    </a:ext>
                  </a:extLst>
                </a:gridCol>
                <a:gridCol w="5791200">
                  <a:extLst>
                    <a:ext uri="{9D8B030D-6E8A-4147-A177-3AD203B41FA5}">
                      <a16:colId xmlns:a16="http://schemas.microsoft.com/office/drawing/2014/main" val="4131745611"/>
                    </a:ext>
                  </a:extLst>
                </a:gridCol>
                <a:gridCol w="4648200">
                  <a:extLst>
                    <a:ext uri="{9D8B030D-6E8A-4147-A177-3AD203B41FA5}">
                      <a16:colId xmlns:a16="http://schemas.microsoft.com/office/drawing/2014/main" val="2455803646"/>
                    </a:ext>
                  </a:extLst>
                </a:gridCol>
              </a:tblGrid>
              <a:tr h="733491">
                <a:tc>
                  <a:txBody>
                    <a:bodyPr/>
                    <a:lstStyle/>
                    <a:p>
                      <a:pPr algn="l"/>
                      <a:r>
                        <a:rPr lang="en-US" sz="1600" b="0" dirty="0">
                          <a:effectLst/>
                          <a:latin typeface="Times New Roman" panose="02020603050405020304" pitchFamily="18" charset="0"/>
                          <a:cs typeface="Times New Roman" panose="02020603050405020304" pitchFamily="18" charset="0"/>
                        </a:rPr>
                        <a:t>Milestones</a:t>
                      </a:r>
                    </a:p>
                  </a:txBody>
                  <a:tcPr marR="101600" marT="63500" marB="63500" anchor="ctr">
                    <a:solidFill>
                      <a:schemeClr val="tx2">
                        <a:lumMod val="60000"/>
                        <a:lumOff val="40000"/>
                      </a:schemeClr>
                    </a:solidFill>
                  </a:tcPr>
                </a:tc>
                <a:tc>
                  <a:txBody>
                    <a:bodyPr/>
                    <a:lstStyle/>
                    <a:p>
                      <a:pPr algn="l"/>
                      <a:r>
                        <a:rPr lang="en-GB" sz="1600" b="0">
                          <a:effectLst/>
                          <a:latin typeface="Times New Roman" panose="02020603050405020304" pitchFamily="18" charset="0"/>
                          <a:cs typeface="Times New Roman" panose="02020603050405020304" pitchFamily="18" charset="0"/>
                        </a:rPr>
                        <a:t>Reviewer-1 Comments (Asna Hammad FA23-BDS-051)</a:t>
                      </a:r>
                    </a:p>
                  </a:txBody>
                  <a:tcPr marL="101600" marR="101600" marT="63500" marB="63500" anchor="ctr">
                    <a:solidFill>
                      <a:schemeClr val="tx2">
                        <a:lumMod val="60000"/>
                        <a:lumOff val="40000"/>
                      </a:schemeClr>
                    </a:solidFill>
                  </a:tcPr>
                </a:tc>
                <a:tc>
                  <a:txBody>
                    <a:bodyPr/>
                    <a:lstStyle/>
                    <a:p>
                      <a:pPr algn="l"/>
                      <a:r>
                        <a:rPr lang="en-GB" sz="1600" b="0">
                          <a:effectLst/>
                          <a:latin typeface="Times New Roman" panose="02020603050405020304" pitchFamily="18" charset="0"/>
                          <a:cs typeface="Times New Roman" panose="02020603050405020304" pitchFamily="18" charset="0"/>
                        </a:rPr>
                        <a:t>Reviewer-2 Comments (Awais Ashraf FA23-BDS-053)</a:t>
                      </a:r>
                    </a:p>
                  </a:txBody>
                  <a:tcPr marL="101600" marR="101600" marT="63500" marB="63500" anchor="ctr">
                    <a:solidFill>
                      <a:schemeClr val="tx2">
                        <a:lumMod val="60000"/>
                        <a:lumOff val="40000"/>
                      </a:schemeClr>
                    </a:solidFill>
                  </a:tcPr>
                </a:tc>
                <a:extLst>
                  <a:ext uri="{0D108BD9-81ED-4DB2-BD59-A6C34878D82A}">
                    <a16:rowId xmlns:a16="http://schemas.microsoft.com/office/drawing/2014/main" val="10000"/>
                  </a:ext>
                </a:extLst>
              </a:tr>
              <a:tr h="925777">
                <a:tc>
                  <a:txBody>
                    <a:bodyPr/>
                    <a:lstStyle/>
                    <a:p>
                      <a:r>
                        <a:rPr lang="en-US" sz="1600" b="0">
                          <a:effectLst/>
                          <a:latin typeface="Times New Roman" panose="02020603050405020304" pitchFamily="18" charset="0"/>
                          <a:cs typeface="Times New Roman" panose="02020603050405020304" pitchFamily="18" charset="0"/>
                        </a:rPr>
                        <a:t>SCOPE Document and SCOPE Presentation</a:t>
                      </a:r>
                    </a:p>
                  </a:txBody>
                  <a:tcPr marR="101600" marT="63500" marB="63500" anchor="ctr"/>
                </a:tc>
                <a:tc>
                  <a:txBody>
                    <a:bodyPr/>
                    <a:lstStyle/>
                    <a:p>
                      <a:r>
                        <a:rPr lang="en-GB" sz="1600" b="0">
                          <a:effectLst/>
                          <a:latin typeface="Times New Roman" panose="02020603050405020304" pitchFamily="18" charset="0"/>
                          <a:cs typeface="Times New Roman" panose="02020603050405020304" pitchFamily="18" charset="0"/>
                        </a:rPr>
                        <a:t>Scope well-defined; modules clearly listed. Suggested adding more detail to limitations section. Accepted and added LI-1 to LI-7.</a:t>
                      </a:r>
                    </a:p>
                  </a:txBody>
                  <a:tcPr marL="101600" marR="101600" marT="63500" marB="63500" anchor="ctr"/>
                </a:tc>
                <a:tc>
                  <a:txBody>
                    <a:bodyPr/>
                    <a:lstStyle/>
                    <a:p>
                      <a:r>
                        <a:rPr lang="en-GB" sz="1600" b="0">
                          <a:effectLst/>
                          <a:latin typeface="Times New Roman" panose="02020603050405020304" pitchFamily="18" charset="0"/>
                          <a:cs typeface="Times New Roman" panose="02020603050405020304" pitchFamily="18" charset="0"/>
                        </a:rPr>
                        <a:t>Good problem statement and objectives. Recommended adding WBS and Gantt chart. Accepted and added.</a:t>
                      </a:r>
                    </a:p>
                  </a:txBody>
                  <a:tcPr marL="101600" marT="63500" marB="63500" anchor="ctr"/>
                </a:tc>
                <a:extLst>
                  <a:ext uri="{0D108BD9-81ED-4DB2-BD59-A6C34878D82A}">
                    <a16:rowId xmlns:a16="http://schemas.microsoft.com/office/drawing/2014/main" val="10001"/>
                  </a:ext>
                </a:extLst>
              </a:tr>
              <a:tr h="925777">
                <a:tc>
                  <a:txBody>
                    <a:bodyPr/>
                    <a:lstStyle/>
                    <a:p>
                      <a:r>
                        <a:rPr lang="en-US" sz="1600" b="0">
                          <a:effectLst/>
                          <a:latin typeface="Times New Roman" panose="02020603050405020304" pitchFamily="18" charset="0"/>
                          <a:cs typeface="Times New Roman" panose="02020603050405020304" pitchFamily="18" charset="0"/>
                        </a:rPr>
                        <a:t>SRS Document and SRS Presentation</a:t>
                      </a:r>
                    </a:p>
                  </a:txBody>
                  <a:tcPr marR="101600" marT="63500" marB="63500" anchor="ctr"/>
                </a:tc>
                <a:tc>
                  <a:txBody>
                    <a:bodyPr/>
                    <a:lstStyle/>
                    <a:p>
                      <a:r>
                        <a:rPr lang="en-GB" sz="1600" b="0">
                          <a:effectLst/>
                          <a:latin typeface="Times New Roman" panose="02020603050405020304" pitchFamily="18" charset="0"/>
                          <a:cs typeface="Times New Roman" panose="02020603050405020304" pitchFamily="18" charset="0"/>
                        </a:rPr>
                        <a:t>Functional requirements complete. Suggested adding more use case descriptions. Accepted and added 2.5.2 tables.</a:t>
                      </a:r>
                    </a:p>
                  </a:txBody>
                  <a:tcPr marL="101600" marR="101600" marT="63500" marB="63500" anchor="ctr"/>
                </a:tc>
                <a:tc>
                  <a:txBody>
                    <a:bodyPr/>
                    <a:lstStyle/>
                    <a:p>
                      <a:r>
                        <a:rPr lang="en-GB" sz="1600" b="0">
                          <a:effectLst/>
                          <a:latin typeface="Times New Roman" panose="02020603050405020304" pitchFamily="18" charset="0"/>
                          <a:cs typeface="Times New Roman" panose="02020603050405020304" pitchFamily="18" charset="0"/>
                        </a:rPr>
                        <a:t>Non-functional requirements well quantified. Recommended adding mockup-based requirement analysis technique. Accepted and added in section 2.4.</a:t>
                      </a:r>
                    </a:p>
                  </a:txBody>
                  <a:tcPr marL="101600" marT="63500" marB="63500" anchor="ctr"/>
                </a:tc>
                <a:extLst>
                  <a:ext uri="{0D108BD9-81ED-4DB2-BD59-A6C34878D82A}">
                    <a16:rowId xmlns:a16="http://schemas.microsoft.com/office/drawing/2014/main" val="10002"/>
                  </a:ext>
                </a:extLst>
              </a:tr>
              <a:tr h="925777">
                <a:tc>
                  <a:txBody>
                    <a:bodyPr/>
                    <a:lstStyle/>
                    <a:p>
                      <a:r>
                        <a:rPr lang="en-US" sz="1600" b="0">
                          <a:effectLst/>
                          <a:latin typeface="Times New Roman" panose="02020603050405020304" pitchFamily="18" charset="0"/>
                          <a:cs typeface="Times New Roman" panose="02020603050405020304" pitchFamily="18" charset="0"/>
                        </a:rPr>
                        <a:t>SDS Document and SDS Presentation</a:t>
                      </a:r>
                    </a:p>
                  </a:txBody>
                  <a:tcPr marR="101600" marT="63500" marB="63500" anchor="ctr"/>
                </a:tc>
                <a:tc>
                  <a:txBody>
                    <a:bodyPr/>
                    <a:lstStyle/>
                    <a:p>
                      <a:r>
                        <a:rPr lang="en-GB" sz="1600" b="0">
                          <a:effectLst/>
                          <a:latin typeface="Times New Roman" panose="02020603050405020304" pitchFamily="18" charset="0"/>
                          <a:cs typeface="Times New Roman" panose="02020603050405020304" pitchFamily="18" charset="0"/>
                        </a:rPr>
                        <a:t>Sequence diagrams well drawn for all modules. Suggested adding state diagrams for AI agents. Accepted and added in section 3.3.4.</a:t>
                      </a:r>
                    </a:p>
                  </a:txBody>
                  <a:tcPr marL="101600" marR="101600" marT="63500" marB="63500" anchor="ctr"/>
                </a:tc>
                <a:tc>
                  <a:txBody>
                    <a:bodyPr/>
                    <a:lstStyle/>
                    <a:p>
                      <a:r>
                        <a:rPr lang="en-GB" sz="1600" b="0">
                          <a:effectLst/>
                          <a:latin typeface="Times New Roman" panose="02020603050405020304" pitchFamily="18" charset="0"/>
                          <a:cs typeface="Times New Roman" panose="02020603050405020304" pitchFamily="18" charset="0"/>
                        </a:rPr>
                        <a:t>Class diagram follows MVC pattern correctly. Recommended adding data design section. Accepted and added section 3.4.</a:t>
                      </a:r>
                    </a:p>
                  </a:txBody>
                  <a:tcPr marL="101600" marT="63500" marB="63500" anchor="ctr"/>
                </a:tc>
                <a:extLst>
                  <a:ext uri="{0D108BD9-81ED-4DB2-BD59-A6C34878D82A}">
                    <a16:rowId xmlns:a16="http://schemas.microsoft.com/office/drawing/2014/main" val="1054416383"/>
                  </a:ext>
                </a:extLst>
              </a:tr>
              <a:tr h="1188719">
                <a:tc>
                  <a:txBody>
                    <a:bodyPr/>
                    <a:lstStyle/>
                    <a:p>
                      <a:r>
                        <a:rPr lang="en-GB" sz="1600" b="0">
                          <a:effectLst/>
                          <a:latin typeface="Times New Roman" panose="02020603050405020304" pitchFamily="18" charset="0"/>
                          <a:cs typeface="Times New Roman" panose="02020603050405020304" pitchFamily="18" charset="0"/>
                        </a:rPr>
                        <a:t>Project Design (Figma and Implementation)</a:t>
                      </a:r>
                    </a:p>
                  </a:txBody>
                  <a:tcPr marR="101600" marT="63500" marB="63500" anchor="ctr"/>
                </a:tc>
                <a:tc>
                  <a:txBody>
                    <a:bodyPr/>
                    <a:lstStyle/>
                    <a:p>
                      <a:r>
                        <a:rPr lang="en-GB" sz="1600" b="0">
                          <a:effectLst/>
                          <a:latin typeface="Times New Roman" panose="02020603050405020304" pitchFamily="18" charset="0"/>
                          <a:cs typeface="Times New Roman" panose="02020603050405020304" pitchFamily="18" charset="0"/>
                        </a:rPr>
                        <a:t>UI mockups align with requirements. Suggested improving mobile navigation. Accepted and updated bottom nav bar.</a:t>
                      </a:r>
                    </a:p>
                  </a:txBody>
                  <a:tcPr marL="101600" marR="101600" marT="63500" marB="63500" anchor="ctr"/>
                </a:tc>
                <a:tc>
                  <a:txBody>
                    <a:bodyPr/>
                    <a:lstStyle/>
                    <a:p>
                      <a:r>
                        <a:rPr lang="en-GB" sz="1600" b="0">
                          <a:effectLst/>
                          <a:latin typeface="Times New Roman" panose="02020603050405020304" pitchFamily="18" charset="0"/>
                          <a:cs typeface="Times New Roman" panose="02020603050405020304" pitchFamily="18" charset="0"/>
                        </a:rPr>
                        <a:t>Backend controllers well structured. Recommended adding research templates for more niches. Accepted and added Technology, Business, Health, Personal Development.</a:t>
                      </a:r>
                    </a:p>
                  </a:txBody>
                  <a:tcPr marL="101600" marT="63500" marB="63500" anchor="ctr"/>
                </a:tc>
                <a:extLst>
                  <a:ext uri="{0D108BD9-81ED-4DB2-BD59-A6C34878D82A}">
                    <a16:rowId xmlns:a16="http://schemas.microsoft.com/office/drawing/2014/main" val="3515235725"/>
                  </a:ext>
                </a:extLst>
              </a:tr>
              <a:tr h="925777">
                <a:tc>
                  <a:txBody>
                    <a:bodyPr/>
                    <a:lstStyle/>
                    <a:p>
                      <a:r>
                        <a:rPr lang="en-GB" sz="1600" b="0">
                          <a:effectLst/>
                          <a:latin typeface="Times New Roman" panose="02020603050405020304" pitchFamily="18" charset="0"/>
                          <a:cs typeface="Times New Roman" panose="02020603050405020304" pitchFamily="18" charset="0"/>
                        </a:rPr>
                        <a:t>Project Test Plan and Presentation</a:t>
                      </a:r>
                    </a:p>
                  </a:txBody>
                  <a:tcPr marR="101600" marT="63500" marB="63500" anchor="ctr"/>
                </a:tc>
                <a:tc>
                  <a:txBody>
                    <a:bodyPr/>
                    <a:lstStyle/>
                    <a:p>
                      <a:r>
                        <a:rPr lang="en-GB" sz="1600" b="0">
                          <a:effectLst/>
                          <a:latin typeface="Times New Roman" panose="02020603050405020304" pitchFamily="18" charset="0"/>
                          <a:cs typeface="Times New Roman" panose="02020603050405020304" pitchFamily="18" charset="0"/>
                        </a:rPr>
                        <a:t>Unit test cases detailed. Suggested adding business rules testing. Accepted and added decision tables for BR-1 to BR-4.</a:t>
                      </a:r>
                    </a:p>
                  </a:txBody>
                  <a:tcPr marL="101600" marR="101600" marT="63500" marB="63500" anchor="ctr"/>
                </a:tc>
                <a:tc>
                  <a:txBody>
                    <a:bodyPr/>
                    <a:lstStyle/>
                    <a:p>
                      <a:r>
                        <a:rPr lang="en-GB" sz="1600" b="0">
                          <a:effectLst/>
                          <a:latin typeface="Times New Roman" panose="02020603050405020304" pitchFamily="18" charset="0"/>
                          <a:cs typeface="Times New Roman" panose="02020603050405020304" pitchFamily="18" charset="0"/>
                        </a:rPr>
                        <a:t>Integration testing covers all modules. Recommended adding functional testing for drafts library. Accepted and added FT-5.</a:t>
                      </a:r>
                    </a:p>
                  </a:txBody>
                  <a:tcPr marL="101600" marT="63500" marB="63500" anchor="ctr"/>
                </a:tc>
                <a:extLst>
                  <a:ext uri="{0D108BD9-81ED-4DB2-BD59-A6C34878D82A}">
                    <a16:rowId xmlns:a16="http://schemas.microsoft.com/office/drawing/2014/main" val="3750418531"/>
                  </a:ext>
                </a:extLst>
              </a:tr>
              <a:tr h="925777">
                <a:tc>
                  <a:txBody>
                    <a:bodyPr/>
                    <a:lstStyle/>
                    <a:p>
                      <a:r>
                        <a:rPr lang="en-GB" sz="1600" b="0">
                          <a:effectLst/>
                          <a:latin typeface="Times New Roman" panose="02020603050405020304" pitchFamily="18" charset="0"/>
                          <a:cs typeface="Times New Roman" panose="02020603050405020304" pitchFamily="18" charset="0"/>
                        </a:rPr>
                        <a:t>Project Final Report and Presentation</a:t>
                      </a:r>
                    </a:p>
                  </a:txBody>
                  <a:tcPr marR="101600" marT="63500" marB="63500" anchor="ctr"/>
                </a:tc>
                <a:tc>
                  <a:txBody>
                    <a:bodyPr/>
                    <a:lstStyle/>
                    <a:p>
                      <a:r>
                        <a:rPr lang="en-GB" sz="1600" b="0">
                          <a:effectLst/>
                          <a:latin typeface="Times New Roman" panose="02020603050405020304" pitchFamily="18" charset="0"/>
                          <a:cs typeface="Times New Roman" panose="02020603050405020304" pitchFamily="18" charset="0"/>
                        </a:rPr>
                        <a:t>Overall report well organized. Suggested adding lessons learned section. Accepted and added.</a:t>
                      </a:r>
                    </a:p>
                  </a:txBody>
                  <a:tcPr marL="101600" marR="101600" marT="63500" marB="63500" anchor="ctr"/>
                </a:tc>
                <a:tc>
                  <a:txBody>
                    <a:bodyPr/>
                    <a:lstStyle/>
                    <a:p>
                      <a:r>
                        <a:rPr lang="en-GB" sz="1600" b="0" dirty="0">
                          <a:effectLst/>
                          <a:latin typeface="Times New Roman" panose="02020603050405020304" pitchFamily="18" charset="0"/>
                          <a:cs typeface="Times New Roman" panose="02020603050405020304" pitchFamily="18" charset="0"/>
                        </a:rPr>
                        <a:t>Testing summary shows 98.77% pass rate. Recommended adding </a:t>
                      </a:r>
                      <a:r>
                        <a:rPr lang="en-GB" sz="1600" b="0" dirty="0" err="1">
                          <a:effectLst/>
                          <a:latin typeface="Times New Roman" panose="02020603050405020304" pitchFamily="18" charset="0"/>
                          <a:cs typeface="Times New Roman" panose="02020603050405020304" pitchFamily="18" charset="0"/>
                        </a:rPr>
                        <a:t>bcrypt</a:t>
                      </a:r>
                      <a:r>
                        <a:rPr lang="en-GB" sz="1600" b="0" dirty="0">
                          <a:effectLst/>
                          <a:latin typeface="Times New Roman" panose="02020603050405020304" pitchFamily="18" charset="0"/>
                          <a:cs typeface="Times New Roman" panose="02020603050405020304" pitchFamily="18" charset="0"/>
                        </a:rPr>
                        <a:t> limitation mitigation. Accepted and added password length validation.</a:t>
                      </a:r>
                    </a:p>
                  </a:txBody>
                  <a:tcPr marL="101600" marT="63500" marB="63500" anchor="ctr"/>
                </a:tc>
                <a:extLst>
                  <a:ext uri="{0D108BD9-81ED-4DB2-BD59-A6C34878D82A}">
                    <a16:rowId xmlns:a16="http://schemas.microsoft.com/office/drawing/2014/main" val="1012804849"/>
                  </a:ext>
                </a:extLst>
              </a:tr>
            </a:tbl>
          </a:graphicData>
        </a:graphic>
      </p:graphicFrame>
    </p:spTree>
    <p:extLst>
      <p:ext uri="{BB962C8B-B14F-4D97-AF65-F5344CB8AC3E}">
        <p14:creationId xmlns:p14="http://schemas.microsoft.com/office/powerpoint/2010/main" val="288809512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Conclusion</a:t>
            </a:r>
            <a:br>
              <a:rPr lang="en-US" sz="4500" b="1" u="sng" dirty="0">
                <a:latin typeface="Times New Roman" panose="02020603050405020304" pitchFamily="18" charset="0"/>
                <a:cs typeface="Times New Roman" panose="02020603050405020304" pitchFamily="18" charset="0"/>
              </a:rPr>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1879600" y="2743200"/>
            <a:ext cx="12801600" cy="2671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just" eaLnBrk="0" fontAlgn="base" hangingPunct="0">
              <a:spcBef>
                <a:spcPct val="0"/>
              </a:spcBef>
              <a:spcAft>
                <a:spcPct val="0"/>
              </a:spcAft>
              <a:buFont typeface="Arial" panose="020B0604020202020204" pitchFamily="34" charset="0"/>
              <a:buChar char="•"/>
            </a:pPr>
            <a:r>
              <a:rPr lang="en-US" altLang="en-US" sz="2800" dirty="0" err="1">
                <a:solidFill>
                  <a:schemeClr val="tx1"/>
                </a:solidFill>
                <a:latin typeface="Times New Roman" panose="02020603050405020304" pitchFamily="18" charset="0"/>
                <a:cs typeface="Times New Roman" panose="02020603050405020304" pitchFamily="18" charset="0"/>
              </a:rPr>
              <a:t>PodCraft</a:t>
            </a:r>
            <a:r>
              <a:rPr lang="en-US" altLang="en-US" sz="2800" dirty="0">
                <a:solidFill>
                  <a:schemeClr val="tx1"/>
                </a:solidFill>
                <a:latin typeface="Times New Roman" panose="02020603050405020304" pitchFamily="18" charset="0"/>
                <a:cs typeface="Times New Roman" panose="02020603050405020304" pitchFamily="18" charset="0"/>
              </a:rPr>
              <a:t> bridges the pre-production gap by automating the most time-consuming parts of podcasting.</a:t>
            </a:r>
          </a:p>
          <a:p>
            <a:pPr marL="457200" lvl="0" indent="-457200" algn="just" eaLnBrk="0" fontAlgn="base" hangingPunct="0">
              <a:spcBef>
                <a:spcPct val="0"/>
              </a:spcBef>
              <a:spcAft>
                <a:spcPct val="0"/>
              </a:spcAft>
              <a:buFont typeface="Arial" panose="020B0604020202020204" pitchFamily="34" charset="0"/>
              <a:buChar char="•"/>
            </a:pPr>
            <a:r>
              <a:rPr lang="en-US" altLang="en-US" sz="2800" dirty="0">
                <a:solidFill>
                  <a:schemeClr val="tx1"/>
                </a:solidFill>
                <a:latin typeface="Times New Roman" panose="02020603050405020304" pitchFamily="18" charset="0"/>
                <a:cs typeface="Times New Roman" panose="02020603050405020304" pitchFamily="18" charset="0"/>
              </a:rPr>
              <a:t>By using collaborative AI agents, it ensures high-quality content structure and increased audience engagement.</a:t>
            </a:r>
          </a:p>
          <a:p>
            <a:pPr marL="457200" lvl="0" indent="-457200" algn="just" eaLnBrk="0" fontAlgn="base" hangingPunct="0">
              <a:spcBef>
                <a:spcPct val="0"/>
              </a:spcBef>
              <a:spcAft>
                <a:spcPct val="0"/>
              </a:spcAft>
              <a:buFont typeface="Arial" panose="020B0604020202020204" pitchFamily="34" charset="0"/>
              <a:buChar char="•"/>
            </a:pPr>
            <a:r>
              <a:rPr lang="en-US" altLang="en-US" sz="2800" dirty="0">
                <a:solidFill>
                  <a:schemeClr val="tx1"/>
                </a:solidFill>
                <a:latin typeface="Times New Roman" panose="02020603050405020304" pitchFamily="18" charset="0"/>
                <a:cs typeface="Times New Roman" panose="02020603050405020304" pitchFamily="18" charset="0"/>
              </a:rPr>
              <a:t>It serves as a professional "Digital Producer" for both independent and professional creators.</a:t>
            </a: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87</a:t>
            </a:fld>
            <a:endParaRPr lang="en-US" dirty="0">
              <a:solidFill>
                <a:prstClr val="white"/>
              </a:solidFill>
              <a:latin typeface="Calibri"/>
            </a:endParaRPr>
          </a:p>
        </p:txBody>
      </p:sp>
    </p:spTree>
    <p:extLst>
      <p:ext uri="{BB962C8B-B14F-4D97-AF65-F5344CB8AC3E}">
        <p14:creationId xmlns:p14="http://schemas.microsoft.com/office/powerpoint/2010/main" val="263109423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References</a:t>
            </a:r>
          </a:p>
        </p:txBody>
      </p:sp>
      <p:sp>
        <p:nvSpPr>
          <p:cNvPr id="3" name="Content Placeholder 2"/>
          <p:cNvSpPr txBox="1">
            <a:spLocks/>
          </p:cNvSpPr>
          <p:nvPr/>
        </p:nvSpPr>
        <p:spPr>
          <a:xfrm>
            <a:off x="1270000" y="3200400"/>
            <a:ext cx="13944600" cy="29001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l" eaLnBrk="0" fontAlgn="base" hangingPunct="0">
              <a:spcBef>
                <a:spcPct val="0"/>
              </a:spcBef>
              <a:spcAft>
                <a:spcPct val="0"/>
              </a:spcAft>
              <a:buFont typeface="Arial" panose="020B0604020202020204" pitchFamily="34" charset="0"/>
              <a:buChar char="•"/>
            </a:pPr>
            <a:r>
              <a:rPr lang="en-US" altLang="en-US" sz="2800" dirty="0">
                <a:solidFill>
                  <a:schemeClr val="tx1"/>
                </a:solidFill>
                <a:latin typeface="Times New Roman" panose="02020603050405020304" pitchFamily="18" charset="0"/>
                <a:cs typeface="Times New Roman" panose="02020603050405020304" pitchFamily="18" charset="0"/>
              </a:rPr>
              <a:t>R. S. Pressman and B. R. Maxim, </a:t>
            </a:r>
            <a:r>
              <a:rPr lang="en-US" altLang="en-US" sz="2800" i="1" dirty="0">
                <a:solidFill>
                  <a:schemeClr val="tx1"/>
                </a:solidFill>
                <a:latin typeface="Times New Roman" panose="02020603050405020304" pitchFamily="18" charset="0"/>
                <a:cs typeface="Times New Roman" panose="02020603050405020304" pitchFamily="18" charset="0"/>
              </a:rPr>
              <a:t>Software Engineering: A Practitioner’s Approach</a:t>
            </a:r>
            <a:r>
              <a:rPr lang="en-US" altLang="en-US" sz="2800" dirty="0">
                <a:solidFill>
                  <a:schemeClr val="tx1"/>
                </a:solidFill>
                <a:latin typeface="Times New Roman" panose="02020603050405020304" pitchFamily="18" charset="0"/>
                <a:cs typeface="Times New Roman" panose="02020603050405020304" pitchFamily="18" charset="0"/>
              </a:rPr>
              <a:t>, 2019.</a:t>
            </a:r>
          </a:p>
          <a:p>
            <a:pPr marL="457200" lvl="0" indent="-457200" algn="l" eaLnBrk="0" fontAlgn="base" hangingPunct="0">
              <a:spcBef>
                <a:spcPct val="0"/>
              </a:spcBef>
              <a:spcAft>
                <a:spcPct val="0"/>
              </a:spcAft>
              <a:buFont typeface="Arial" panose="020B0604020202020204" pitchFamily="34" charset="0"/>
              <a:buChar char="•"/>
            </a:pPr>
            <a:r>
              <a:rPr lang="en-US" altLang="en-US" sz="2800" dirty="0">
                <a:solidFill>
                  <a:schemeClr val="tx1"/>
                </a:solidFill>
                <a:latin typeface="Times New Roman" panose="02020603050405020304" pitchFamily="18" charset="0"/>
                <a:cs typeface="Times New Roman" panose="02020603050405020304" pitchFamily="18" charset="0"/>
              </a:rPr>
              <a:t>S. B. Roy and A. Das, "Artificial Intelligence in Content Generation," </a:t>
            </a:r>
            <a:r>
              <a:rPr lang="en-US" altLang="en-US" sz="2800" i="1" dirty="0">
                <a:solidFill>
                  <a:schemeClr val="tx1"/>
                </a:solidFill>
                <a:latin typeface="Times New Roman" panose="02020603050405020304" pitchFamily="18" charset="0"/>
                <a:cs typeface="Times New Roman" panose="02020603050405020304" pitchFamily="18" charset="0"/>
              </a:rPr>
              <a:t>Journal of Intelligent Systems</a:t>
            </a:r>
            <a:r>
              <a:rPr lang="en-US" altLang="en-US" sz="2800" dirty="0">
                <a:solidFill>
                  <a:schemeClr val="tx1"/>
                </a:solidFill>
                <a:latin typeface="Times New Roman" panose="02020603050405020304" pitchFamily="18" charset="0"/>
                <a:cs typeface="Times New Roman" panose="02020603050405020304" pitchFamily="18" charset="0"/>
              </a:rPr>
              <a:t>, 2021.</a:t>
            </a:r>
          </a:p>
          <a:p>
            <a:pPr marL="457200" lvl="0" indent="-457200" algn="l" eaLnBrk="0" fontAlgn="base" hangingPunct="0">
              <a:spcBef>
                <a:spcPct val="0"/>
              </a:spcBef>
              <a:spcAft>
                <a:spcPct val="0"/>
              </a:spcAft>
              <a:buFont typeface="Arial" panose="020B0604020202020204" pitchFamily="34" charset="0"/>
              <a:buChar char="•"/>
            </a:pPr>
            <a:r>
              <a:rPr lang="en-US" altLang="en-US" sz="2800" dirty="0">
                <a:solidFill>
                  <a:schemeClr val="tx1"/>
                </a:solidFill>
                <a:latin typeface="Times New Roman" panose="02020603050405020304" pitchFamily="18" charset="0"/>
                <a:cs typeface="Times New Roman" panose="02020603050405020304" pitchFamily="18" charset="0"/>
              </a:rPr>
              <a:t>L. Zhang and M. Lee, "NLP in Digital Media," </a:t>
            </a:r>
            <a:r>
              <a:rPr lang="en-US" altLang="en-US" sz="2800" i="1" dirty="0">
                <a:solidFill>
                  <a:schemeClr val="tx1"/>
                </a:solidFill>
                <a:latin typeface="Times New Roman" panose="02020603050405020304" pitchFamily="18" charset="0"/>
                <a:cs typeface="Times New Roman" panose="02020603050405020304" pitchFamily="18" charset="0"/>
              </a:rPr>
              <a:t>IJCSIT</a:t>
            </a:r>
            <a:r>
              <a:rPr lang="en-US" altLang="en-US" sz="2800" dirty="0">
                <a:solidFill>
                  <a:schemeClr val="tx1"/>
                </a:solidFill>
                <a:latin typeface="Times New Roman" panose="02020603050405020304" pitchFamily="18" charset="0"/>
                <a:cs typeface="Times New Roman" panose="02020603050405020304" pitchFamily="18" charset="0"/>
              </a:rPr>
              <a:t>, 2022.</a:t>
            </a:r>
          </a:p>
          <a:p>
            <a:pPr marL="457200" lvl="0" indent="-457200" algn="l" eaLnBrk="0" fontAlgn="base" hangingPunct="0">
              <a:spcBef>
                <a:spcPct val="0"/>
              </a:spcBef>
              <a:spcAft>
                <a:spcPct val="0"/>
              </a:spcAft>
              <a:buFont typeface="Arial" panose="020B0604020202020204" pitchFamily="34" charset="0"/>
              <a:buChar char="•"/>
            </a:pPr>
            <a:r>
              <a:rPr lang="en-US" altLang="en-US" sz="2800" dirty="0" err="1">
                <a:solidFill>
                  <a:schemeClr val="tx1"/>
                </a:solidFill>
                <a:latin typeface="Times New Roman" panose="02020603050405020304" pitchFamily="18" charset="0"/>
                <a:cs typeface="Times New Roman" panose="02020603050405020304" pitchFamily="18" charset="0"/>
              </a:rPr>
              <a:t>OpenAI</a:t>
            </a:r>
            <a:r>
              <a:rPr lang="en-US" altLang="en-US" sz="2800" dirty="0">
                <a:solidFill>
                  <a:schemeClr val="tx1"/>
                </a:solidFill>
                <a:latin typeface="Times New Roman" panose="02020603050405020304" pitchFamily="18" charset="0"/>
                <a:cs typeface="Times New Roman" panose="02020603050405020304" pitchFamily="18" charset="0"/>
              </a:rPr>
              <a:t>, "GPT Technology Overview," </a:t>
            </a:r>
            <a:r>
              <a:rPr lang="en-US" altLang="en-US" sz="2800" dirty="0">
                <a:solidFill>
                  <a:schemeClr val="tx1"/>
                </a:solidFill>
                <a:latin typeface="Times New Roman" panose="02020603050405020304" pitchFamily="18" charset="0"/>
                <a:cs typeface="Times New Roman" panose="02020603050405020304" pitchFamily="18" charset="0"/>
                <a:hlinkClick r:id="rId2"/>
              </a:rPr>
              <a:t>https://openai.com/research</a:t>
            </a:r>
            <a:r>
              <a:rPr lang="en-US" altLang="en-US" sz="2800" dirty="0">
                <a:solidFill>
                  <a:schemeClr val="tx1"/>
                </a:solidFill>
                <a:latin typeface="Times New Roman" panose="02020603050405020304" pitchFamily="18" charset="0"/>
                <a:cs typeface="Times New Roman" panose="02020603050405020304" pitchFamily="18" charset="0"/>
              </a:rPr>
              <a:t>, 2024.</a:t>
            </a:r>
          </a:p>
          <a:p>
            <a:pPr marL="457200" lvl="0" indent="-457200" algn="l" eaLnBrk="0" fontAlgn="base" hangingPunct="0">
              <a:spcBef>
                <a:spcPct val="0"/>
              </a:spcBef>
              <a:spcAft>
                <a:spcPct val="0"/>
              </a:spcAft>
              <a:buFont typeface="Arial" panose="020B0604020202020204" pitchFamily="34" charset="0"/>
              <a:buChar char="•"/>
            </a:pPr>
            <a:r>
              <a:rPr lang="en-US" altLang="en-US" sz="2800" dirty="0">
                <a:solidFill>
                  <a:schemeClr val="tx1"/>
                </a:solidFill>
                <a:latin typeface="Times New Roman" panose="02020603050405020304" pitchFamily="18" charset="0"/>
                <a:cs typeface="Times New Roman" panose="02020603050405020304" pitchFamily="18" charset="0"/>
              </a:rPr>
              <a:t>MongoDB Inc., "Documentation," </a:t>
            </a:r>
            <a:r>
              <a:rPr lang="en-US" altLang="en-US" sz="2800" dirty="0">
                <a:solidFill>
                  <a:schemeClr val="tx1"/>
                </a:solidFill>
                <a:latin typeface="Times New Roman" panose="02020603050405020304" pitchFamily="18" charset="0"/>
                <a:cs typeface="Times New Roman" panose="02020603050405020304" pitchFamily="18" charset="0"/>
                <a:hlinkClick r:id="rId3"/>
              </a:rPr>
              <a:t>https://www.mongodb.com/docs</a:t>
            </a:r>
            <a:r>
              <a:rPr lang="en-US" altLang="en-US" sz="2800" dirty="0">
                <a:solidFill>
                  <a:schemeClr val="tx1"/>
                </a:solidFill>
                <a:latin typeface="Times New Roman" panose="02020603050405020304" pitchFamily="18" charset="0"/>
                <a:cs typeface="Times New Roman" panose="02020603050405020304" pitchFamily="18" charset="0"/>
              </a:rPr>
              <a:t>, 2024.</a:t>
            </a: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88</a:t>
            </a:fld>
            <a:endParaRPr lang="en-US" dirty="0">
              <a:solidFill>
                <a:prstClr val="white"/>
              </a:solidFill>
              <a:latin typeface="Calibri"/>
            </a:endParaRPr>
          </a:p>
        </p:txBody>
      </p:sp>
    </p:spTree>
    <p:extLst>
      <p:ext uri="{BB962C8B-B14F-4D97-AF65-F5344CB8AC3E}">
        <p14:creationId xmlns:p14="http://schemas.microsoft.com/office/powerpoint/2010/main" val="292485371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pPr lvl="0"/>
            <a:r>
              <a:rPr lang="en-US" sz="4500" b="1" u="sng" smtClean="0">
                <a:latin typeface="Times New Roman" panose="02020603050405020304" pitchFamily="18" charset="0"/>
                <a:cs typeface="Times New Roman" panose="02020603050405020304" pitchFamily="18" charset="0"/>
              </a:rPr>
              <a:t>Plagiarism </a:t>
            </a:r>
            <a:r>
              <a:rPr lang="en-US" sz="4500" b="1" u="sng" dirty="0">
                <a:latin typeface="Times New Roman" panose="02020603050405020304" pitchFamily="18" charset="0"/>
                <a:cs typeface="Times New Roman" panose="02020603050405020304" pitchFamily="18" charset="0"/>
              </a:rPr>
              <a:t>Report</a:t>
            </a: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89</a:t>
            </a:fld>
            <a:endParaRPr lang="en-US" dirty="0">
              <a:solidFill>
                <a:prstClr val="white"/>
              </a:solidFill>
              <a:latin typeface="Calibri"/>
            </a:endParaRPr>
          </a:p>
        </p:txBody>
      </p:sp>
      <p:pic>
        <p:nvPicPr>
          <p:cNvPr id="4" name="Picture 3"/>
          <p:cNvPicPr>
            <a:picLocks noChangeAspect="1"/>
          </p:cNvPicPr>
          <p:nvPr/>
        </p:nvPicPr>
        <p:blipFill>
          <a:blip r:embed="rId2"/>
          <a:stretch>
            <a:fillRect/>
          </a:stretch>
        </p:blipFill>
        <p:spPr>
          <a:xfrm>
            <a:off x="473481" y="2346256"/>
            <a:ext cx="15240000" cy="6191250"/>
          </a:xfrm>
          <a:prstGeom prst="rect">
            <a:avLst/>
          </a:prstGeom>
        </p:spPr>
      </p:pic>
    </p:spTree>
    <p:extLst>
      <p:ext uri="{BB962C8B-B14F-4D97-AF65-F5344CB8AC3E}">
        <p14:creationId xmlns:p14="http://schemas.microsoft.com/office/powerpoint/2010/main" val="32761267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92586" y="381000"/>
            <a:ext cx="12374880" cy="1143000"/>
          </a:xfrm>
        </p:spPr>
        <p:txBody>
          <a:bodyPr/>
          <a:lstStyle/>
          <a:p>
            <a:pPr lvl="0"/>
            <a:r>
              <a:rPr lang="en-US" sz="4800" b="1" dirty="0"/>
              <a:t>Questions and Answers</a:t>
            </a:r>
            <a:endParaRPr lang="en-US" sz="4500" b="1" u="sng"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8EF9831-35B4-4843-9AA9-F06FC1EDDB89}" type="slidenum">
              <a:rPr lang="en-US">
                <a:solidFill>
                  <a:prstClr val="white"/>
                </a:solidFill>
                <a:latin typeface="Calibri"/>
              </a:rPr>
              <a:pPr/>
              <a:t>90</a:t>
            </a:fld>
            <a:endParaRPr lang="en-US" dirty="0">
              <a:solidFill>
                <a:prstClr val="white"/>
              </a:solidFill>
              <a:latin typeface="Calibri"/>
            </a:endParaRPr>
          </a:p>
        </p:txBody>
      </p:sp>
      <p:pic>
        <p:nvPicPr>
          <p:cNvPr id="6" name="Picture 5" descr="question-graphic.jpg">
            <a:extLst>
              <a:ext uri="{FF2B5EF4-FFF2-40B4-BE49-F238E27FC236}">
                <a16:creationId xmlns:a16="http://schemas.microsoft.com/office/drawing/2014/main" id="{A52A7DE4-6820-45A2-A691-D63DC6BCB2C7}"/>
              </a:ext>
            </a:extLst>
          </p:cNvPr>
          <p:cNvPicPr>
            <a:picLocks noChangeAspect="1"/>
          </p:cNvPicPr>
          <p:nvPr/>
        </p:nvPicPr>
        <p:blipFill>
          <a:blip r:embed="rId2"/>
          <a:stretch>
            <a:fillRect/>
          </a:stretch>
        </p:blipFill>
        <p:spPr>
          <a:xfrm>
            <a:off x="3211976" y="2438400"/>
            <a:ext cx="10820400" cy="5645383"/>
          </a:xfrm>
          <a:prstGeom prst="rect">
            <a:avLst/>
          </a:prstGeom>
          <a:ln w="228600" cap="sq" cmpd="thickThin">
            <a:solidFill>
              <a:srgbClr val="000000"/>
            </a:solidFill>
            <a:prstDash val="solid"/>
            <a:miter lim="800000"/>
          </a:ln>
          <a:effectLst>
            <a:innerShdw blurRad="76200">
              <a:srgbClr val="000000"/>
            </a:innerShdw>
          </a:effec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028" y="213788"/>
            <a:ext cx="1409504" cy="1409504"/>
          </a:xfrm>
          <a:prstGeom prst="rect">
            <a:avLst/>
          </a:prstGeom>
        </p:spPr>
      </p:pic>
    </p:spTree>
    <p:extLst>
      <p:ext uri="{BB962C8B-B14F-4D97-AF65-F5344CB8AC3E}">
        <p14:creationId xmlns:p14="http://schemas.microsoft.com/office/powerpoint/2010/main" val="306876153"/>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388</TotalTime>
  <Words>4756</Words>
  <Application>Microsoft Office PowerPoint</Application>
  <PresentationFormat>Custom</PresentationFormat>
  <Paragraphs>945</Paragraphs>
  <Slides>90</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90</vt:i4>
      </vt:variant>
    </vt:vector>
  </HeadingPairs>
  <TitlesOfParts>
    <vt:vector size="101" baseType="lpstr">
      <vt:lpstr>Aptos</vt:lpstr>
      <vt:lpstr>Arial</vt:lpstr>
      <vt:lpstr>Calibri</vt:lpstr>
      <vt:lpstr>Consolas</vt:lpstr>
      <vt:lpstr>Geist</vt:lpstr>
      <vt:lpstr>Geist Bold</vt:lpstr>
      <vt:lpstr>Tahoma</vt:lpstr>
      <vt:lpstr>Times New Roman</vt:lpstr>
      <vt:lpstr>Wingdings</vt:lpstr>
      <vt:lpstr>2_Office Theme</vt:lpstr>
      <vt:lpstr>3_Office Theme</vt:lpstr>
      <vt:lpstr>Department Of Computer Science  </vt:lpstr>
      <vt:lpstr>Final Report  Podcraft Agentic - AI Podcast Episode Planning System   </vt:lpstr>
      <vt:lpstr>PowerPoint Presentation</vt:lpstr>
      <vt:lpstr>Project Category  </vt:lpstr>
      <vt:lpstr>Abstract  </vt:lpstr>
      <vt:lpstr>Introduction  </vt:lpstr>
      <vt:lpstr>Problem Statement  </vt:lpstr>
      <vt:lpstr>Problem Solution  </vt:lpstr>
      <vt:lpstr>Advantages/Benefits of Proposed System  </vt:lpstr>
      <vt:lpstr>Related System Analysis/Literature Review  </vt:lpstr>
      <vt:lpstr>Scope  </vt:lpstr>
      <vt:lpstr>Modules  </vt:lpstr>
      <vt:lpstr> Module 1: User Authentication &amp; Profile Management </vt:lpstr>
      <vt:lpstr>Module 2: User Intent &amp; Guest Analyzer </vt:lpstr>
      <vt:lpstr>Module 3: Topic Research Agent </vt:lpstr>
      <vt:lpstr>Module 4: Question &amp; Timestamp Generator </vt:lpstr>
      <vt:lpstr>Module 5: Hook &amp; Intro Suggestion Agent </vt:lpstr>
      <vt:lpstr>Module 6: Episode Outline Planner </vt:lpstr>
      <vt:lpstr>System Limitations/Constraints   </vt:lpstr>
      <vt:lpstr>Software Process Methodology    </vt:lpstr>
      <vt:lpstr>Tools and Technologies    </vt:lpstr>
      <vt:lpstr>Team Members Individual Tasks/Work Division     </vt:lpstr>
      <vt:lpstr>Data Gathering Approach</vt:lpstr>
      <vt:lpstr>Core AI &amp; Backend Concepts</vt:lpstr>
      <vt:lpstr>Slide 2: Frontend &amp; Mobile Concepts</vt:lpstr>
      <vt:lpstr>Gantt Chart       </vt:lpstr>
      <vt:lpstr>Mockups</vt:lpstr>
      <vt:lpstr>Mockups</vt:lpstr>
      <vt:lpstr>Mockups</vt:lpstr>
      <vt:lpstr>Mockups</vt:lpstr>
      <vt:lpstr>Mockups</vt:lpstr>
      <vt:lpstr>Mockups</vt:lpstr>
      <vt:lpstr>Mockups</vt:lpstr>
      <vt:lpstr>Mockups</vt:lpstr>
      <vt:lpstr>Mockups</vt:lpstr>
      <vt:lpstr>Mockups</vt:lpstr>
      <vt:lpstr>Mockups</vt:lpstr>
      <vt:lpstr>PowerPoint Presentation</vt:lpstr>
      <vt:lpstr>Context / Block Diagram </vt:lpstr>
      <vt:lpstr>Requirement Elicitation Techniques </vt:lpstr>
      <vt:lpstr>Use Case Diagram  </vt:lpstr>
      <vt:lpstr>Usecase Lists (module wise) Module 1: User Authentication &amp; Profile Management (Web)   </vt:lpstr>
      <vt:lpstr>Module 2: User Intent &amp; Guest Analyzer</vt:lpstr>
      <vt:lpstr>Module 3: Topic Research Agent</vt:lpstr>
      <vt:lpstr>Module 4: Question &amp; Timestamp Generator </vt:lpstr>
      <vt:lpstr>Module 5: Hook &amp; Intro Suggestion Agent </vt:lpstr>
      <vt:lpstr>Module 6: Episode Outline Planner</vt:lpstr>
      <vt:lpstr>Non-Functional Requirement  </vt:lpstr>
      <vt:lpstr>PowerPoint Presentation</vt:lpstr>
      <vt:lpstr>Architecture Diagram of Proposed Project </vt:lpstr>
      <vt:lpstr>Activity Diagram of Podcraft Module-1: User Authentication &amp; Profile Management  </vt:lpstr>
      <vt:lpstr>Module 2: User Intent &amp; Guest Analyzer</vt:lpstr>
      <vt:lpstr>Module 3: Topic Research Agent</vt:lpstr>
      <vt:lpstr>Module 4: Question &amp; Timestamp Generator</vt:lpstr>
      <vt:lpstr>Module 5: Hook and Intro Suggestion Agent</vt:lpstr>
      <vt:lpstr>Module 6: Episode Outline Planner </vt:lpstr>
      <vt:lpstr>Class Diagram </vt:lpstr>
      <vt:lpstr>Sequence Diagrams of Podcraft Module 1: User Authentication &amp; Profile Management</vt:lpstr>
      <vt:lpstr>Module 2: User Intent &amp; Guest Analyzer</vt:lpstr>
      <vt:lpstr>Module 3: Topic Research Agent</vt:lpstr>
      <vt:lpstr>Module 4: Question &amp; Timestamp Generator</vt:lpstr>
      <vt:lpstr>Module 5: Hook and Intro Suggestion Agent</vt:lpstr>
      <vt:lpstr>Module 6: Episode Outline Planner </vt:lpstr>
      <vt:lpstr>Entity Relationship Diagram</vt:lpstr>
      <vt:lpstr>PowerPoint Presentation</vt:lpstr>
      <vt:lpstr>Algorithm &amp; Implementation Topic Research Agent – Research Generation Algorithm </vt:lpstr>
      <vt:lpstr>Episode Management - Guest Addition with Summary Generation</vt:lpstr>
      <vt:lpstr>User Interfaces</vt:lpstr>
      <vt:lpstr>User Interfaces</vt:lpstr>
      <vt:lpstr>User Interfaces</vt:lpstr>
      <vt:lpstr>User Interfaces</vt:lpstr>
      <vt:lpstr>User Interfaces</vt:lpstr>
      <vt:lpstr>User Interfaces</vt:lpstr>
      <vt:lpstr>User Interfaces</vt:lpstr>
      <vt:lpstr>User Interfaces</vt:lpstr>
      <vt:lpstr>PowerPoint Presentation</vt:lpstr>
      <vt:lpstr>Testing Methodology </vt:lpstr>
      <vt:lpstr>List of Test Case Cases Module Wise  Module 1: User Authentication &amp; Profile Management (Web Dashboard)   </vt:lpstr>
      <vt:lpstr>Module 2: Episode Setup &amp; Guest Management (Web Dashboard)</vt:lpstr>
      <vt:lpstr>Module 3: Topic Research, Question, Hook &amp; Outline Generation (AI Agent Pipeline)</vt:lpstr>
      <vt:lpstr>List of Test Case Cases Module Wise  Module 1: User Authentication &amp; Profile Management (Mobille Dashboard)   </vt:lpstr>
      <vt:lpstr>Module 2: Episode Setup &amp; Guest Management (Mobile Dashboard)</vt:lpstr>
      <vt:lpstr>Module 3: Topic Research, Question, Hook &amp; Outline Generation (AI Agent Pipeline)</vt:lpstr>
      <vt:lpstr>Lesson Learnt   </vt:lpstr>
      <vt:lpstr>Work Break Down   </vt:lpstr>
      <vt:lpstr>Reviews Details     </vt:lpstr>
      <vt:lpstr>Conclusion    </vt:lpstr>
      <vt:lpstr>References</vt:lpstr>
      <vt:lpstr>Plagiarism Report</vt:lpstr>
      <vt:lpstr>Questions and 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TRA</dc:creator>
  <cp:lastModifiedBy>Moorche</cp:lastModifiedBy>
  <cp:revision>1263</cp:revision>
  <dcterms:created xsi:type="dcterms:W3CDTF">2006-08-16T00:00:00Z</dcterms:created>
  <dcterms:modified xsi:type="dcterms:W3CDTF">2026-05-21T17:02:25Z</dcterms:modified>
</cp:coreProperties>
</file>